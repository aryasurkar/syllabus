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90" r:id="rId8"/>
    <p:sldId id="291"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92" r:id="rId24"/>
    <p:sldId id="293" r:id="rId25"/>
    <p:sldId id="283" r:id="rId26"/>
    <p:sldId id="294" r:id="rId27"/>
    <p:sldId id="295" r:id="rId28"/>
    <p:sldId id="296" r:id="rId29"/>
    <p:sldId id="297" r:id="rId30"/>
    <p:sldId id="298" r:id="rId31"/>
    <p:sldId id="306" r:id="rId32"/>
    <p:sldId id="299" r:id="rId33"/>
    <p:sldId id="300" r:id="rId34"/>
    <p:sldId id="301" r:id="rId35"/>
    <p:sldId id="302" r:id="rId36"/>
    <p:sldId id="304" r:id="rId37"/>
    <p:sldId id="305" r:id="rId38"/>
    <p:sldId id="307" r:id="rId39"/>
    <p:sldId id="308" r:id="rId40"/>
    <p:sldId id="309" r:id="rId41"/>
    <p:sldId id="310" r:id="rId42"/>
    <p:sldId id="311" r:id="rId43"/>
    <p:sldId id="312" r:id="rId44"/>
    <p:sldId id="313" r:id="rId45"/>
    <p:sldId id="314" r:id="rId46"/>
    <p:sldId id="315" r:id="rId47"/>
    <p:sldId id="316" r:id="rId48"/>
    <p:sldId id="317" r:id="rId49"/>
    <p:sldId id="318" r:id="rId50"/>
    <p:sldId id="319" r:id="rId51"/>
    <p:sldId id="320" r:id="rId52"/>
    <p:sldId id="321"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000" autoAdjust="0"/>
    <p:restoredTop sz="94660"/>
  </p:normalViewPr>
  <p:slideViewPr>
    <p:cSldViewPr snapToGrid="0">
      <p:cViewPr varScale="1">
        <p:scale>
          <a:sx n="73" d="100"/>
          <a:sy n="73" d="100"/>
        </p:scale>
        <p:origin x="-624" y="-102"/>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83D9633-0439-4EA4-9BA1-7061047EE063}" type="datetimeFigureOut">
              <a:rPr lang="en-US" smtClean="0"/>
              <a:pPr/>
              <a:t>9/28/2023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A07B8D-CE82-41A3-87FA-5AD201EE6AE7}" type="slidenum">
              <a:rPr lang="en-US" smtClean="0"/>
              <a:pPr/>
              <a:t>‹#›</a:t>
            </a:fld>
            <a:endParaRPr lang="en-US"/>
          </a:p>
        </p:txBody>
      </p:sp>
    </p:spTree>
    <p:extLst>
      <p:ext uri="{BB962C8B-B14F-4D97-AF65-F5344CB8AC3E}">
        <p14:creationId xmlns:p14="http://schemas.microsoft.com/office/powerpoint/2010/main" xmlns="" val="2371144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3D9633-0439-4EA4-9BA1-7061047EE063}" type="datetimeFigureOut">
              <a:rPr lang="en-US" smtClean="0"/>
              <a:pPr/>
              <a:t>9/28/2023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A07B8D-CE82-41A3-87FA-5AD201EE6AE7}" type="slidenum">
              <a:rPr lang="en-US" smtClean="0"/>
              <a:pPr/>
              <a:t>‹#›</a:t>
            </a:fld>
            <a:endParaRPr lang="en-US"/>
          </a:p>
        </p:txBody>
      </p:sp>
    </p:spTree>
    <p:extLst>
      <p:ext uri="{BB962C8B-B14F-4D97-AF65-F5344CB8AC3E}">
        <p14:creationId xmlns:p14="http://schemas.microsoft.com/office/powerpoint/2010/main" xmlns="" val="17492025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83D9633-0439-4EA4-9BA1-7061047EE063}" type="datetimeFigureOut">
              <a:rPr lang="en-US" smtClean="0"/>
              <a:pPr/>
              <a:t>9/28/2023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A07B8D-CE82-41A3-87FA-5AD201EE6AE7}" type="slidenum">
              <a:rPr lang="en-US" smtClean="0"/>
              <a:pPr/>
              <a:t>‹#›</a:t>
            </a:fld>
            <a:endParaRPr lang="en-US"/>
          </a:p>
        </p:txBody>
      </p:sp>
    </p:spTree>
    <p:extLst>
      <p:ext uri="{BB962C8B-B14F-4D97-AF65-F5344CB8AC3E}">
        <p14:creationId xmlns:p14="http://schemas.microsoft.com/office/powerpoint/2010/main" xmlns="" val="3590176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83D9633-0439-4EA4-9BA1-7061047EE063}" type="datetimeFigureOut">
              <a:rPr lang="en-US" smtClean="0"/>
              <a:pPr/>
              <a:t>9/28/2023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A07B8D-CE82-41A3-87FA-5AD201EE6AE7}" type="slidenum">
              <a:rPr lang="en-US" smtClean="0"/>
              <a:pPr/>
              <a:t>‹#›</a:t>
            </a:fld>
            <a:endParaRPr lang="en-US"/>
          </a:p>
        </p:txBody>
      </p:sp>
    </p:spTree>
    <p:extLst>
      <p:ext uri="{BB962C8B-B14F-4D97-AF65-F5344CB8AC3E}">
        <p14:creationId xmlns:p14="http://schemas.microsoft.com/office/powerpoint/2010/main" xmlns="" val="29477872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83D9633-0439-4EA4-9BA1-7061047EE063}" type="datetimeFigureOut">
              <a:rPr lang="en-US" smtClean="0"/>
              <a:pPr/>
              <a:t>9/28/2023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7A07B8D-CE82-41A3-87FA-5AD201EE6AE7}" type="slidenum">
              <a:rPr lang="en-US" smtClean="0"/>
              <a:pPr/>
              <a:t>‹#›</a:t>
            </a:fld>
            <a:endParaRPr lang="en-US"/>
          </a:p>
        </p:txBody>
      </p:sp>
    </p:spTree>
    <p:extLst>
      <p:ext uri="{BB962C8B-B14F-4D97-AF65-F5344CB8AC3E}">
        <p14:creationId xmlns:p14="http://schemas.microsoft.com/office/powerpoint/2010/main" xmlns="" val="24939223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83D9633-0439-4EA4-9BA1-7061047EE063}" type="datetimeFigureOut">
              <a:rPr lang="en-US" smtClean="0"/>
              <a:pPr/>
              <a:t>9/28/2023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7A07B8D-CE82-41A3-87FA-5AD201EE6AE7}" type="slidenum">
              <a:rPr lang="en-US" smtClean="0"/>
              <a:pPr/>
              <a:t>‹#›</a:t>
            </a:fld>
            <a:endParaRPr lang="en-US"/>
          </a:p>
        </p:txBody>
      </p:sp>
    </p:spTree>
    <p:extLst>
      <p:ext uri="{BB962C8B-B14F-4D97-AF65-F5344CB8AC3E}">
        <p14:creationId xmlns:p14="http://schemas.microsoft.com/office/powerpoint/2010/main" xmlns="" val="1520343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3D9633-0439-4EA4-9BA1-7061047EE063}" type="datetimeFigureOut">
              <a:rPr lang="en-US" smtClean="0"/>
              <a:pPr/>
              <a:t>9/28/2023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7A07B8D-CE82-41A3-87FA-5AD201EE6AE7}" type="slidenum">
              <a:rPr lang="en-US" smtClean="0"/>
              <a:pPr/>
              <a:t>‹#›</a:t>
            </a:fld>
            <a:endParaRPr lang="en-US"/>
          </a:p>
        </p:txBody>
      </p:sp>
    </p:spTree>
    <p:extLst>
      <p:ext uri="{BB962C8B-B14F-4D97-AF65-F5344CB8AC3E}">
        <p14:creationId xmlns:p14="http://schemas.microsoft.com/office/powerpoint/2010/main" xmlns="" val="38890516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83D9633-0439-4EA4-9BA1-7061047EE063}" type="datetimeFigureOut">
              <a:rPr lang="en-US" smtClean="0"/>
              <a:pPr/>
              <a:t>9/28/2023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A07B8D-CE82-41A3-87FA-5AD201EE6AE7}" type="slidenum">
              <a:rPr lang="en-US" smtClean="0"/>
              <a:pPr/>
              <a:t>‹#›</a:t>
            </a:fld>
            <a:endParaRPr lang="en-US"/>
          </a:p>
        </p:txBody>
      </p:sp>
    </p:spTree>
    <p:extLst>
      <p:ext uri="{BB962C8B-B14F-4D97-AF65-F5344CB8AC3E}">
        <p14:creationId xmlns:p14="http://schemas.microsoft.com/office/powerpoint/2010/main" xmlns="" val="1771631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83D9633-0439-4EA4-9BA1-7061047EE063}" type="datetimeFigureOut">
              <a:rPr lang="en-US" smtClean="0"/>
              <a:pPr/>
              <a:t>9/28/2023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7A07B8D-CE82-41A3-87FA-5AD201EE6AE7}" type="slidenum">
              <a:rPr lang="en-US" smtClean="0"/>
              <a:pPr/>
              <a:t>‹#›</a:t>
            </a:fld>
            <a:endParaRPr lang="en-US"/>
          </a:p>
        </p:txBody>
      </p:sp>
    </p:spTree>
    <p:extLst>
      <p:ext uri="{BB962C8B-B14F-4D97-AF65-F5344CB8AC3E}">
        <p14:creationId xmlns:p14="http://schemas.microsoft.com/office/powerpoint/2010/main" xmlns="" val="1012338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3D9633-0439-4EA4-9BA1-7061047EE063}" type="datetimeFigureOut">
              <a:rPr lang="en-US" smtClean="0"/>
              <a:pPr/>
              <a:t>9/28/2023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A07B8D-CE82-41A3-87FA-5AD201EE6AE7}" type="slidenum">
              <a:rPr lang="en-US" smtClean="0"/>
              <a:pPr/>
              <a:t>‹#›</a:t>
            </a:fld>
            <a:endParaRPr lang="en-US"/>
          </a:p>
        </p:txBody>
      </p:sp>
    </p:spTree>
    <p:extLst>
      <p:ext uri="{BB962C8B-B14F-4D97-AF65-F5344CB8AC3E}">
        <p14:creationId xmlns:p14="http://schemas.microsoft.com/office/powerpoint/2010/main" xmlns="" val="107412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3D9633-0439-4EA4-9BA1-7061047EE063}" type="datetimeFigureOut">
              <a:rPr lang="en-US" smtClean="0"/>
              <a:pPr/>
              <a:t>9/28/2023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7A07B8D-CE82-41A3-87FA-5AD201EE6AE7}" type="slidenum">
              <a:rPr lang="en-US" smtClean="0"/>
              <a:pPr/>
              <a:t>‹#›</a:t>
            </a:fld>
            <a:endParaRPr lang="en-US"/>
          </a:p>
        </p:txBody>
      </p:sp>
    </p:spTree>
    <p:extLst>
      <p:ext uri="{BB962C8B-B14F-4D97-AF65-F5344CB8AC3E}">
        <p14:creationId xmlns:p14="http://schemas.microsoft.com/office/powerpoint/2010/main" xmlns="" val="1514522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3D9633-0439-4EA4-9BA1-7061047EE063}" type="datetimeFigureOut">
              <a:rPr lang="en-US" smtClean="0"/>
              <a:pPr/>
              <a:t>9/28/2023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7A07B8D-CE82-41A3-87FA-5AD201EE6AE7}" type="slidenum">
              <a:rPr lang="en-US" smtClean="0"/>
              <a:pPr/>
              <a:t>‹#›</a:t>
            </a:fld>
            <a:endParaRPr lang="en-US"/>
          </a:p>
        </p:txBody>
      </p:sp>
    </p:spTree>
    <p:extLst>
      <p:ext uri="{BB962C8B-B14F-4D97-AF65-F5344CB8AC3E}">
        <p14:creationId xmlns:p14="http://schemas.microsoft.com/office/powerpoint/2010/main" xmlns="" val="35420386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7.xml"/><Relationship Id="rId4" Type="http://schemas.openxmlformats.org/officeDocument/2006/relationships/image" Target="../media/image9.jpeg"/></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 Id="rId4" Type="http://schemas.openxmlformats.org/officeDocument/2006/relationships/image" Target="../media/image12.jpeg"/></Relationships>
</file>

<file path=ppt/slides/_rels/slide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eg"/><Relationship Id="rId1" Type="http://schemas.openxmlformats.org/officeDocument/2006/relationships/slideLayout" Target="../slideLayouts/slideLayout2.xml"/><Relationship Id="rId4" Type="http://schemas.openxmlformats.org/officeDocument/2006/relationships/image" Target="../media/image22.jpeg"/></Relationships>
</file>

<file path=ppt/slides/_rels/slide17.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en.wikipedia.org/wiki/Aquifer_storage_and_recovery"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latin typeface="Times New Roman" panose="02020603050405020304" pitchFamily="18" charset="0"/>
                <a:cs typeface="Times New Roman" panose="02020603050405020304" pitchFamily="18" charset="0"/>
              </a:rPr>
              <a:t>Unit 2 Water Pollution</a:t>
            </a:r>
            <a:endParaRPr lang="en-US"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lgn="ctr">
              <a:buNone/>
            </a:pPr>
            <a:r>
              <a:rPr lang="en-US" dirty="0" smtClean="0"/>
              <a:t>	</a:t>
            </a:r>
            <a:r>
              <a:rPr lang="en-US" sz="3600" dirty="0" smtClean="0">
                <a:latin typeface="Times New Roman" panose="02020603050405020304" pitchFamily="18" charset="0"/>
                <a:cs typeface="Times New Roman" panose="02020603050405020304" pitchFamily="18" charset="0"/>
              </a:rPr>
              <a:t>Water pollution Types of pollutants, effects- control measures, Water conservation and its methods, Rainwater harvesting, methods of rainwater harvesting, Surface runoff harvesting, Rooftop rainwater harvesting noise pollution effects and control measures, Thermal pollution, soil pollution nuclear hazard</a:t>
            </a:r>
          </a:p>
          <a:p>
            <a:endParaRPr lang="en-US" dirty="0"/>
          </a:p>
        </p:txBody>
      </p:sp>
    </p:spTree>
    <p:extLst>
      <p:ext uri="{BB962C8B-B14F-4D97-AF65-F5344CB8AC3E}">
        <p14:creationId xmlns:p14="http://schemas.microsoft.com/office/powerpoint/2010/main" xmlns="" val="37028448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Water pollution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t>Water pollution is the contamination of water sources by substances which make the water unusable for drinking, cooking, cleaning, swimming, and other activities. Pollutants include chemicals, trash, bacteria etc. </a:t>
            </a:r>
          </a:p>
          <a:p>
            <a:endParaRPr lang="en-US" dirty="0"/>
          </a:p>
        </p:txBody>
      </p:sp>
      <p:pic>
        <p:nvPicPr>
          <p:cNvPr id="4" name="Picture 3"/>
          <p:cNvPicPr/>
          <p:nvPr/>
        </p:nvPicPr>
        <p:blipFill>
          <a:blip r:embed="rId2">
            <a:extLst>
              <a:ext uri="{28A0092B-C50C-407E-A947-70E740481C1C}">
                <a14:useLocalDpi xmlns:a14="http://schemas.microsoft.com/office/drawing/2010/main" xmlns="" val="0"/>
              </a:ext>
            </a:extLst>
          </a:blip>
          <a:srcRect/>
          <a:stretch>
            <a:fillRect/>
          </a:stretch>
        </p:blipFill>
        <p:spPr bwMode="auto">
          <a:xfrm>
            <a:off x="1060360" y="3527202"/>
            <a:ext cx="10293440" cy="2971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36687740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Types Of Water Pollutants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lnSpcReduction="10000"/>
          </a:bodyPr>
          <a:lstStyle/>
          <a:p>
            <a:pPr marL="0" indent="0">
              <a:buNone/>
            </a:pPr>
            <a:r>
              <a:rPr lang="en-US" dirty="0" smtClean="0"/>
              <a:t>1. </a:t>
            </a:r>
            <a:r>
              <a:rPr lang="en-US" dirty="0" smtClean="0">
                <a:latin typeface="Times New Roman" panose="02020603050405020304" pitchFamily="18" charset="0"/>
                <a:cs typeface="Times New Roman" panose="02020603050405020304" pitchFamily="18" charset="0"/>
              </a:rPr>
              <a:t>Oxygen Demanding Waste</a:t>
            </a:r>
          </a:p>
          <a:p>
            <a:pPr marL="0" indent="0">
              <a:buNone/>
            </a:pPr>
            <a:r>
              <a:rPr lang="en-US" dirty="0" smtClean="0">
                <a:latin typeface="Times New Roman" panose="02020603050405020304" pitchFamily="18" charset="0"/>
                <a:cs typeface="Times New Roman" panose="02020603050405020304" pitchFamily="18" charset="0"/>
              </a:rPr>
              <a:t>2. Disease-causing Agents</a:t>
            </a:r>
          </a:p>
          <a:p>
            <a:pPr marL="0" indent="0">
              <a:buNone/>
            </a:pPr>
            <a:r>
              <a:rPr lang="en-US" dirty="0" smtClean="0">
                <a:latin typeface="Times New Roman" panose="02020603050405020304" pitchFamily="18" charset="0"/>
                <a:cs typeface="Times New Roman" panose="02020603050405020304" pitchFamily="18" charset="0"/>
              </a:rPr>
              <a:t>3. Synthetic Organic Compounds.</a:t>
            </a:r>
          </a:p>
          <a:p>
            <a:pPr marL="0" indent="0">
              <a:buNone/>
            </a:pPr>
            <a:r>
              <a:rPr lang="en-US" dirty="0" smtClean="0">
                <a:latin typeface="Times New Roman" panose="02020603050405020304" pitchFamily="18" charset="0"/>
                <a:cs typeface="Times New Roman" panose="02020603050405020304" pitchFamily="18" charset="0"/>
              </a:rPr>
              <a:t>4. Plant Nutrients</a:t>
            </a:r>
          </a:p>
          <a:p>
            <a:pPr marL="0" indent="0">
              <a:buNone/>
            </a:pPr>
            <a:r>
              <a:rPr lang="en-US" dirty="0" smtClean="0">
                <a:latin typeface="Times New Roman" panose="02020603050405020304" pitchFamily="18" charset="0"/>
                <a:cs typeface="Times New Roman" panose="02020603050405020304" pitchFamily="18" charset="0"/>
              </a:rPr>
              <a:t>5. Inorganic Chemicals And Minerals.</a:t>
            </a:r>
          </a:p>
          <a:p>
            <a:pPr marL="0" indent="0">
              <a:buNone/>
            </a:pPr>
            <a:r>
              <a:rPr lang="en-US" dirty="0" smtClean="0">
                <a:latin typeface="Times New Roman" panose="02020603050405020304" pitchFamily="18" charset="0"/>
                <a:cs typeface="Times New Roman" panose="02020603050405020304" pitchFamily="18" charset="0"/>
              </a:rPr>
              <a:t>6. Sediments</a:t>
            </a:r>
          </a:p>
          <a:p>
            <a:pPr marL="0" indent="0">
              <a:buNone/>
            </a:pPr>
            <a:r>
              <a:rPr lang="en-US" dirty="0" smtClean="0">
                <a:latin typeface="Times New Roman" panose="02020603050405020304" pitchFamily="18" charset="0"/>
                <a:cs typeface="Times New Roman" panose="02020603050405020304" pitchFamily="18" charset="0"/>
              </a:rPr>
              <a:t>7. Radioactive Substances</a:t>
            </a:r>
          </a:p>
          <a:p>
            <a:pPr marL="0" indent="0">
              <a:buNone/>
            </a:pPr>
            <a:r>
              <a:rPr lang="en-US" dirty="0" smtClean="0">
                <a:latin typeface="Times New Roman" panose="02020603050405020304" pitchFamily="18" charset="0"/>
                <a:cs typeface="Times New Roman" panose="02020603050405020304" pitchFamily="18" charset="0"/>
              </a:rPr>
              <a:t>8. Thermal Discharge </a:t>
            </a:r>
          </a:p>
          <a:p>
            <a:pPr marL="0" indent="0">
              <a:buNone/>
            </a:pPr>
            <a:r>
              <a:rPr lang="en-US" dirty="0" smtClean="0">
                <a:latin typeface="Times New Roman" panose="02020603050405020304" pitchFamily="18" charset="0"/>
                <a:cs typeface="Times New Roman" panose="02020603050405020304" pitchFamily="18" charset="0"/>
              </a:rPr>
              <a:t>9. Oil</a:t>
            </a:r>
          </a:p>
          <a:p>
            <a:pPr marL="0" indent="0">
              <a:buNone/>
            </a:pPr>
            <a:endParaRPr lang="en-US" dirty="0"/>
          </a:p>
        </p:txBody>
      </p:sp>
    </p:spTree>
    <p:extLst>
      <p:ext uri="{BB962C8B-B14F-4D97-AF65-F5344CB8AC3E}">
        <p14:creationId xmlns:p14="http://schemas.microsoft.com/office/powerpoint/2010/main" xmlns="" val="18630846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xmlns="" val="0"/>
              </a:ext>
            </a:extLst>
          </a:blip>
          <a:srcRect/>
          <a:stretch>
            <a:fillRect/>
          </a:stretch>
        </p:blipFill>
        <p:spPr bwMode="auto">
          <a:xfrm>
            <a:off x="1617980" y="99695"/>
            <a:ext cx="8956040" cy="66586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xmlns="" val="3505317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Non point sources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3200" dirty="0" smtClean="0">
                <a:latin typeface="Times New Roman" panose="02020603050405020304" pitchFamily="18" charset="0"/>
                <a:cs typeface="Times New Roman" panose="02020603050405020304" pitchFamily="18" charset="0"/>
              </a:rPr>
              <a:t>Non point-source pollution is the opposite of point-source pollution, with pollutants released in a wide area.</a:t>
            </a:r>
          </a:p>
          <a:p>
            <a:r>
              <a:rPr lang="en-US" sz="3200" dirty="0" smtClean="0">
                <a:latin typeface="Times New Roman" panose="02020603050405020304" pitchFamily="18" charset="0"/>
                <a:cs typeface="Times New Roman" panose="02020603050405020304" pitchFamily="18" charset="0"/>
              </a:rPr>
              <a:t> As an example, picture a city street during a thunderstorm. As rainwater flows over asphalt, it washes away drops of oil that leaked from car engines, particles of tire rubber, dog waste, and trash. </a:t>
            </a:r>
          </a:p>
          <a:p>
            <a:r>
              <a:rPr lang="en-US" sz="3200" dirty="0" smtClean="0">
                <a:latin typeface="Times New Roman" panose="02020603050405020304" pitchFamily="18" charset="0"/>
                <a:cs typeface="Times New Roman" panose="02020603050405020304" pitchFamily="18" charset="0"/>
              </a:rPr>
              <a:t>The runoff goes into a storm sewer and ends up in a nearby river. Runoff is a major cause of nonpoint-source pollution. </a:t>
            </a:r>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xmlns="" val="34588604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927280" y="124681"/>
            <a:ext cx="10200066" cy="6608637"/>
          </a:xfrm>
          <a:prstGeom prst="rect">
            <a:avLst/>
          </a:prstGeom>
        </p:spPr>
      </p:pic>
    </p:spTree>
    <p:extLst>
      <p:ext uri="{BB962C8B-B14F-4D97-AF65-F5344CB8AC3E}">
        <p14:creationId xmlns:p14="http://schemas.microsoft.com/office/powerpoint/2010/main" xmlns="" val="1797080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DISSOLVED OXYGEN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t>An important property of freshwater is dissolved oxygen (D0).</a:t>
            </a:r>
          </a:p>
          <a:p>
            <a:r>
              <a:rPr lang="en-US" dirty="0" err="1" smtClean="0"/>
              <a:t>Lotic</a:t>
            </a:r>
            <a:r>
              <a:rPr lang="en-US" dirty="0" smtClean="0"/>
              <a:t> water  such as fast flowing streams, usually contains higher level of DO than stagnant </a:t>
            </a:r>
            <a:r>
              <a:rPr lang="en-US" dirty="0" err="1" smtClean="0"/>
              <a:t>lentic</a:t>
            </a:r>
            <a:r>
              <a:rPr lang="en-US" dirty="0" smtClean="0"/>
              <a:t> water.</a:t>
            </a:r>
          </a:p>
          <a:p>
            <a:r>
              <a:rPr lang="en-US" dirty="0" smtClean="0"/>
              <a:t>Dissolved oxygen is frequently measured as parts per millions.(</a:t>
            </a:r>
            <a:r>
              <a:rPr lang="en-US" dirty="0" err="1" smtClean="0"/>
              <a:t>ppm</a:t>
            </a:r>
            <a:r>
              <a:rPr lang="en-US" dirty="0" smtClean="0"/>
              <a:t>)</a:t>
            </a:r>
          </a:p>
          <a:p>
            <a:r>
              <a:rPr lang="en-US" dirty="0" smtClean="0"/>
              <a:t>Areas with dissolved oxygen less than 0.2ppm are unable to support most life.</a:t>
            </a:r>
          </a:p>
          <a:p>
            <a:r>
              <a:rPr lang="en-US" dirty="0" smtClean="0"/>
              <a:t>In lakes oxygen levels are usually lowest in deeper waters, except in the spring and fall overturns.</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Chemical Oxygen Demand (COD)</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a:t>C</a:t>
            </a:r>
            <a:r>
              <a:rPr lang="en-US" dirty="0" smtClean="0"/>
              <a:t>hemical </a:t>
            </a:r>
            <a:r>
              <a:rPr lang="en-US" dirty="0"/>
              <a:t>Oxygen Demand (COD) is a test that measures the amount of oxygen required to chemically oxidize the organic material and inorganic nutrients, such as Ammonia or Nitrate, present in water</a:t>
            </a:r>
            <a:r>
              <a:rPr lang="en-US" dirty="0" smtClean="0"/>
              <a:t>.</a:t>
            </a:r>
          </a:p>
          <a:p>
            <a:endParaRPr lang="en-US" dirty="0" smtClean="0"/>
          </a:p>
          <a:p>
            <a:r>
              <a:rPr lang="en-US" dirty="0" smtClean="0"/>
              <a:t>COD is means of measuring all organic matter </a:t>
            </a:r>
            <a:r>
              <a:rPr lang="en-US" dirty="0" err="1" smtClean="0"/>
              <a:t>i.e</a:t>
            </a:r>
            <a:r>
              <a:rPr lang="en-US" dirty="0" smtClean="0"/>
              <a:t> biodegradable and non biodegradable.</a:t>
            </a:r>
          </a:p>
          <a:p>
            <a:endParaRPr lang="en-US" dirty="0" smtClean="0"/>
          </a:p>
          <a:p>
            <a:r>
              <a:rPr lang="en-US" dirty="0" smtClean="0"/>
              <a:t>COD tests results are higher than BOD tests .</a:t>
            </a:r>
            <a:endParaRPr lang="en-US" dirty="0"/>
          </a:p>
        </p:txBody>
      </p:sp>
    </p:spTree>
    <p:extLst>
      <p:ext uri="{BB962C8B-B14F-4D97-AF65-F5344CB8AC3E}">
        <p14:creationId xmlns:p14="http://schemas.microsoft.com/office/powerpoint/2010/main" xmlns="" val="1583966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24.jpeg"/>
          <p:cNvPicPr/>
          <p:nvPr/>
        </p:nvPicPr>
        <p:blipFill>
          <a:blip r:embed="rId2" cstate="print"/>
          <a:stretch>
            <a:fillRect/>
          </a:stretch>
        </p:blipFill>
        <p:spPr>
          <a:xfrm>
            <a:off x="463639" y="508635"/>
            <a:ext cx="11230378" cy="5840730"/>
          </a:xfrm>
          <a:prstGeom prst="rect">
            <a:avLst/>
          </a:prstGeom>
        </p:spPr>
      </p:pic>
    </p:spTree>
    <p:extLst>
      <p:ext uri="{BB962C8B-B14F-4D97-AF65-F5344CB8AC3E}">
        <p14:creationId xmlns:p14="http://schemas.microsoft.com/office/powerpoint/2010/main" xmlns="" val="40221624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a:grpSpLocks/>
          </p:cNvGrpSpPr>
          <p:nvPr/>
        </p:nvGrpSpPr>
        <p:grpSpPr bwMode="auto">
          <a:xfrm>
            <a:off x="257577" y="489397"/>
            <a:ext cx="11397803" cy="5969358"/>
            <a:chOff x="0" y="0"/>
            <a:chExt cx="14150" cy="5040"/>
          </a:xfrm>
        </p:grpSpPr>
        <p:pic>
          <p:nvPicPr>
            <p:cNvPr id="3"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43"/>
              <a:ext cx="7071" cy="499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070" y="0"/>
              <a:ext cx="7080" cy="502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3262439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a:grpSpLocks/>
          </p:cNvGrpSpPr>
          <p:nvPr/>
        </p:nvGrpSpPr>
        <p:grpSpPr bwMode="auto">
          <a:xfrm>
            <a:off x="128789" y="373487"/>
            <a:ext cx="11603865" cy="5872767"/>
            <a:chOff x="0" y="0"/>
            <a:chExt cx="14160" cy="6120"/>
          </a:xfrm>
        </p:grpSpPr>
        <p:pic>
          <p:nvPicPr>
            <p:cNvPr id="3"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0"/>
              <a:ext cx="7200" cy="52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4" name="Picture 3"/>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6720" y="2357"/>
              <a:ext cx="7440" cy="37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 name="Picture 4"/>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7320" y="0"/>
              <a:ext cx="6600" cy="2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10060796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p:cNvGrpSpPr>
            <a:grpSpLocks/>
          </p:cNvGrpSpPr>
          <p:nvPr/>
        </p:nvGrpSpPr>
        <p:grpSpPr bwMode="auto">
          <a:xfrm>
            <a:off x="502276" y="36830"/>
            <a:ext cx="11255947" cy="6783070"/>
            <a:chOff x="120" y="118"/>
            <a:chExt cx="15797" cy="10682"/>
          </a:xfrm>
        </p:grpSpPr>
        <p:pic>
          <p:nvPicPr>
            <p:cNvPr id="5" name="Picture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40" y="5400"/>
              <a:ext cx="15677" cy="54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 name="Picture 5"/>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20" y="118"/>
              <a:ext cx="7080" cy="528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pic>
        <p:nvPicPr>
          <p:cNvPr id="7" name="image43.jpeg"/>
          <p:cNvPicPr/>
          <p:nvPr/>
        </p:nvPicPr>
        <p:blipFill>
          <a:blip r:embed="rId4" cstate="print"/>
          <a:stretch>
            <a:fillRect/>
          </a:stretch>
        </p:blipFill>
        <p:spPr>
          <a:xfrm>
            <a:off x="5632542" y="191135"/>
            <a:ext cx="6125869" cy="3199765"/>
          </a:xfrm>
          <a:prstGeom prst="rect">
            <a:avLst/>
          </a:prstGeom>
        </p:spPr>
      </p:pic>
    </p:spTree>
    <p:extLst>
      <p:ext uri="{BB962C8B-B14F-4D97-AF65-F5344CB8AC3E}">
        <p14:creationId xmlns:p14="http://schemas.microsoft.com/office/powerpoint/2010/main" xmlns="" val="706263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anose="02020603050405020304" pitchFamily="18" charset="0"/>
                <a:cs typeface="Times New Roman" panose="02020603050405020304" pitchFamily="18" charset="0"/>
              </a:rPr>
              <a:t>Effects Of Water Pollution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t>1.	Highly polluted water bodies in the urban areas</a:t>
            </a:r>
            <a:endParaRPr lang="en-US" dirty="0"/>
          </a:p>
        </p:txBody>
      </p:sp>
      <p:pic>
        <p:nvPicPr>
          <p:cNvPr id="4" name="image47.jpeg"/>
          <p:cNvPicPr/>
          <p:nvPr/>
        </p:nvPicPr>
        <p:blipFill>
          <a:blip r:embed="rId2" cstate="print"/>
          <a:stretch>
            <a:fillRect/>
          </a:stretch>
        </p:blipFill>
        <p:spPr>
          <a:xfrm>
            <a:off x="1210614" y="2526724"/>
            <a:ext cx="9530366" cy="3952601"/>
          </a:xfrm>
          <a:prstGeom prst="rect">
            <a:avLst/>
          </a:prstGeom>
        </p:spPr>
      </p:pic>
    </p:spTree>
    <p:extLst>
      <p:ext uri="{BB962C8B-B14F-4D97-AF65-F5344CB8AC3E}">
        <p14:creationId xmlns:p14="http://schemas.microsoft.com/office/powerpoint/2010/main" xmlns="" val="40413297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1972"/>
            <a:ext cx="10515600" cy="5854991"/>
          </a:xfrm>
        </p:spPr>
        <p:txBody>
          <a:bodyPr/>
          <a:lstStyle/>
          <a:p>
            <a:pPr marL="0" indent="0">
              <a:buNone/>
            </a:pPr>
            <a:r>
              <a:rPr lang="en-US" dirty="0" smtClean="0"/>
              <a:t>2. Death of aquatic organisms.</a:t>
            </a:r>
            <a:endParaRPr lang="en-US" dirty="0"/>
          </a:p>
        </p:txBody>
      </p:sp>
      <p:grpSp>
        <p:nvGrpSpPr>
          <p:cNvPr id="4" name="Group 3"/>
          <p:cNvGrpSpPr>
            <a:grpSpLocks/>
          </p:cNvGrpSpPr>
          <p:nvPr/>
        </p:nvGrpSpPr>
        <p:grpSpPr bwMode="auto">
          <a:xfrm>
            <a:off x="1353220" y="811369"/>
            <a:ext cx="9117303" cy="5806283"/>
            <a:chOff x="30" y="1080"/>
            <a:chExt cx="14370" cy="9360"/>
          </a:xfrm>
        </p:grpSpPr>
        <p:pic>
          <p:nvPicPr>
            <p:cNvPr id="5" name="Picture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0" y="1200"/>
              <a:ext cx="7410" cy="4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 name="Picture 5"/>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440" y="1080"/>
              <a:ext cx="6960" cy="486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6"/>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7680" y="6030"/>
              <a:ext cx="6600" cy="44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pic>
        <p:nvPicPr>
          <p:cNvPr id="8" name="image51.jpeg"/>
          <p:cNvPicPr/>
          <p:nvPr/>
        </p:nvPicPr>
        <p:blipFill>
          <a:blip r:embed="rId5" cstate="print"/>
          <a:stretch>
            <a:fillRect/>
          </a:stretch>
        </p:blipFill>
        <p:spPr>
          <a:xfrm>
            <a:off x="1353220" y="3901231"/>
            <a:ext cx="4742779" cy="2716422"/>
          </a:xfrm>
          <a:prstGeom prst="rect">
            <a:avLst/>
          </a:prstGeom>
        </p:spPr>
      </p:pic>
    </p:spTree>
    <p:extLst>
      <p:ext uri="{BB962C8B-B14F-4D97-AF65-F5344CB8AC3E}">
        <p14:creationId xmlns:p14="http://schemas.microsoft.com/office/powerpoint/2010/main" xmlns="" val="12588414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54.jpeg"/>
          <p:cNvPicPr/>
          <p:nvPr/>
        </p:nvPicPr>
        <p:blipFill>
          <a:blip r:embed="rId2" cstate="print"/>
          <a:stretch>
            <a:fillRect/>
          </a:stretch>
        </p:blipFill>
        <p:spPr>
          <a:xfrm>
            <a:off x="167425" y="206061"/>
            <a:ext cx="7147775" cy="6297769"/>
          </a:xfrm>
          <a:prstGeom prst="rect">
            <a:avLst/>
          </a:prstGeom>
        </p:spPr>
      </p:pic>
      <p:pic>
        <p:nvPicPr>
          <p:cNvPr id="3" name="image53.jpeg"/>
          <p:cNvPicPr/>
          <p:nvPr/>
        </p:nvPicPr>
        <p:blipFill>
          <a:blip r:embed="rId3" cstate="print"/>
          <a:stretch>
            <a:fillRect/>
          </a:stretch>
        </p:blipFill>
        <p:spPr>
          <a:xfrm>
            <a:off x="7547807" y="0"/>
            <a:ext cx="4257040" cy="6628765"/>
          </a:xfrm>
          <a:prstGeom prst="rect">
            <a:avLst/>
          </a:prstGeom>
        </p:spPr>
      </p:pic>
    </p:spTree>
    <p:extLst>
      <p:ext uri="{BB962C8B-B14F-4D97-AF65-F5344CB8AC3E}">
        <p14:creationId xmlns:p14="http://schemas.microsoft.com/office/powerpoint/2010/main" xmlns="" val="26393621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4. </a:t>
            </a:r>
            <a:r>
              <a:rPr lang="en-US" b="1" dirty="0" smtClean="0">
                <a:latin typeface="Times New Roman" pitchFamily="18" charset="0"/>
                <a:cs typeface="Times New Roman" pitchFamily="18" charset="0"/>
              </a:rPr>
              <a:t>Marine and groundwater pollution</a:t>
            </a:r>
            <a:endParaRPr lang="en-US" b="1" dirty="0">
              <a:latin typeface="Times New Roman" pitchFamily="18" charset="0"/>
              <a:cs typeface="Times New Roman" pitchFamily="18" charset="0"/>
            </a:endParaRPr>
          </a:p>
        </p:txBody>
      </p:sp>
      <p:grpSp>
        <p:nvGrpSpPr>
          <p:cNvPr id="4" name="Group 3"/>
          <p:cNvGrpSpPr>
            <a:grpSpLocks/>
          </p:cNvGrpSpPr>
          <p:nvPr/>
        </p:nvGrpSpPr>
        <p:grpSpPr bwMode="auto">
          <a:xfrm>
            <a:off x="1236372" y="1825624"/>
            <a:ext cx="9431627" cy="4351339"/>
            <a:chOff x="0" y="0"/>
            <a:chExt cx="14400" cy="10800"/>
          </a:xfrm>
        </p:grpSpPr>
        <p:pic>
          <p:nvPicPr>
            <p:cNvPr id="5" name="Picture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0" y="0"/>
              <a:ext cx="7680" cy="51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6" name="Picture 5"/>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7680" y="0"/>
              <a:ext cx="6720" cy="108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7" name="Picture 6"/>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0" y="5200"/>
              <a:ext cx="7560" cy="56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spTree>
    <p:extLst>
      <p:ext uri="{BB962C8B-B14F-4D97-AF65-F5344CB8AC3E}">
        <p14:creationId xmlns:p14="http://schemas.microsoft.com/office/powerpoint/2010/main" xmlns="" val="42566544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5. Eutrophication</a:t>
            </a:r>
            <a:endParaRPr lang="en-US" b="1" dirty="0">
              <a:latin typeface="Times New Roman" panose="02020603050405020304" pitchFamily="18" charset="0"/>
              <a:cs typeface="Times New Roman" panose="02020603050405020304" pitchFamily="18" charset="0"/>
            </a:endParaRPr>
          </a:p>
        </p:txBody>
      </p:sp>
      <p:pic>
        <p:nvPicPr>
          <p:cNvPr id="4" name="image58.jpeg"/>
          <p:cNvPicPr>
            <a:picLocks noGrp="1"/>
          </p:cNvPicPr>
          <p:nvPr>
            <p:ph idx="1"/>
          </p:nvPr>
        </p:nvPicPr>
        <p:blipFill>
          <a:blip r:embed="rId2" cstate="print"/>
          <a:stretch>
            <a:fillRect/>
          </a:stretch>
        </p:blipFill>
        <p:spPr>
          <a:xfrm>
            <a:off x="3157314" y="1825625"/>
            <a:ext cx="5877371" cy="4351338"/>
          </a:xfrm>
          <a:prstGeom prst="rect">
            <a:avLst/>
          </a:prstGeom>
        </p:spPr>
      </p:pic>
    </p:spTree>
    <p:extLst>
      <p:ext uri="{BB962C8B-B14F-4D97-AF65-F5344CB8AC3E}">
        <p14:creationId xmlns:p14="http://schemas.microsoft.com/office/powerpoint/2010/main" xmlns="" val="3346814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6. </a:t>
            </a:r>
            <a:r>
              <a:rPr lang="en-US" b="1" dirty="0" smtClean="0">
                <a:latin typeface="Times New Roman" panose="02020603050405020304" pitchFamily="18" charset="0"/>
                <a:cs typeface="Times New Roman" panose="02020603050405020304" pitchFamily="18" charset="0"/>
              </a:rPr>
              <a:t>Depletion of food chain</a:t>
            </a:r>
            <a:endParaRPr lang="en-US" b="1" dirty="0">
              <a:latin typeface="Times New Roman" panose="02020603050405020304" pitchFamily="18" charset="0"/>
              <a:cs typeface="Times New Roman" panose="02020603050405020304" pitchFamily="18" charset="0"/>
            </a:endParaRPr>
          </a:p>
        </p:txBody>
      </p:sp>
      <p:pic>
        <p:nvPicPr>
          <p:cNvPr id="4" name="image59.jpeg"/>
          <p:cNvPicPr>
            <a:picLocks noGrp="1"/>
          </p:cNvPicPr>
          <p:nvPr>
            <p:ph idx="1"/>
          </p:nvPr>
        </p:nvPicPr>
        <p:blipFill>
          <a:blip r:embed="rId2" cstate="print"/>
          <a:stretch>
            <a:fillRect/>
          </a:stretch>
        </p:blipFill>
        <p:spPr>
          <a:xfrm>
            <a:off x="1403797" y="1918952"/>
            <a:ext cx="8229600" cy="4939047"/>
          </a:xfrm>
          <a:prstGeom prst="rect">
            <a:avLst/>
          </a:prstGeom>
        </p:spPr>
      </p:pic>
    </p:spTree>
    <p:extLst>
      <p:ext uri="{BB962C8B-B14F-4D97-AF65-F5344CB8AC3E}">
        <p14:creationId xmlns:p14="http://schemas.microsoft.com/office/powerpoint/2010/main" xmlns="" val="366161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7</a:t>
            </a:r>
            <a:r>
              <a:rPr lang="en-US" b="1" dirty="0" smtClean="0">
                <a:latin typeface="Times New Roman" panose="02020603050405020304" pitchFamily="18" charset="0"/>
                <a:cs typeface="Times New Roman" panose="02020603050405020304" pitchFamily="18" charset="0"/>
              </a:rPr>
              <a:t>. DISEASES</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t>If drinking water supplies cannot meet the demand, people will be forced to consume unsafe sources of drinking water.</a:t>
            </a:r>
          </a:p>
          <a:p>
            <a:endParaRPr lang="en-US" dirty="0"/>
          </a:p>
          <a:p>
            <a:endParaRPr lang="en-US" dirty="0" smtClean="0"/>
          </a:p>
          <a:p>
            <a:r>
              <a:rPr lang="en-US" dirty="0" smtClean="0"/>
              <a:t>Waterborne disease </a:t>
            </a:r>
            <a:r>
              <a:rPr lang="en-US" dirty="0"/>
              <a:t>such as cholera</a:t>
            </a:r>
            <a:r>
              <a:rPr lang="en-US" dirty="0" smtClean="0"/>
              <a:t>, typhoid </a:t>
            </a:r>
            <a:r>
              <a:rPr lang="en-US" dirty="0" err="1" smtClean="0"/>
              <a:t>etc</a:t>
            </a:r>
            <a:r>
              <a:rPr lang="en-US" dirty="0" smtClean="0"/>
              <a:t> </a:t>
            </a:r>
            <a:r>
              <a:rPr lang="en-US" dirty="0"/>
              <a:t>are prevalent in such locations, causing an untold number </a:t>
            </a:r>
            <a:r>
              <a:rPr lang="en-US" dirty="0" smtClean="0"/>
              <a:t>of </a:t>
            </a:r>
            <a:r>
              <a:rPr lang="en-US" dirty="0"/>
              <a:t>deaths.</a:t>
            </a:r>
          </a:p>
        </p:txBody>
      </p:sp>
    </p:spTree>
    <p:extLst>
      <p:ext uri="{BB962C8B-B14F-4D97-AF65-F5344CB8AC3E}">
        <p14:creationId xmlns:p14="http://schemas.microsoft.com/office/powerpoint/2010/main" xmlns="" val="3593620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67.png"/>
          <p:cNvPicPr/>
          <p:nvPr/>
        </p:nvPicPr>
        <p:blipFill>
          <a:blip r:embed="rId2" cstate="print"/>
          <a:stretch>
            <a:fillRect/>
          </a:stretch>
        </p:blipFill>
        <p:spPr>
          <a:xfrm>
            <a:off x="502276" y="317"/>
            <a:ext cx="11153103" cy="6857365"/>
          </a:xfrm>
          <a:prstGeom prst="rect">
            <a:avLst/>
          </a:prstGeom>
        </p:spPr>
      </p:pic>
    </p:spTree>
    <p:extLst>
      <p:ext uri="{BB962C8B-B14F-4D97-AF65-F5344CB8AC3E}">
        <p14:creationId xmlns:p14="http://schemas.microsoft.com/office/powerpoint/2010/main" xmlns="" val="10955646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87097"/>
            <a:ext cx="10515600" cy="1325563"/>
          </a:xfrm>
        </p:spPr>
        <p:txBody>
          <a:bodyPr/>
          <a:lstStyle/>
          <a:p>
            <a:pPr algn="ctr"/>
            <a:r>
              <a:rPr lang="en-US" b="1" dirty="0" smtClean="0">
                <a:latin typeface="Times New Roman" panose="02020603050405020304" pitchFamily="18" charset="0"/>
                <a:cs typeface="Times New Roman" panose="02020603050405020304" pitchFamily="18" charset="0"/>
              </a:rPr>
              <a:t>Water Conservation</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dirty="0" smtClean="0"/>
              <a:t>Water conservation is the practice of using water efficiently to reduce unnecessary water usage. According to Fresh Water Watch, water conservation is important because fresh clean water is a limited resource, as well as a costly one.</a:t>
            </a:r>
            <a:endParaRPr lang="en-US" dirty="0"/>
          </a:p>
        </p:txBody>
      </p:sp>
    </p:spTree>
    <p:extLst>
      <p:ext uri="{BB962C8B-B14F-4D97-AF65-F5344CB8AC3E}">
        <p14:creationId xmlns:p14="http://schemas.microsoft.com/office/powerpoint/2010/main" xmlns="" val="18450970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77.jpeg"/>
          <p:cNvPicPr/>
          <p:nvPr/>
        </p:nvPicPr>
        <p:blipFill>
          <a:blip r:embed="rId2" cstate="print"/>
          <a:stretch>
            <a:fillRect/>
          </a:stretch>
        </p:blipFill>
        <p:spPr>
          <a:xfrm>
            <a:off x="579548" y="207962"/>
            <a:ext cx="11333409" cy="6442075"/>
          </a:xfrm>
          <a:prstGeom prst="rect">
            <a:avLst/>
          </a:prstGeom>
        </p:spPr>
      </p:pic>
    </p:spTree>
    <p:extLst>
      <p:ext uri="{BB962C8B-B14F-4D97-AF65-F5344CB8AC3E}">
        <p14:creationId xmlns:p14="http://schemas.microsoft.com/office/powerpoint/2010/main" xmlns="" val="10650540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INDOOR WATER CONSERVATION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t>Take shorter showers.</a:t>
            </a:r>
          </a:p>
          <a:p>
            <a:r>
              <a:rPr lang="en-US" dirty="0" smtClean="0"/>
              <a:t>Only run the washing machine for full loads.</a:t>
            </a:r>
          </a:p>
          <a:p>
            <a:r>
              <a:rPr lang="en-US" dirty="0" smtClean="0"/>
              <a:t>Turn off the faucet while brushing your teeth or shaving.</a:t>
            </a:r>
          </a:p>
          <a:p>
            <a:r>
              <a:rPr lang="en-US" dirty="0" smtClean="0"/>
              <a:t>Don’t wash dishes under continue running water.</a:t>
            </a:r>
          </a:p>
          <a:p>
            <a:r>
              <a:rPr lang="en-US" dirty="0" smtClean="0"/>
              <a:t>Check faucets and pipes for leaks.</a:t>
            </a:r>
          </a:p>
          <a:p>
            <a:r>
              <a:rPr lang="en-US" dirty="0" smtClean="0"/>
              <a:t>Monitor your water bill for unusually high use. Your bill and water meter are tools that can help save water.</a:t>
            </a:r>
          </a:p>
          <a:p>
            <a:r>
              <a:rPr lang="en-US" dirty="0" smtClean="0"/>
              <a:t>Use </a:t>
            </a:r>
            <a:r>
              <a:rPr lang="en-US" dirty="0" smtClean="0"/>
              <a:t>low-flush </a:t>
            </a:r>
            <a:r>
              <a:rPr lang="en-US" dirty="0" smtClean="0"/>
              <a:t>toilets.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OUTDOOR CONSERVATION OF WATER</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sz="4000" dirty="0" smtClean="0">
                <a:latin typeface="Times New Roman" pitchFamily="18" charset="0"/>
                <a:cs typeface="Times New Roman" pitchFamily="18" charset="0"/>
              </a:rPr>
              <a:t>Adjust  your sprinklers so that they are watering your lawn and garden.</a:t>
            </a:r>
          </a:p>
          <a:p>
            <a:r>
              <a:rPr lang="en-US" sz="4000" dirty="0" smtClean="0">
                <a:latin typeface="Times New Roman" pitchFamily="18" charset="0"/>
                <a:cs typeface="Times New Roman" pitchFamily="18" charset="0"/>
              </a:rPr>
              <a:t>Water early in the morning or later in evening.</a:t>
            </a:r>
          </a:p>
          <a:p>
            <a:r>
              <a:rPr lang="en-US" sz="4000" dirty="0" smtClean="0">
                <a:latin typeface="Times New Roman" pitchFamily="18" charset="0"/>
                <a:cs typeface="Times New Roman" pitchFamily="18" charset="0"/>
              </a:rPr>
              <a:t>Install drip irrigation.</a:t>
            </a:r>
          </a:p>
          <a:p>
            <a:r>
              <a:rPr lang="en-US" sz="4000" dirty="0" smtClean="0">
                <a:latin typeface="Times New Roman" pitchFamily="18" charset="0"/>
                <a:cs typeface="Times New Roman" pitchFamily="18" charset="0"/>
              </a:rPr>
              <a:t>Water your lawn only when it needs.</a:t>
            </a:r>
          </a:p>
          <a:p>
            <a:r>
              <a:rPr lang="en-US" sz="4000" dirty="0" smtClean="0">
                <a:latin typeface="Times New Roman" pitchFamily="18" charset="0"/>
                <a:cs typeface="Times New Roman" pitchFamily="18" charset="0"/>
              </a:rPr>
              <a:t>Check your irrigation systems if broken</a:t>
            </a:r>
            <a:r>
              <a:rPr lang="en-US" dirty="0" smtClean="0"/>
              <a:t>.</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88.png"/>
          <p:cNvPicPr/>
          <p:nvPr/>
        </p:nvPicPr>
        <p:blipFill>
          <a:blip r:embed="rId2" cstate="print"/>
          <a:stretch>
            <a:fillRect/>
          </a:stretch>
        </p:blipFill>
        <p:spPr>
          <a:xfrm>
            <a:off x="167426" y="-128472"/>
            <a:ext cx="11809926" cy="6857365"/>
          </a:xfrm>
          <a:prstGeom prst="rect">
            <a:avLst/>
          </a:prstGeom>
        </p:spPr>
      </p:pic>
    </p:spTree>
    <p:extLst>
      <p:ext uri="{BB962C8B-B14F-4D97-AF65-F5344CB8AC3E}">
        <p14:creationId xmlns:p14="http://schemas.microsoft.com/office/powerpoint/2010/main" xmlns="" val="30760510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Benefits Of Water Conservation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fontAlgn="base"/>
            <a:r>
              <a:rPr lang="en-US" sz="4000" dirty="0" smtClean="0">
                <a:latin typeface="Times New Roman" pitchFamily="18" charset="0"/>
                <a:cs typeface="Times New Roman" pitchFamily="18" charset="0"/>
              </a:rPr>
              <a:t>Protects water </a:t>
            </a:r>
            <a:r>
              <a:rPr lang="en-US" sz="4000" dirty="0" smtClean="0">
                <a:latin typeface="Times New Roman" pitchFamily="18" charset="0"/>
                <a:cs typeface="Times New Roman" pitchFamily="18" charset="0"/>
              </a:rPr>
              <a:t>supplies.</a:t>
            </a:r>
            <a:endParaRPr lang="en-US" sz="4000" dirty="0" smtClean="0">
              <a:latin typeface="Times New Roman" pitchFamily="18" charset="0"/>
              <a:cs typeface="Times New Roman" pitchFamily="18" charset="0"/>
            </a:endParaRPr>
          </a:p>
          <a:p>
            <a:pPr fontAlgn="base"/>
            <a:r>
              <a:rPr lang="en-US" sz="4000" dirty="0" smtClean="0">
                <a:latin typeface="Times New Roman" pitchFamily="18" charset="0"/>
                <a:cs typeface="Times New Roman" pitchFamily="18" charset="0"/>
              </a:rPr>
              <a:t>Reduces water purchase </a:t>
            </a:r>
            <a:r>
              <a:rPr lang="en-US" sz="4000" dirty="0" smtClean="0">
                <a:latin typeface="Times New Roman" pitchFamily="18" charset="0"/>
                <a:cs typeface="Times New Roman" pitchFamily="18" charset="0"/>
              </a:rPr>
              <a:t>costs.</a:t>
            </a:r>
            <a:endParaRPr lang="en-US" sz="4000" dirty="0" smtClean="0">
              <a:latin typeface="Times New Roman" pitchFamily="18" charset="0"/>
              <a:cs typeface="Times New Roman" pitchFamily="18" charset="0"/>
            </a:endParaRPr>
          </a:p>
          <a:p>
            <a:pPr fontAlgn="base"/>
            <a:r>
              <a:rPr lang="en-US" sz="4000" dirty="0" smtClean="0">
                <a:latin typeface="Times New Roman" pitchFamily="18" charset="0"/>
                <a:cs typeface="Times New Roman" pitchFamily="18" charset="0"/>
              </a:rPr>
              <a:t>Reduces energy use (associated with water extraction, conveyance, treatment, and distribution</a:t>
            </a:r>
            <a:r>
              <a:rPr lang="en-US" sz="4000" dirty="0" smtClean="0">
                <a:latin typeface="Times New Roman" pitchFamily="18" charset="0"/>
                <a:cs typeface="Times New Roman" pitchFamily="18" charset="0"/>
              </a:rPr>
              <a:t>).</a:t>
            </a:r>
            <a:endParaRPr lang="en-US" sz="4000" dirty="0" smtClean="0">
              <a:latin typeface="Times New Roman" pitchFamily="18" charset="0"/>
              <a:cs typeface="Times New Roman" pitchFamily="18" charset="0"/>
            </a:endParaRPr>
          </a:p>
          <a:p>
            <a:pPr fontAlgn="base"/>
            <a:r>
              <a:rPr lang="en-US" sz="4000" dirty="0" smtClean="0">
                <a:latin typeface="Times New Roman" pitchFamily="18" charset="0"/>
                <a:cs typeface="Times New Roman" pitchFamily="18" charset="0"/>
              </a:rPr>
              <a:t>Protects </a:t>
            </a:r>
            <a:r>
              <a:rPr lang="en-US" sz="4000" dirty="0" smtClean="0">
                <a:latin typeface="Times New Roman" pitchFamily="18" charset="0"/>
                <a:cs typeface="Times New Roman" pitchFamily="18" charset="0"/>
              </a:rPr>
              <a:t>ecosystems.</a:t>
            </a:r>
            <a:endParaRPr lang="en-US" sz="4000" dirty="0" smtClean="0">
              <a:latin typeface="Times New Roman" pitchFamily="18" charset="0"/>
              <a:cs typeface="Times New Roman" pitchFamily="18" charset="0"/>
            </a:endParaRP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Characteristics of Water</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711234"/>
            <a:ext cx="10515600" cy="4465729"/>
          </a:xfrm>
        </p:spPr>
        <p:txBody>
          <a:bodyPr>
            <a:normAutofit fontScale="85000" lnSpcReduction="20000"/>
          </a:bodyPr>
          <a:lstStyle/>
          <a:p>
            <a:pPr>
              <a:buNone/>
            </a:pPr>
            <a:r>
              <a:rPr lang="en-US" sz="3900" b="1" dirty="0" smtClean="0">
                <a:latin typeface="Times New Roman" pitchFamily="18" charset="0"/>
                <a:cs typeface="Times New Roman" pitchFamily="18" charset="0"/>
              </a:rPr>
              <a:t>Physical Characteristics of Water</a:t>
            </a:r>
          </a:p>
          <a:p>
            <a:pPr>
              <a:buNone/>
            </a:pPr>
            <a:endParaRPr lang="en-US" sz="3900" b="1" dirty="0" smtClean="0">
              <a:latin typeface="Times New Roman" pitchFamily="18" charset="0"/>
              <a:cs typeface="Times New Roman" pitchFamily="18" charset="0"/>
            </a:endParaRPr>
          </a:p>
          <a:p>
            <a:pPr marL="514350" indent="-514350">
              <a:buFont typeface="+mj-lt"/>
              <a:buAutoNum type="arabicPeriod"/>
            </a:pPr>
            <a:r>
              <a:rPr lang="en-US" sz="3900" dirty="0" smtClean="0">
                <a:latin typeface="Times New Roman" pitchFamily="18" charset="0"/>
                <a:cs typeface="Times New Roman" pitchFamily="18" charset="0"/>
              </a:rPr>
              <a:t>Temperature</a:t>
            </a:r>
          </a:p>
          <a:p>
            <a:pPr marL="514350" indent="-514350">
              <a:buFont typeface="+mj-lt"/>
              <a:buAutoNum type="arabicPeriod"/>
            </a:pPr>
            <a:r>
              <a:rPr lang="en-US" sz="3900" dirty="0" smtClean="0">
                <a:latin typeface="Times New Roman" pitchFamily="18" charset="0"/>
                <a:cs typeface="Times New Roman" pitchFamily="18" charset="0"/>
              </a:rPr>
              <a:t>Colour</a:t>
            </a:r>
          </a:p>
          <a:p>
            <a:pPr marL="514350" indent="-514350">
              <a:buFont typeface="+mj-lt"/>
              <a:buAutoNum type="arabicPeriod"/>
            </a:pPr>
            <a:r>
              <a:rPr lang="en-US" sz="3900" dirty="0" smtClean="0">
                <a:latin typeface="Times New Roman" pitchFamily="18" charset="0"/>
                <a:cs typeface="Times New Roman" pitchFamily="18" charset="0"/>
              </a:rPr>
              <a:t>Turbidity</a:t>
            </a:r>
          </a:p>
          <a:p>
            <a:pPr marL="514350" indent="-514350">
              <a:buFont typeface="+mj-lt"/>
              <a:buAutoNum type="arabicPeriod"/>
            </a:pPr>
            <a:r>
              <a:rPr lang="en-US" sz="3900" dirty="0" smtClean="0">
                <a:latin typeface="Times New Roman" pitchFamily="18" charset="0"/>
                <a:cs typeface="Times New Roman" pitchFamily="18" charset="0"/>
              </a:rPr>
              <a:t>Taste and odour</a:t>
            </a:r>
          </a:p>
          <a:p>
            <a:pPr marL="514350" indent="-514350">
              <a:buFont typeface="+mj-lt"/>
              <a:buAutoNum type="arabicPeriod"/>
            </a:pPr>
            <a:r>
              <a:rPr lang="en-US" sz="3900" dirty="0" smtClean="0">
                <a:latin typeface="Times New Roman" pitchFamily="18" charset="0"/>
                <a:cs typeface="Times New Roman" pitchFamily="18" charset="0"/>
              </a:rPr>
              <a:t>Specific conductivity.</a:t>
            </a:r>
          </a:p>
          <a:p>
            <a:pPr marL="514350" indent="-514350">
              <a:buFont typeface="+mj-lt"/>
              <a:buAutoNum type="arabicPeriod"/>
            </a:pPr>
            <a:endParaRPr lang="en-US" sz="3900" b="1" dirty="0" smtClean="0">
              <a:latin typeface="Times New Roman" pitchFamily="18" charset="0"/>
              <a:cs typeface="Times New Roman" pitchFamily="18" charset="0"/>
            </a:endParaRPr>
          </a:p>
          <a:p>
            <a:pPr>
              <a:buNone/>
            </a:pPr>
            <a:r>
              <a:rPr lang="en-US" dirty="0" smtClean="0"/>
              <a:t/>
            </a:r>
            <a:br>
              <a:rPr lang="en-US" dirty="0" smtClean="0"/>
            </a:b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71789"/>
          </a:xfrm>
        </p:spPr>
        <p:txBody>
          <a:bodyPr>
            <a:normAutofit fontScale="90000"/>
          </a:bodyPr>
          <a:lstStyle/>
          <a:p>
            <a:pPr algn="ctr"/>
            <a:r>
              <a:rPr lang="en-US" b="1" dirty="0" smtClean="0"/>
              <a:t/>
            </a:r>
            <a:br>
              <a:rPr lang="en-US" b="1" dirty="0" smtClean="0"/>
            </a:br>
            <a:r>
              <a:rPr lang="en-US" b="1" dirty="0" smtClean="0"/>
              <a:t/>
            </a:r>
            <a:br>
              <a:rPr lang="en-US" b="1" dirty="0" smtClean="0"/>
            </a:br>
            <a:r>
              <a:rPr lang="en-US" b="1" dirty="0" smtClean="0">
                <a:latin typeface="Times New Roman" pitchFamily="18" charset="0"/>
                <a:cs typeface="Times New Roman" pitchFamily="18" charset="0"/>
              </a:rPr>
              <a:t>Chemical Characteristics of Water</a:t>
            </a:r>
            <a:br>
              <a:rPr lang="en-US" b="1" dirty="0" smtClean="0">
                <a:latin typeface="Times New Roman" pitchFamily="18" charset="0"/>
                <a:cs typeface="Times New Roman" pitchFamily="18" charset="0"/>
              </a:rPr>
            </a:br>
            <a:r>
              <a:rPr lang="en-US" b="1" dirty="0" smtClean="0"/>
              <a:t/>
            </a:r>
            <a:br>
              <a:rPr lang="en-US" b="1" dirty="0" smtClean="0"/>
            </a:br>
            <a:r>
              <a:rPr lang="en-US" dirty="0" smtClean="0"/>
              <a:t/>
            </a:r>
            <a:br>
              <a:rPr lang="en-US" dirty="0" smtClean="0"/>
            </a:br>
            <a:endParaRPr lang="en-US" dirty="0"/>
          </a:p>
        </p:txBody>
      </p:sp>
      <p:sp>
        <p:nvSpPr>
          <p:cNvPr id="3" name="Content Placeholder 2"/>
          <p:cNvSpPr>
            <a:spLocks noGrp="1"/>
          </p:cNvSpPr>
          <p:nvPr>
            <p:ph idx="1"/>
          </p:nvPr>
        </p:nvSpPr>
        <p:spPr>
          <a:xfrm>
            <a:off x="838200" y="1515291"/>
            <a:ext cx="10515600" cy="4661672"/>
          </a:xfrm>
        </p:spPr>
        <p:txBody>
          <a:bodyPr>
            <a:normAutofit/>
          </a:bodyPr>
          <a:lstStyle/>
          <a:p>
            <a:r>
              <a:rPr lang="en-US" b="1" dirty="0" smtClean="0"/>
              <a:t> </a:t>
            </a:r>
            <a:r>
              <a:rPr lang="en-US" dirty="0" smtClean="0"/>
              <a:t>Total Solids and Suspended Solids.</a:t>
            </a:r>
          </a:p>
          <a:p>
            <a:r>
              <a:rPr lang="en-US" dirty="0" smtClean="0"/>
              <a:t>Hardness</a:t>
            </a:r>
          </a:p>
          <a:p>
            <a:r>
              <a:rPr lang="en-US" dirty="0" smtClean="0"/>
              <a:t>Chlorides</a:t>
            </a:r>
          </a:p>
          <a:p>
            <a:r>
              <a:rPr lang="en-US" dirty="0" smtClean="0"/>
              <a:t>pH value of Water</a:t>
            </a:r>
          </a:p>
          <a:p>
            <a:r>
              <a:rPr lang="en-US" dirty="0" smtClean="0"/>
              <a:t>Nitrogen Content.</a:t>
            </a:r>
          </a:p>
          <a:p>
            <a:r>
              <a:rPr lang="en-US" dirty="0" smtClean="0"/>
              <a:t>Dissolved oxygen</a:t>
            </a:r>
          </a:p>
          <a:p>
            <a:r>
              <a:rPr lang="en-US" dirty="0" smtClean="0"/>
              <a:t>Biological Oxygen Demand (BOD)</a:t>
            </a:r>
          </a:p>
          <a:p>
            <a:r>
              <a:rPr lang="en-US" dirty="0" smtClean="0"/>
              <a:t>Iron and manganese</a:t>
            </a:r>
          </a:p>
          <a:p>
            <a:r>
              <a:rPr lang="en-US" dirty="0" smtClean="0"/>
              <a:t>Lead </a:t>
            </a:r>
          </a:p>
          <a:p>
            <a:pPr>
              <a:buNone/>
            </a:pPr>
            <a:endParaRPr lang="en-US" b="1" dirty="0" smtClean="0"/>
          </a:p>
          <a:p>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Biological Characteristics</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4400" dirty="0" smtClean="0">
                <a:latin typeface="Times New Roman" pitchFamily="18" charset="0"/>
                <a:cs typeface="Times New Roman" pitchFamily="18" charset="0"/>
              </a:rPr>
              <a:t>Total count test</a:t>
            </a:r>
          </a:p>
          <a:p>
            <a:r>
              <a:rPr lang="en-US" sz="4400" dirty="0" err="1" smtClean="0">
                <a:latin typeface="Times New Roman" pitchFamily="18" charset="0"/>
                <a:cs typeface="Times New Roman" pitchFamily="18" charset="0"/>
              </a:rPr>
              <a:t>B.coil</a:t>
            </a:r>
            <a:r>
              <a:rPr lang="en-US" sz="4400" dirty="0" smtClean="0">
                <a:latin typeface="Times New Roman" pitchFamily="18" charset="0"/>
                <a:cs typeface="Times New Roman" pitchFamily="18" charset="0"/>
              </a:rPr>
              <a:t> test</a:t>
            </a:r>
          </a:p>
          <a:p>
            <a:r>
              <a:rPr lang="en-US" sz="4400" dirty="0" smtClean="0">
                <a:latin typeface="Times New Roman" pitchFamily="18" charset="0"/>
                <a:cs typeface="Times New Roman" pitchFamily="18" charset="0"/>
              </a:rPr>
              <a:t>Membrane filter test</a:t>
            </a:r>
            <a:endParaRPr lang="en-US" sz="4400" dirty="0">
              <a:latin typeface="Times New Roman" pitchFamily="18" charset="0"/>
              <a:cs typeface="Times New Roman" pitchFamily="18"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1263" y="391251"/>
            <a:ext cx="10515600" cy="1325563"/>
          </a:xfrm>
        </p:spPr>
        <p:txBody>
          <a:bodyPr/>
          <a:lstStyle/>
          <a:p>
            <a:pPr algn="ctr"/>
            <a:r>
              <a:rPr lang="en-US" b="1" dirty="0" smtClean="0">
                <a:latin typeface="Times New Roman" pitchFamily="18" charset="0"/>
                <a:cs typeface="Times New Roman" pitchFamily="18" charset="0"/>
              </a:rPr>
              <a:t>Water Harvesting</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t> Water harvesting is the activity of direct collection of rainwater. The rainwater collected can be stored for direct use or can be recharged into the groundwater. Rain is the first form of water that we know in the hydrological cycle, hence is a primary source of water for us. Rivers, lakes and groundwater are all secondary sources of water. In present times, we depend entirely on such secondary sources of water. In the process, it is forgotten that rain is the ultimate source that feeds all these secondary sources and remain ignorant.</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Rain Water Harvesting</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b="1" dirty="0" smtClean="0"/>
              <a:t>Rainwater harvesting</a:t>
            </a:r>
            <a:r>
              <a:rPr lang="en-US" dirty="0" smtClean="0"/>
              <a:t> (</a:t>
            </a:r>
            <a:r>
              <a:rPr lang="en-US" b="1" dirty="0" smtClean="0"/>
              <a:t>RWH</a:t>
            </a:r>
            <a:r>
              <a:rPr lang="en-US" dirty="0" smtClean="0"/>
              <a:t>) is the technique used for collection and storage of rain, rather than allowing it to run off. </a:t>
            </a:r>
          </a:p>
          <a:p>
            <a:r>
              <a:rPr lang="en-US" dirty="0" smtClean="0"/>
              <a:t>Rainwater is collected from a roof-like surface and redirected to a tank, deep pit (well, shaft, or borehole), </a:t>
            </a:r>
            <a:r>
              <a:rPr lang="en-US" dirty="0" smtClean="0">
                <a:hlinkClick r:id="rId2" tooltip="Aquifer storage and recovery"/>
              </a:rPr>
              <a:t>aquifer</a:t>
            </a:r>
            <a:r>
              <a:rPr lang="en-US" dirty="0" smtClean="0"/>
              <a:t>, or a reservoir, so that it seeps down and restores the ground water.</a:t>
            </a:r>
          </a:p>
          <a:p>
            <a:r>
              <a:rPr lang="en-US" dirty="0" smtClean="0"/>
              <a:t>The water collected through rain water harvesting can be filtered, stored and used for various purposes.</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Methods of rain water harvesting</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pPr marL="514350" indent="-514350">
              <a:buFont typeface="+mj-lt"/>
              <a:buAutoNum type="arabicPeriod"/>
            </a:pPr>
            <a:r>
              <a:rPr lang="en-US" sz="4000" dirty="0" smtClean="0"/>
              <a:t> </a:t>
            </a:r>
            <a:r>
              <a:rPr lang="en-US" sz="4000" dirty="0" smtClean="0">
                <a:latin typeface="Times New Roman" pitchFamily="18" charset="0"/>
                <a:cs typeface="Times New Roman" pitchFamily="18" charset="0"/>
              </a:rPr>
              <a:t>Surface Runoff Harvesting</a:t>
            </a:r>
          </a:p>
          <a:p>
            <a:pPr marL="514350" indent="-514350">
              <a:buNone/>
            </a:pPr>
            <a:endParaRPr lang="en-US" sz="4000" dirty="0" smtClean="0">
              <a:latin typeface="Times New Roman" pitchFamily="18" charset="0"/>
              <a:cs typeface="Times New Roman" pitchFamily="18" charset="0"/>
            </a:endParaRPr>
          </a:p>
          <a:p>
            <a:pPr marL="514350" indent="-514350">
              <a:buNone/>
            </a:pPr>
            <a:r>
              <a:rPr lang="en-US" sz="4000" dirty="0" smtClean="0">
                <a:latin typeface="Times New Roman" pitchFamily="18" charset="0"/>
                <a:cs typeface="Times New Roman" pitchFamily="18" charset="0"/>
              </a:rPr>
              <a:t>2.  Rooftop Rainwater Harvesting</a:t>
            </a:r>
          </a:p>
          <a:p>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1.Surface Runoff Harvesting</a:t>
            </a:r>
            <a:endParaRPr lang="en-US" b="1" dirty="0"/>
          </a:p>
        </p:txBody>
      </p:sp>
      <p:sp>
        <p:nvSpPr>
          <p:cNvPr id="3" name="Content Placeholder 2"/>
          <p:cNvSpPr>
            <a:spLocks noGrp="1"/>
          </p:cNvSpPr>
          <p:nvPr>
            <p:ph idx="1"/>
          </p:nvPr>
        </p:nvSpPr>
        <p:spPr/>
        <p:txBody>
          <a:bodyPr/>
          <a:lstStyle/>
          <a:p>
            <a:r>
              <a:rPr lang="en-US" dirty="0" smtClean="0"/>
              <a:t>In urban areas, rainwater flows away as surface runoff. This runoff can be caught and used for recharging aquifers by adopting appropriate methods.</a:t>
            </a:r>
          </a:p>
          <a:p>
            <a:r>
              <a:rPr lang="en-US" dirty="0" smtClean="0"/>
              <a:t>Surface runoff rainwater harvesting is a method of collecting rainwater flowing along the ground during the rains will be collected to a tank below the surface of the ground for irrigation and other purpose.</a:t>
            </a:r>
          </a:p>
          <a:p>
            <a:r>
              <a:rPr lang="en-US" dirty="0" smtClean="0"/>
              <a:t>The main objective of surface runoff rainwater harvesting method is to meet the ever increasing demand of water, to reduce soil erosion and flooding of roads.</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2.Rooftop Rainwater Harvesting</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r>
              <a:rPr lang="en-US" dirty="0" smtClean="0"/>
              <a:t>It is a system of catching rainwater where it falls. In rooftop harvesting, the roof becomes the catchment, and the rainwater is collected from the roof of the house/building.</a:t>
            </a:r>
          </a:p>
          <a:p>
            <a:r>
              <a:rPr lang="en-US" dirty="0" smtClean="0"/>
              <a:t>Harvested rain water can either be stored in a tank or diverted to an artificial recharge system to meet the household /commercial needs through storage in tanks.</a:t>
            </a:r>
          </a:p>
          <a:p>
            <a:r>
              <a:rPr lang="en-US" dirty="0" smtClean="0"/>
              <a:t>This method is simple, eco-friendly, less expensive and truly effective.</a:t>
            </a:r>
          </a:p>
          <a:p>
            <a:r>
              <a:rPr lang="en-US" dirty="0" smtClean="0"/>
              <a:t>The main objective of rooftop rain water harvesting is to make water available for future use, to improve quality of ground water.</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latin typeface="Times New Roman" pitchFamily="18" charset="0"/>
                <a:cs typeface="Times New Roman" pitchFamily="18" charset="0"/>
              </a:rPr>
              <a:t>Components of the Rooftop Rainwater Harvesting</a:t>
            </a:r>
            <a:br>
              <a:rPr lang="en-US" b="1"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a:xfrm>
            <a:off x="838200" y="1838688"/>
            <a:ext cx="10515600" cy="4351338"/>
          </a:xfrm>
        </p:spPr>
        <p:txBody>
          <a:bodyPr/>
          <a:lstStyle/>
          <a:p>
            <a:pPr marL="514350" indent="-514350">
              <a:buFont typeface="+mj-lt"/>
              <a:buAutoNum type="arabicPeriod"/>
            </a:pPr>
            <a:r>
              <a:rPr lang="en-US" dirty="0" smtClean="0"/>
              <a:t> </a:t>
            </a:r>
            <a:r>
              <a:rPr lang="en-US" sz="4000" dirty="0" smtClean="0">
                <a:latin typeface="Times New Roman" pitchFamily="18" charset="0"/>
                <a:cs typeface="Times New Roman" pitchFamily="18" charset="0"/>
              </a:rPr>
              <a:t>Catchment</a:t>
            </a:r>
          </a:p>
          <a:p>
            <a:pPr marL="514350" indent="-514350">
              <a:buFont typeface="+mj-lt"/>
              <a:buAutoNum type="arabicPeriod"/>
            </a:pPr>
            <a:r>
              <a:rPr lang="en-US" sz="4000" dirty="0" smtClean="0">
                <a:latin typeface="Times New Roman" pitchFamily="18" charset="0"/>
                <a:cs typeface="Times New Roman" pitchFamily="18" charset="0"/>
              </a:rPr>
              <a:t> Transportation</a:t>
            </a:r>
          </a:p>
          <a:p>
            <a:pPr marL="514350" indent="-514350">
              <a:buFont typeface="+mj-lt"/>
              <a:buAutoNum type="arabicPeriod"/>
            </a:pPr>
            <a:r>
              <a:rPr lang="en-US" sz="4000" dirty="0" smtClean="0">
                <a:latin typeface="Times New Roman" pitchFamily="18" charset="0"/>
                <a:cs typeface="Times New Roman" pitchFamily="18" charset="0"/>
              </a:rPr>
              <a:t>First Flush</a:t>
            </a:r>
          </a:p>
          <a:p>
            <a:pPr marL="514350" indent="-514350">
              <a:buFont typeface="+mj-lt"/>
              <a:buAutoNum type="arabicPeriod"/>
            </a:pPr>
            <a:r>
              <a:rPr lang="en-US" sz="4000" dirty="0" smtClean="0">
                <a:latin typeface="Times New Roman" pitchFamily="18" charset="0"/>
                <a:cs typeface="Times New Roman" pitchFamily="18" charset="0"/>
              </a:rPr>
              <a:t>Filter</a:t>
            </a:r>
          </a:p>
          <a:p>
            <a:pPr marL="514350" indent="-514350">
              <a:buFont typeface="+mj-lt"/>
              <a:buAutoNum type="arabicPeriod"/>
            </a:pP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Advantages of Rainwater Harvesting</a:t>
            </a:r>
            <a:r>
              <a:rPr lang="en-US" b="1" dirty="0" smtClean="0"/>
              <a:t/>
            </a:r>
            <a:br>
              <a:rPr lang="en-US" b="1" dirty="0" smtClean="0"/>
            </a:br>
            <a:endParaRPr lang="en-US" dirty="0"/>
          </a:p>
        </p:txBody>
      </p:sp>
      <p:sp>
        <p:nvSpPr>
          <p:cNvPr id="3" name="Content Placeholder 2"/>
          <p:cNvSpPr>
            <a:spLocks noGrp="1"/>
          </p:cNvSpPr>
          <p:nvPr>
            <p:ph idx="1"/>
          </p:nvPr>
        </p:nvSpPr>
        <p:spPr>
          <a:xfrm>
            <a:off x="838200" y="1397726"/>
            <a:ext cx="10515600" cy="4779237"/>
          </a:xfrm>
        </p:spPr>
        <p:txBody>
          <a:bodyPr>
            <a:normAutofit lnSpcReduction="10000"/>
          </a:bodyPr>
          <a:lstStyle/>
          <a:p>
            <a:r>
              <a:rPr lang="en-US" dirty="0" smtClean="0"/>
              <a:t>Less cost.</a:t>
            </a:r>
          </a:p>
          <a:p>
            <a:r>
              <a:rPr lang="en-US" dirty="0" smtClean="0"/>
              <a:t>Helps in reducing the water bill.</a:t>
            </a:r>
          </a:p>
          <a:p>
            <a:r>
              <a:rPr lang="en-US" dirty="0" smtClean="0"/>
              <a:t>Decreases the demand for water.</a:t>
            </a:r>
          </a:p>
          <a:p>
            <a:r>
              <a:rPr lang="en-US" dirty="0" smtClean="0"/>
              <a:t>Promotes both water and energy conservation.</a:t>
            </a:r>
          </a:p>
          <a:p>
            <a:r>
              <a:rPr lang="en-US" dirty="0" smtClean="0"/>
              <a:t>Improves the quality and quantity of groundwater.</a:t>
            </a:r>
          </a:p>
          <a:p>
            <a:r>
              <a:rPr lang="en-US" dirty="0" smtClean="0"/>
              <a:t>This technology is relatively simple, easy to install and operate.</a:t>
            </a:r>
          </a:p>
          <a:p>
            <a:r>
              <a:rPr lang="en-US" dirty="0" smtClean="0"/>
              <a:t>It reduces soil erosion, runoff, flooding, and pollution of surface water with fertilizers, pesticides, metals and other sediments.</a:t>
            </a:r>
          </a:p>
          <a:p>
            <a:r>
              <a:rPr lang="en-US" dirty="0" smtClean="0"/>
              <a:t>It is an excellent source of water for landscape irrigation with no chemicals, dissolved salts and free from all minerals.</a:t>
            </a:r>
          </a:p>
          <a:p>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Disadvantages of Rainwater Harvesting</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r>
              <a:rPr lang="en-US" sz="3600" dirty="0" smtClean="0">
                <a:latin typeface="Times New Roman" pitchFamily="18" charset="0"/>
                <a:cs typeface="Times New Roman" pitchFamily="18" charset="0"/>
              </a:rPr>
              <a:t>Regular maintenance is required.</a:t>
            </a:r>
          </a:p>
          <a:p>
            <a:r>
              <a:rPr lang="en-US" sz="3600" dirty="0" smtClean="0">
                <a:latin typeface="Times New Roman" pitchFamily="18" charset="0"/>
                <a:cs typeface="Times New Roman" pitchFamily="18" charset="0"/>
              </a:rPr>
              <a:t>Requires some technical skills for installation.</a:t>
            </a:r>
          </a:p>
          <a:p>
            <a:r>
              <a:rPr lang="en-US" sz="3600" dirty="0" smtClean="0">
                <a:latin typeface="Times New Roman" pitchFamily="18" charset="0"/>
                <a:cs typeface="Times New Roman" pitchFamily="18" charset="0"/>
              </a:rPr>
              <a:t>If not installed correctly, it may attract mosquitoes and other waterborne diseases.</a:t>
            </a:r>
          </a:p>
          <a:p>
            <a:r>
              <a:rPr lang="en-US" sz="3600" dirty="0" smtClean="0">
                <a:latin typeface="Times New Roman" pitchFamily="18" charset="0"/>
                <a:cs typeface="Times New Roman" pitchFamily="18" charset="0"/>
              </a:rPr>
              <a:t>The water that is received by rain water harvesting may not be suitable for drinking unless treated properly.</a:t>
            </a:r>
          </a:p>
          <a:p>
            <a:endParaRPr lang="en-US" dirty="0" smtClean="0"/>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Noise Pollution </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sz="3200" dirty="0" smtClean="0">
                <a:latin typeface="Times New Roman" pitchFamily="18" charset="0"/>
                <a:cs typeface="Times New Roman" pitchFamily="18" charset="0"/>
              </a:rPr>
              <a:t>Sound that is unwanted or disrupts one’s quality of life is called as noise. When there is lot of noise in the environment it is termed as noise pollution.</a:t>
            </a:r>
          </a:p>
          <a:p>
            <a:r>
              <a:rPr lang="en-US" sz="3200" dirty="0" smtClean="0">
                <a:latin typeface="Times New Roman" pitchFamily="18" charset="0"/>
                <a:cs typeface="Times New Roman" pitchFamily="18" charset="0"/>
              </a:rPr>
              <a:t>Sound becomes undesirable when it disturbs the normal activities such as working, sleeping, and during conversations.</a:t>
            </a:r>
          </a:p>
          <a:p>
            <a:r>
              <a:rPr lang="en-US" sz="3200" dirty="0" smtClean="0">
                <a:latin typeface="Times New Roman" pitchFamily="18" charset="0"/>
                <a:cs typeface="Times New Roman" pitchFamily="18" charset="0"/>
              </a:rPr>
              <a:t>The word noise is derived from the Latin word ‘Nausea’.</a:t>
            </a:r>
          </a:p>
          <a:p>
            <a:r>
              <a:rPr lang="en-US" sz="3200" dirty="0" smtClean="0">
                <a:latin typeface="Times New Roman" pitchFamily="18" charset="0"/>
                <a:cs typeface="Times New Roman" pitchFamily="18" charset="0"/>
              </a:rPr>
              <a:t>The intensity of sound is measured in decibels (dB). </a:t>
            </a:r>
            <a:endParaRPr lang="en-US" sz="3200" dirty="0">
              <a:latin typeface="Times New Roman" pitchFamily="18" charset="0"/>
              <a:cs typeface="Times New Roman"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Source of Noise Pollution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10000"/>
          </a:bodyPr>
          <a:lstStyle/>
          <a:p>
            <a:r>
              <a:rPr lang="en-US" dirty="0" smtClean="0"/>
              <a:t>Transportation  Noise</a:t>
            </a:r>
          </a:p>
          <a:p>
            <a:r>
              <a:rPr lang="en-US" dirty="0" smtClean="0"/>
              <a:t>Industrial Noise</a:t>
            </a:r>
          </a:p>
          <a:p>
            <a:r>
              <a:rPr lang="en-US" dirty="0" smtClean="0"/>
              <a:t>Construction of building, highways and streets</a:t>
            </a:r>
          </a:p>
          <a:p>
            <a:r>
              <a:rPr lang="en-US" dirty="0" smtClean="0"/>
              <a:t>Road Traffic Noise</a:t>
            </a:r>
          </a:p>
          <a:p>
            <a:r>
              <a:rPr lang="en-US" dirty="0" smtClean="0"/>
              <a:t>Noise from Aircraft</a:t>
            </a:r>
          </a:p>
          <a:p>
            <a:r>
              <a:rPr lang="en-US" dirty="0" smtClean="0"/>
              <a:t>Noise from Industrial Activity</a:t>
            </a:r>
          </a:p>
          <a:p>
            <a:r>
              <a:rPr lang="en-US" dirty="0" smtClean="0"/>
              <a:t>Fireworks</a:t>
            </a:r>
          </a:p>
          <a:p>
            <a:r>
              <a:rPr lang="en-US" dirty="0" smtClean="0"/>
              <a:t>Household sources</a:t>
            </a:r>
          </a:p>
          <a:p>
            <a:r>
              <a:rPr lang="en-US" dirty="0" smtClean="0"/>
              <a:t>Social events </a:t>
            </a:r>
            <a:br>
              <a:rPr lang="en-US" dirty="0" smtClean="0"/>
            </a:b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Construction Noise</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r>
              <a:rPr lang="en-US" dirty="0" smtClean="0"/>
              <a:t>The noise from the construction of highways, city streets, and buildings is a major contributor to the noise and air pollution in cities. For example, construction noise sources include:</a:t>
            </a:r>
          </a:p>
          <a:p>
            <a:r>
              <a:rPr lang="en-US" dirty="0" smtClean="0"/>
              <a:t>Air Hammers</a:t>
            </a:r>
          </a:p>
          <a:p>
            <a:r>
              <a:rPr lang="en-US" dirty="0" smtClean="0"/>
              <a:t>Air compressors</a:t>
            </a:r>
          </a:p>
          <a:p>
            <a:r>
              <a:rPr lang="en-US" dirty="0" smtClean="0"/>
              <a:t>Bulldozers</a:t>
            </a:r>
          </a:p>
          <a:p>
            <a:r>
              <a:rPr lang="en-US" dirty="0" smtClean="0"/>
              <a:t>Loaders and</a:t>
            </a:r>
          </a:p>
          <a:p>
            <a:r>
              <a:rPr lang="en-US" dirty="0" smtClean="0"/>
              <a:t>Dump trucks</a:t>
            </a:r>
          </a:p>
          <a:p>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idx="1"/>
          </p:nvPr>
        </p:nvSpPr>
        <p:spPr>
          <a:xfrm>
            <a:off x="838200" y="482600"/>
            <a:ext cx="10515600" cy="5694363"/>
          </a:xfrm>
        </p:spPr>
        <p:txBody>
          <a:bodyPr/>
          <a:lstStyle/>
          <a:p>
            <a:pPr>
              <a:buNone/>
            </a:pPr>
            <a:r>
              <a:rPr lang="en-US" b="1" dirty="0" smtClean="0"/>
              <a:t>Fireworks:</a:t>
            </a:r>
          </a:p>
          <a:p>
            <a:r>
              <a:rPr lang="en-US" dirty="0" smtClean="0"/>
              <a:t>Indian festivals like Diwali, marriages, etc. use fireworks during celebrations.</a:t>
            </a:r>
          </a:p>
          <a:p>
            <a:r>
              <a:rPr lang="en-US" dirty="0" smtClean="0"/>
              <a:t>However, bursting firecrackers is a health hazard since it is responsible for both air pollution and noise pollution. The noise created is hazardous, can lead sometimes to non-recoverable hearing loss.</a:t>
            </a:r>
          </a:p>
          <a:p>
            <a:pPr>
              <a:buNone/>
            </a:pPr>
            <a:r>
              <a:rPr lang="en-US" b="1" dirty="0" smtClean="0"/>
              <a:t>Household sources:</a:t>
            </a:r>
          </a:p>
          <a:p>
            <a:r>
              <a:rPr lang="en-US" dirty="0" smtClean="0"/>
              <a:t>Gadgets like food mixers, grinder, vacuum cleaner, washing machine etc can be very noisy and injurious to health.</a:t>
            </a:r>
          </a:p>
          <a:p>
            <a:r>
              <a:rPr lang="en-US" dirty="0" smtClean="0"/>
              <a:t>Other include loud speakers of sound systems and TVs</a:t>
            </a:r>
          </a:p>
          <a:p>
            <a:r>
              <a:rPr lang="en-US" dirty="0" smtClean="0"/>
              <a:t>Another example nay be your </a:t>
            </a:r>
            <a:r>
              <a:rPr lang="en-US" dirty="0" err="1" smtClean="0"/>
              <a:t>neighbour’s</a:t>
            </a:r>
            <a:r>
              <a:rPr lang="en-US" dirty="0" smtClean="0"/>
              <a:t> dog barking all night everyday  disturbing everyone else in the apartment.</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itchFamily="18" charset="0"/>
                <a:cs typeface="Times New Roman" pitchFamily="18" charset="0"/>
              </a:rPr>
              <a:t>Causes and Sources of Noise Pollution</a:t>
            </a:r>
            <a:br>
              <a:rPr lang="en-US" b="1" dirty="0" smtClean="0">
                <a:latin typeface="Times New Roman" pitchFamily="18" charset="0"/>
                <a:cs typeface="Times New Roman" pitchFamily="18" charset="0"/>
              </a:rPr>
            </a:b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a:bodyPr>
          <a:lstStyle/>
          <a:p>
            <a:r>
              <a:rPr lang="en-US" dirty="0" smtClean="0"/>
              <a:t>Following are the causes and sources of noise pollution:</a:t>
            </a:r>
          </a:p>
          <a:p>
            <a:r>
              <a:rPr lang="en-US" b="1" dirty="0" err="1" smtClean="0"/>
              <a:t>Industrialisation</a:t>
            </a:r>
            <a:r>
              <a:rPr lang="en-US" b="1" dirty="0" smtClean="0"/>
              <a:t>:</a:t>
            </a:r>
            <a:r>
              <a:rPr lang="en-US" dirty="0" smtClean="0"/>
              <a:t> </a:t>
            </a:r>
            <a:r>
              <a:rPr lang="en-US" dirty="0" err="1" smtClean="0"/>
              <a:t>Industrialisation</a:t>
            </a:r>
            <a:r>
              <a:rPr lang="en-US" dirty="0" smtClean="0"/>
              <a:t> has led to an increase in noise pollution as the use of heavy machinery such as generators, mills, huge exhaust fans are used, resulting in the production of unwanted noise.</a:t>
            </a:r>
          </a:p>
          <a:p>
            <a:r>
              <a:rPr lang="en-US" b="1" dirty="0" smtClean="0"/>
              <a:t>Vehicles:</a:t>
            </a:r>
            <a:r>
              <a:rPr lang="en-US" dirty="0" smtClean="0"/>
              <a:t> Increased number of vehicles on the roads are the second reason for noise pollution.</a:t>
            </a:r>
          </a:p>
          <a:p>
            <a:r>
              <a:rPr lang="en-US" b="1" dirty="0" smtClean="0"/>
              <a:t>Events:</a:t>
            </a:r>
            <a:r>
              <a:rPr lang="en-US" dirty="0" smtClean="0"/>
              <a:t> Weddings, public gatherings involve loudspeakers to play music resulting in the production of unwanted noise in the </a:t>
            </a:r>
            <a:r>
              <a:rPr lang="en-US" dirty="0" err="1" smtClean="0"/>
              <a:t>neighbourhood</a:t>
            </a:r>
            <a:r>
              <a:rPr lang="en-US" dirty="0" smtClean="0"/>
              <a:t>.</a:t>
            </a:r>
          </a:p>
          <a:p>
            <a:r>
              <a:rPr lang="en-US" b="1" dirty="0" smtClean="0"/>
              <a:t>Construction sites:</a:t>
            </a:r>
            <a:r>
              <a:rPr lang="en-US" dirty="0" smtClean="0"/>
              <a:t> Mining, construction of buildings, etc add to the noise pollution.</a:t>
            </a:r>
          </a:p>
          <a:p>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latin typeface="Times New Roman" pitchFamily="18" charset="0"/>
                <a:cs typeface="Times New Roman" pitchFamily="18" charset="0"/>
              </a:rPr>
              <a:t>Effects of Noise Pollution on Human Health</a:t>
            </a:r>
            <a:r>
              <a:rPr lang="en-US" b="1" dirty="0" smtClean="0"/>
              <a:t/>
            </a:r>
            <a:br>
              <a:rPr lang="en-US" b="1" dirty="0" smtClean="0"/>
            </a:br>
            <a:endParaRPr lang="en-US" dirty="0"/>
          </a:p>
        </p:txBody>
      </p:sp>
      <p:sp>
        <p:nvSpPr>
          <p:cNvPr id="3" name="Content Placeholder 2"/>
          <p:cNvSpPr>
            <a:spLocks noGrp="1"/>
          </p:cNvSpPr>
          <p:nvPr>
            <p:ph idx="1"/>
          </p:nvPr>
        </p:nvSpPr>
        <p:spPr>
          <a:xfrm>
            <a:off x="838200" y="1449977"/>
            <a:ext cx="10515600" cy="4726986"/>
          </a:xfrm>
        </p:spPr>
        <p:txBody>
          <a:bodyPr>
            <a:normAutofit fontScale="92500" lnSpcReduction="20000"/>
          </a:bodyPr>
          <a:lstStyle/>
          <a:p>
            <a:pPr>
              <a:buNone/>
            </a:pPr>
            <a:r>
              <a:rPr lang="en-US" dirty="0" smtClean="0"/>
              <a:t>Noise pollution can be hazardous to human health in the following ways:</a:t>
            </a:r>
          </a:p>
          <a:p>
            <a:r>
              <a:rPr lang="en-US" b="1" dirty="0" smtClean="0"/>
              <a:t>Hypertension:</a:t>
            </a:r>
            <a:r>
              <a:rPr lang="en-US" dirty="0" smtClean="0"/>
              <a:t> It is a direct result of noise pollution which is caused due to elevated blood levels for a longer duration.</a:t>
            </a:r>
          </a:p>
          <a:p>
            <a:r>
              <a:rPr lang="en-US" b="1" dirty="0" smtClean="0"/>
              <a:t>Hearing loss:</a:t>
            </a:r>
            <a:r>
              <a:rPr lang="en-US" dirty="0" smtClean="0"/>
              <a:t> Constant exposure of human ears to loud noise that are beyond the range of sound that human ears can withstand damages the eardrums, resulting in loss of hearing.</a:t>
            </a:r>
          </a:p>
          <a:p>
            <a:r>
              <a:rPr lang="en-US" b="1" dirty="0" smtClean="0"/>
              <a:t>Sleeping Disorders:</a:t>
            </a:r>
            <a:r>
              <a:rPr lang="en-US" dirty="0" smtClean="0"/>
              <a:t> Lack of sleep might result in fatigue and low energy level throughout the day affecting everyday activities. Noise pollution hampers the sleep cycles leading to irritation and an uncomfortable state of mind.</a:t>
            </a:r>
          </a:p>
          <a:p>
            <a:r>
              <a:rPr lang="en-US" b="1" dirty="0" smtClean="0"/>
              <a:t>Cardiovascular issues:</a:t>
            </a:r>
            <a:r>
              <a:rPr lang="en-US" dirty="0" smtClean="0"/>
              <a:t> Heart-related problems such as blood pressure level, stress and cardiovascular diseases might come up in a normal person and a person suffering from any of these diseases might feel a sudden shoot up in the level.</a:t>
            </a:r>
          </a:p>
          <a:p>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b="1" dirty="0" smtClean="0">
                <a:latin typeface="Times New Roman" pitchFamily="18" charset="0"/>
                <a:cs typeface="Times New Roman" pitchFamily="18" charset="0"/>
              </a:rPr>
              <a:t>Lack of concentration</a:t>
            </a:r>
            <a:r>
              <a:rPr lang="en-US" dirty="0" smtClean="0"/>
              <a:t>: </a:t>
            </a:r>
          </a:p>
          <a:p>
            <a:pPr>
              <a:buNone/>
            </a:pPr>
            <a:r>
              <a:rPr lang="en-US" dirty="0" smtClean="0"/>
              <a:t>   Noise causes lack of concentration. In big cities, mostly all the offices are on main road. The noise of traffic or the loud speakers of different types of horns divert the attention of the people working in offices. </a:t>
            </a:r>
          </a:p>
          <a:p>
            <a:pPr>
              <a:buNone/>
            </a:pPr>
            <a:endParaRPr lang="en-US" dirty="0" smtClean="0"/>
          </a:p>
          <a:p>
            <a:r>
              <a:rPr lang="en-US" b="1" dirty="0" smtClean="0">
                <a:latin typeface="Times New Roman" pitchFamily="18" charset="0"/>
                <a:cs typeface="Times New Roman" pitchFamily="18" charset="0"/>
              </a:rPr>
              <a:t>It c</a:t>
            </a:r>
            <a:r>
              <a:rPr lang="en-US" b="1" dirty="0" smtClean="0"/>
              <a:t>auses heart attack: </a:t>
            </a:r>
          </a:p>
          <a:p>
            <a:pPr>
              <a:buNone/>
            </a:pPr>
            <a:r>
              <a:rPr lang="en-US" dirty="0" smtClean="0"/>
              <a:t>   Noise pollution causes increase in the rate of heart-beat, increased cholesterol level which leads to blood pressure that resulted in heart attack.</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Control Measures To Reduce Noise Pollution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t>Maintain distance between industrial area, bus terminals, railway stations etc from the residential area.</a:t>
            </a:r>
          </a:p>
          <a:p>
            <a:r>
              <a:rPr lang="en-US" dirty="0" smtClean="0"/>
              <a:t>Controlling human activities like minimum use of loudspeakers.</a:t>
            </a:r>
          </a:p>
          <a:p>
            <a:r>
              <a:rPr lang="en-US" dirty="0" smtClean="0"/>
              <a:t>Workers which are working on sites should use ear plugs for hearing protection.</a:t>
            </a:r>
          </a:p>
          <a:p>
            <a:r>
              <a:rPr lang="en-US" dirty="0" smtClean="0"/>
              <a:t>Factories and industries should be placed away from residential areas.</a:t>
            </a:r>
          </a:p>
          <a:p>
            <a:r>
              <a:rPr lang="en-US" dirty="0" smtClean="0"/>
              <a:t>Use of loudspeakers with 500m of hospitals, educational institutes are strictly banned.</a:t>
            </a:r>
          </a:p>
          <a:p>
            <a:r>
              <a:rPr lang="en-US" dirty="0" smtClean="0"/>
              <a:t>Fireworks having large noise capacity should not be used.</a:t>
            </a:r>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Maintenance of vehicles should be done regularly to reduce noise pollution.</a:t>
            </a:r>
          </a:p>
          <a:p>
            <a:r>
              <a:rPr lang="en-US" dirty="0" smtClean="0"/>
              <a:t>Social awareness programs are needed to be arranged for educating public about the cause and effects of noise pollution.</a:t>
            </a:r>
          </a:p>
          <a:p>
            <a:r>
              <a:rPr lang="en-US" dirty="0" smtClean="0"/>
              <a:t>Sound proof doors and windows are needed to be placed to block unwanted noise.</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Thermal Pollution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r>
              <a:rPr lang="en-US" dirty="0" smtClean="0"/>
              <a:t>Thermal pollution occurs when hot or cold water is dumped into a natural body of water, changing its temperature. </a:t>
            </a:r>
          </a:p>
          <a:p>
            <a:r>
              <a:rPr lang="en-US" dirty="0" smtClean="0"/>
              <a:t>Thermal pollution is any sudden change in the temperature of a natural body of water. Normally rivers, lakes, and oceans maintain a fairly steady temperature. They gain heat from sunlight, warm currents, and hot springs, but they disperse this heat naturally.</a:t>
            </a:r>
          </a:p>
          <a:p>
            <a:r>
              <a:rPr lang="en-US" dirty="0" smtClean="0"/>
              <a:t>However, when a large amount of hot or cold water gets dumped in, this overwhelms the natural balance. The water temperature shifts, throwing the ecosystem into disarray. Thermal pollution alters the water chemistry and harms plants and animals, causing stress, disease, and even death.</a:t>
            </a:r>
          </a:p>
          <a:p>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Causes of thermal pollution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r>
              <a:rPr lang="en-US" dirty="0" smtClean="0"/>
              <a:t>Nuclear power plant</a:t>
            </a:r>
          </a:p>
          <a:p>
            <a:r>
              <a:rPr lang="en-US" dirty="0" smtClean="0"/>
              <a:t>Industrial effluent</a:t>
            </a:r>
          </a:p>
          <a:p>
            <a:r>
              <a:rPr lang="en-US" dirty="0" smtClean="0"/>
              <a:t>Domestic sewage</a:t>
            </a:r>
          </a:p>
          <a:p>
            <a:r>
              <a:rPr lang="en-US" dirty="0" smtClean="0"/>
              <a:t>Hydro-electric power</a:t>
            </a:r>
          </a:p>
          <a:p>
            <a:r>
              <a:rPr lang="en-US" dirty="0" smtClean="0"/>
              <a:t>Soil erosion</a:t>
            </a:r>
          </a:p>
          <a:p>
            <a:r>
              <a:rPr lang="en-US" dirty="0" smtClean="0"/>
              <a:t>Deforestation </a:t>
            </a:r>
          </a:p>
          <a:p>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Effects Of Thermal Pollution</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r>
              <a:rPr lang="en-US" dirty="0" smtClean="0"/>
              <a:t>Disruption of fish and amphibian habitats</a:t>
            </a:r>
          </a:p>
          <a:p>
            <a:r>
              <a:rPr lang="en-US" dirty="0" smtClean="0"/>
              <a:t>Decrease in dissolved oxygen</a:t>
            </a:r>
          </a:p>
          <a:p>
            <a:r>
              <a:rPr lang="en-US" dirty="0" smtClean="0"/>
              <a:t>Increased toxins in the water</a:t>
            </a:r>
          </a:p>
          <a:p>
            <a:r>
              <a:rPr lang="en-US" dirty="0" smtClean="0"/>
              <a:t>Detrimental impact to biodiversity</a:t>
            </a:r>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Soil Pollution</a:t>
            </a:r>
            <a:endParaRPr lang="en-US" b="1"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US" dirty="0" smtClean="0"/>
              <a:t>Soil pollution refers to the contamination of soil with </a:t>
            </a:r>
            <a:r>
              <a:rPr lang="en-US" dirty="0" smtClean="0"/>
              <a:t>concentrations </a:t>
            </a:r>
            <a:r>
              <a:rPr lang="en-US" dirty="0" smtClean="0"/>
              <a:t>of toxic </a:t>
            </a:r>
            <a:r>
              <a:rPr lang="en-US" dirty="0" smtClean="0"/>
              <a:t>substances.</a:t>
            </a:r>
          </a:p>
          <a:p>
            <a:r>
              <a:rPr lang="en-US" dirty="0" smtClean="0"/>
              <a:t>soil </a:t>
            </a:r>
            <a:r>
              <a:rPr lang="en-US" dirty="0" smtClean="0"/>
              <a:t>contamination can occur because of human activities or because of natural processes. However, mostly it is due to human activities. It occurs due to many different activities such as overuse of pesticides the soil will lose its fertility and the presence of excess chemicals will increase the acidity or alkalinity of soil and hence degrading the quality of the soil</a:t>
            </a:r>
            <a:r>
              <a:rPr lang="en-US" dirty="0" smtClean="0"/>
              <a:t>.</a:t>
            </a:r>
            <a:endParaRPr lang="en-US" dirty="0" smtClean="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Types of Soil ​Pollution</a:t>
            </a:r>
            <a:br>
              <a:rPr lang="en-US" b="1" dirty="0" smtClean="0">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lstStyle/>
          <a:p>
            <a:r>
              <a:rPr lang="en-US" dirty="0" smtClean="0"/>
              <a:t>Agriculture </a:t>
            </a:r>
            <a:r>
              <a:rPr lang="en-US" dirty="0" smtClean="0"/>
              <a:t>soil pollution is caused due to the excessive use of pesticides and insecticides.</a:t>
            </a:r>
          </a:p>
          <a:p>
            <a:r>
              <a:rPr lang="en-US" dirty="0" smtClean="0"/>
              <a:t>Soil Pollution by industrial discharges of chemicals from mining and manufacturing of goods.</a:t>
            </a:r>
          </a:p>
          <a:p>
            <a:r>
              <a:rPr lang="en-US" dirty="0" smtClean="0"/>
              <a:t>Solid waste soil pollution/ Poor management or inefficient disposal of waste.</a:t>
            </a:r>
          </a:p>
          <a:p>
            <a:r>
              <a:rPr lang="en-US" dirty="0" smtClean="0"/>
              <a:t>Soil Pollution due to urban activities. etc</a:t>
            </a:r>
          </a:p>
          <a:p>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latin typeface="Times New Roman" pitchFamily="18" charset="0"/>
                <a:cs typeface="Times New Roman" pitchFamily="18" charset="0"/>
              </a:rPr>
              <a:t>Soil Pollution Causes</a:t>
            </a:r>
            <a:r>
              <a:rPr lang="en-US" dirty="0" smtClean="0"/>
              <a:t/>
            </a:r>
            <a:br>
              <a:rPr lang="en-US" dirty="0" smtClean="0"/>
            </a:br>
            <a:endParaRPr lang="en-US" dirty="0"/>
          </a:p>
        </p:txBody>
      </p:sp>
      <p:sp>
        <p:nvSpPr>
          <p:cNvPr id="3" name="Content Placeholder 2"/>
          <p:cNvSpPr>
            <a:spLocks noGrp="1"/>
          </p:cNvSpPr>
          <p:nvPr>
            <p:ph idx="1"/>
          </p:nvPr>
        </p:nvSpPr>
        <p:spPr/>
        <p:txBody>
          <a:bodyPr/>
          <a:lstStyle/>
          <a:p>
            <a:r>
              <a:rPr lang="en-US" dirty="0" smtClean="0"/>
              <a:t>Industrial Pollution</a:t>
            </a:r>
          </a:p>
          <a:p>
            <a:r>
              <a:rPr lang="en-US" dirty="0" smtClean="0"/>
              <a:t>Agricultural </a:t>
            </a:r>
            <a:r>
              <a:rPr lang="en-US" dirty="0" smtClean="0"/>
              <a:t>Activities</a:t>
            </a:r>
          </a:p>
          <a:p>
            <a:r>
              <a:rPr lang="en-US" dirty="0" smtClean="0"/>
              <a:t>Waste </a:t>
            </a:r>
            <a:r>
              <a:rPr lang="en-US" dirty="0" smtClean="0"/>
              <a:t>Disposal</a:t>
            </a:r>
          </a:p>
          <a:p>
            <a:r>
              <a:rPr lang="en-US" dirty="0" smtClean="0"/>
              <a:t>Acid </a:t>
            </a:r>
            <a:r>
              <a:rPr lang="en-US" dirty="0" smtClean="0"/>
              <a:t>Rain</a:t>
            </a:r>
          </a:p>
          <a:p>
            <a:r>
              <a:rPr lang="en-US" dirty="0" smtClean="0"/>
              <a:t>Heavy </a:t>
            </a:r>
            <a:r>
              <a:rPr lang="en-US" dirty="0" smtClean="0"/>
              <a:t>Metals</a:t>
            </a:r>
          </a:p>
          <a:p>
            <a:r>
              <a:rPr lang="en-US" dirty="0" smtClean="0"/>
              <a:t>Oil </a:t>
            </a:r>
            <a:r>
              <a:rPr lang="en-US" dirty="0" smtClean="0"/>
              <a:t>Spills</a:t>
            </a:r>
          </a:p>
          <a:p>
            <a:r>
              <a:rPr lang="en-US" dirty="0" smtClean="0"/>
              <a:t>Nuclear Waste</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481</TotalTime>
  <Words>1646</Words>
  <Application>Microsoft Office PowerPoint</Application>
  <PresentationFormat>Custom</PresentationFormat>
  <Paragraphs>212</Paragraphs>
  <Slides>52</Slides>
  <Notes>0</Notes>
  <HiddenSlides>0</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Office Theme</vt:lpstr>
      <vt:lpstr>Unit 2 Water Pollution</vt:lpstr>
      <vt:lpstr>Water pollution</vt:lpstr>
      <vt:lpstr>Types Of Water Pollutants</vt:lpstr>
      <vt:lpstr>Slide 4</vt:lpstr>
      <vt:lpstr>Non point sources</vt:lpstr>
      <vt:lpstr>Slide 6</vt:lpstr>
      <vt:lpstr>DISSOLVED OXYGEN</vt:lpstr>
      <vt:lpstr>Chemical Oxygen Demand (COD)</vt:lpstr>
      <vt:lpstr>Slide 9</vt:lpstr>
      <vt:lpstr>Slide 10</vt:lpstr>
      <vt:lpstr>Slide 11</vt:lpstr>
      <vt:lpstr>Slide 12</vt:lpstr>
      <vt:lpstr>Effects Of Water Pollution</vt:lpstr>
      <vt:lpstr>Slide 14</vt:lpstr>
      <vt:lpstr>Slide 15</vt:lpstr>
      <vt:lpstr>4. Marine and groundwater pollution</vt:lpstr>
      <vt:lpstr>5. Eutrophication</vt:lpstr>
      <vt:lpstr>6. Depletion of food chain</vt:lpstr>
      <vt:lpstr>7. DISEASES</vt:lpstr>
      <vt:lpstr>Slide 20</vt:lpstr>
      <vt:lpstr>Water Conservation</vt:lpstr>
      <vt:lpstr>Slide 22</vt:lpstr>
      <vt:lpstr>INDOOR WATER CONSERVATION</vt:lpstr>
      <vt:lpstr>OUTDOOR CONSERVATION OF WATER</vt:lpstr>
      <vt:lpstr>Slide 25</vt:lpstr>
      <vt:lpstr>Benefits Of Water Conservation</vt:lpstr>
      <vt:lpstr>Characteristics of Water</vt:lpstr>
      <vt:lpstr>  Chemical Characteristics of Water   </vt:lpstr>
      <vt:lpstr>Biological Characteristics</vt:lpstr>
      <vt:lpstr>Water Harvesting</vt:lpstr>
      <vt:lpstr>Rain Water Harvesting</vt:lpstr>
      <vt:lpstr>Methods of rain water harvesting</vt:lpstr>
      <vt:lpstr>1.Surface Runoff Harvesting</vt:lpstr>
      <vt:lpstr>2.Rooftop Rainwater Harvesting </vt:lpstr>
      <vt:lpstr>Components of the Rooftop Rainwater Harvesting </vt:lpstr>
      <vt:lpstr>Advantages of Rainwater Harvesting </vt:lpstr>
      <vt:lpstr>Disadvantages of Rainwater Harvesting </vt:lpstr>
      <vt:lpstr>Noise Pollution </vt:lpstr>
      <vt:lpstr>Source of Noise Pollution</vt:lpstr>
      <vt:lpstr>Construction Noise </vt:lpstr>
      <vt:lpstr>Slide 41</vt:lpstr>
      <vt:lpstr>Causes and Sources of Noise Pollution </vt:lpstr>
      <vt:lpstr>Effects of Noise Pollution on Human Health </vt:lpstr>
      <vt:lpstr>Slide 44</vt:lpstr>
      <vt:lpstr>Control Measures To Reduce Noise Pollution</vt:lpstr>
      <vt:lpstr>Slide 46</vt:lpstr>
      <vt:lpstr>Thermal Pollution</vt:lpstr>
      <vt:lpstr>Causes of thermal pollution</vt:lpstr>
      <vt:lpstr>Effects Of Thermal Pollution </vt:lpstr>
      <vt:lpstr>Soil Pollution</vt:lpstr>
      <vt:lpstr>Types of Soil ​Pollution </vt:lpstr>
      <vt:lpstr>Soil Pollution Causes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Personal</cp:lastModifiedBy>
  <cp:revision>49</cp:revision>
  <dcterms:created xsi:type="dcterms:W3CDTF">2023-09-17T06:16:49Z</dcterms:created>
  <dcterms:modified xsi:type="dcterms:W3CDTF">2023-09-28T16:22:36Z</dcterms:modified>
</cp:coreProperties>
</file>