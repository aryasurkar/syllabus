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48" r:id="rId1"/>
  </p:sldMasterIdLst>
  <p:notesMasterIdLst>
    <p:notesMasterId r:id="rId79"/>
  </p:notesMasterIdLst>
  <p:sldIdLst>
    <p:sldId id="257" r:id="rId2"/>
    <p:sldId id="334"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9144000" cy="6858000" type="screen4x3"/>
  <p:notesSz cx="6858000" cy="9144000"/>
  <p:defaultTextStyle>
    <a:lvl1pPr marL="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1pPr>
    <a:lvl2pPr marL="4572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2pPr>
    <a:lvl3pPr marL="9144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3pPr>
    <a:lvl4pPr marL="13716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4pPr>
    <a:lvl5pPr marL="18288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5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6}" styleName="Medium Style 2 - Accent 6">
    <a:wholeTbl>
      <a:tcTxStyle>
        <a:fontRef idx="minor">
          <a:srgbClr val="000000"/>
        </a:fontRef>
        <a:srgbClr val="000000"/>
      </a:tcTxStyle>
      <a:tcStyle>
        <a:tcBdr>
          <a:left>
            <a:ln w="12700" cmpd="sng">
              <a:solidFill>
                <a:srgbClr val="FFFFFF"/>
              </a:solidFill>
            </a:ln>
          </a:left>
          <a:right>
            <a:ln w="12700" cmpd="sng">
              <a:solidFill>
                <a:srgbClr val="FFFFFF"/>
              </a:solidFill>
            </a:ln>
          </a:right>
          <a:top>
            <a:ln w="12700" cmpd="sng">
              <a:solidFill>
                <a:srgbClr val="FFFFFF"/>
              </a:solidFill>
            </a:ln>
          </a:top>
          <a:bottom>
            <a:ln w="12700" cmpd="sng">
              <a:solidFill>
                <a:srgbClr val="FFFFFF"/>
              </a:solidFill>
            </a:ln>
          </a:bottom>
          <a:insideH>
            <a:ln w="12700" cmpd="sng">
              <a:solidFill>
                <a:srgbClr val="FFFFFF"/>
              </a:solidFill>
            </a:ln>
          </a:insideH>
          <a:insideV>
            <a:ln w="12700" cmpd="sng">
              <a:solidFill>
                <a:srgbClr val="FFFFFF"/>
              </a:solidFill>
            </a:ln>
          </a:insideV>
        </a:tcBdr>
        <a:fill>
          <a:solidFill>
            <a:srgbClr val="70AD47">
              <a:tint val="20000"/>
            </a:srgbClr>
          </a:solidFill>
        </a:fill>
      </a:tcStyle>
    </a:wholeTbl>
    <a:band1H>
      <a:tcStyle>
        <a:tcBdr/>
        <a:fill>
          <a:solidFill>
            <a:srgbClr val="70AD47">
              <a:tint val="40000"/>
            </a:srgbClr>
          </a:solidFill>
        </a:fill>
      </a:tcStyle>
    </a:band1H>
    <a:band2H>
      <a:tcStyle>
        <a:tcBdr/>
      </a:tcStyle>
    </a:band2H>
    <a:band1V>
      <a:tcStyle>
        <a:tcBdr/>
        <a:fill>
          <a:solidFill>
            <a:srgbClr val="70AD47">
              <a:tint val="40000"/>
            </a:srgbClr>
          </a:solidFill>
        </a:fill>
      </a:tcStyle>
    </a:band1V>
    <a:band2V>
      <a:tcStyle>
        <a:tcBdr/>
      </a:tcStyle>
    </a:band2V>
    <a:lastCol>
      <a:tcTxStyle b="on">
        <a:fontRef idx="minor">
          <a:srgbClr val="000000"/>
        </a:fontRef>
        <a:srgbClr val="000000"/>
      </a:tcTxStyle>
      <a:tcStyle>
        <a:tcBdr/>
        <a:fill>
          <a:solidFill>
            <a:srgbClr val="70AD47"/>
          </a:solidFill>
        </a:fill>
      </a:tcStyle>
    </a:lastCol>
    <a:firstCol>
      <a:tcTxStyle b="on">
        <a:fontRef idx="minor">
          <a:srgbClr val="000000"/>
        </a:fontRef>
        <a:srgbClr val="000000"/>
      </a:tcTxStyle>
      <a:tcStyle>
        <a:tcBdr/>
        <a:fill>
          <a:solidFill>
            <a:srgbClr val="70AD47"/>
          </a:solidFill>
        </a:fill>
      </a:tcStyle>
    </a:firstCol>
    <a:lastRow>
      <a:tcTxStyle b="on">
        <a:fontRef idx="minor">
          <a:srgbClr val="000000"/>
        </a:fontRef>
        <a:srgbClr val="000000"/>
      </a:tcTxStyle>
      <a:tcStyle>
        <a:tcBdr>
          <a:top>
            <a:ln w="38100" cmpd="sng">
              <a:solidFill>
                <a:srgbClr val="FFFFFF"/>
              </a:solidFill>
            </a:ln>
          </a:top>
        </a:tcBdr>
        <a:fill>
          <a:solidFill>
            <a:srgbClr val="70AD47"/>
          </a:solidFill>
        </a:fill>
      </a:tcStyle>
    </a:lastRow>
    <a:firstRow>
      <a:tcTxStyle b="on">
        <a:fontRef idx="minor">
          <a:srgbClr val="000000"/>
        </a:fontRef>
        <a:srgbClr val="000000"/>
      </a:tcTxStyle>
      <a:tcStyle>
        <a:tcBdr>
          <a:top>
            <a:ln w="38100" cmpd="sng">
              <a:solidFill>
                <a:srgbClr val="FFFFFF"/>
              </a:solidFill>
            </a:ln>
          </a:top>
        </a:tcBdr>
        <a:fill>
          <a:solidFill>
            <a:srgbClr val="70AD47"/>
          </a:solidFill>
        </a:fill>
      </a:tcStyle>
    </a:firstRow>
  </a:tblStyle>
  <a:tblStyle styleId="{5C22544A-7EE6-4342-B048-85BDC9FD1C3B}" styleName="Medium Style 2 - Accent 1">
    <a:wholeTbl>
      <a:tcTxStyle>
        <a:fontRef idx="minor">
          <a:srgbClr val="000000"/>
        </a:fontRef>
        <a:srgbClr val="000000"/>
      </a:tcTxStyle>
      <a:tcStyle>
        <a:tcBdr>
          <a:left>
            <a:ln w="12700" cmpd="sng">
              <a:solidFill>
                <a:srgbClr val="FFFFFF"/>
              </a:solidFill>
            </a:ln>
          </a:left>
          <a:right>
            <a:ln w="12700" cmpd="sng">
              <a:solidFill>
                <a:srgbClr val="FFFFFF"/>
              </a:solidFill>
            </a:ln>
          </a:right>
          <a:top>
            <a:ln w="12700" cmpd="sng">
              <a:solidFill>
                <a:srgbClr val="FFFFFF"/>
              </a:solidFill>
            </a:ln>
          </a:top>
          <a:bottom>
            <a:ln w="12700" cmpd="sng">
              <a:solidFill>
                <a:srgbClr val="FFFFFF"/>
              </a:solidFill>
            </a:ln>
          </a:bottom>
          <a:insideH>
            <a:ln w="12700" cmpd="sng">
              <a:solidFill>
                <a:srgbClr val="FFFFFF"/>
              </a:solidFill>
            </a:ln>
          </a:insideH>
          <a:insideV>
            <a:ln w="12700" cmpd="sng">
              <a:solidFill>
                <a:srgbClr val="FFFFFF"/>
              </a:solidFill>
            </a:ln>
          </a:insideV>
        </a:tcBdr>
        <a:fill>
          <a:solidFill>
            <a:srgbClr val="5B9BD5">
              <a:tint val="20000"/>
            </a:srgbClr>
          </a:solidFill>
        </a:fill>
      </a:tcStyle>
    </a:wholeTbl>
    <a:band1H>
      <a:tcStyle>
        <a:tcBdr/>
        <a:fill>
          <a:solidFill>
            <a:srgbClr val="5B9BD5">
              <a:tint val="40000"/>
            </a:srgbClr>
          </a:solidFill>
        </a:fill>
      </a:tcStyle>
    </a:band1H>
    <a:band2H>
      <a:tcStyle>
        <a:tcBdr/>
      </a:tcStyle>
    </a:band2H>
    <a:band1V>
      <a:tcStyle>
        <a:tcBdr/>
        <a:fill>
          <a:solidFill>
            <a:srgbClr val="5B9BD5">
              <a:tint val="40000"/>
            </a:srgbClr>
          </a:solidFill>
        </a:fill>
      </a:tcStyle>
    </a:band1V>
    <a:band2V>
      <a:tcStyle>
        <a:tcBdr/>
      </a:tcStyle>
    </a:band2V>
    <a:lastCol>
      <a:tcTxStyle b="on">
        <a:fontRef idx="minor">
          <a:srgbClr val="000000"/>
        </a:fontRef>
        <a:srgbClr val="000000"/>
      </a:tcTxStyle>
      <a:tcStyle>
        <a:tcBdr/>
        <a:fill>
          <a:solidFill>
            <a:srgbClr val="5B9BD5"/>
          </a:solidFill>
        </a:fill>
      </a:tcStyle>
    </a:lastCol>
    <a:firstCol>
      <a:tcTxStyle b="on">
        <a:fontRef idx="minor">
          <a:srgbClr val="000000"/>
        </a:fontRef>
        <a:srgbClr val="000000"/>
      </a:tcTxStyle>
      <a:tcStyle>
        <a:tcBdr/>
        <a:fill>
          <a:solidFill>
            <a:srgbClr val="5B9BD5"/>
          </a:solidFill>
        </a:fill>
      </a:tcStyle>
    </a:firstCol>
    <a:lastRow>
      <a:tcTxStyle b="on">
        <a:fontRef idx="minor">
          <a:srgbClr val="000000"/>
        </a:fontRef>
        <a:srgbClr val="000000"/>
      </a:tcTxStyle>
      <a:tcStyle>
        <a:tcBdr>
          <a:top>
            <a:ln w="38100" cmpd="sng">
              <a:solidFill>
                <a:srgbClr val="FFFFFF"/>
              </a:solidFill>
            </a:ln>
          </a:top>
        </a:tcBdr>
        <a:fill>
          <a:solidFill>
            <a:srgbClr val="5B9BD5"/>
          </a:solidFill>
        </a:fill>
      </a:tcStyle>
    </a:lastRow>
    <a:firstRow>
      <a:tcTxStyle b="on">
        <a:fontRef idx="minor">
          <a:srgbClr val="000000"/>
        </a:fontRef>
        <a:srgbClr val="000000"/>
      </a:tcTxStyle>
      <a:tcStyle>
        <a:tcBdr>
          <a:top>
            <a:ln w="38100" cmpd="sng">
              <a:solidFill>
                <a:srgbClr val="FFFFFF"/>
              </a:solidFill>
            </a:ln>
          </a:top>
        </a:tcBdr>
        <a:fill>
          <a:solidFill>
            <a:srgbClr val="5B9B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2" autoAdjust="0"/>
    <p:restoredTop sz="86647" autoAdjust="0"/>
  </p:normalViewPr>
  <p:slideViewPr>
    <p:cSldViewPr>
      <p:cViewPr varScale="1">
        <p:scale>
          <a:sx n="74" d="100"/>
          <a:sy n="74" d="100"/>
        </p:scale>
        <p:origin x="122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6" name="Header Placeholder 1048753"/>
          <p:cNvSpPr>
            <a:spLocks noGrp="1"/>
          </p:cNvSpPr>
          <p:nvPr>
            <p:ph type="hdr" sz="quarter"/>
          </p:nvPr>
        </p:nvSpPr>
        <p:spPr>
          <a:xfrm>
            <a:off x="0" y="0"/>
            <a:ext cx="2971800" cy="457200"/>
          </a:xfrm>
          <a:prstGeom prst="rect">
            <a:avLst/>
          </a:prstGeom>
          <a:noFill/>
          <a:ln>
            <a:noFill/>
          </a:ln>
        </p:spPr>
        <p:txBody>
          <a:bodyPr lIns="91440" tIns="45720" rIns="91440" bIns="45720" anchor="t"/>
          <a:lstStyle/>
          <a:p>
            <a:pPr lvl="0" algn="l" eaLnBrk="1" latinLnBrk="1" hangingPunct="1"/>
            <a:endParaRPr lang="zh-CN" altLang="en-US" sz="1200"/>
          </a:p>
        </p:txBody>
      </p:sp>
      <p:sp>
        <p:nvSpPr>
          <p:cNvPr id="1048817" name="Date Placeholder 1048754"/>
          <p:cNvSpPr>
            <a:spLocks noGrp="1"/>
          </p:cNvSpPr>
          <p:nvPr>
            <p:ph type="dt" idx="1"/>
          </p:nvPr>
        </p:nvSpPr>
        <p:spPr>
          <a:xfrm>
            <a:off x="3884612" y="0"/>
            <a:ext cx="2971800" cy="457200"/>
          </a:xfrm>
          <a:prstGeom prst="rect">
            <a:avLst/>
          </a:prstGeom>
          <a:noFill/>
          <a:ln>
            <a:noFill/>
          </a:ln>
        </p:spPr>
        <p:txBody>
          <a:bodyPr lIns="91440" tIns="45720" rIns="91440" bIns="45720" anchor="t"/>
          <a:lstStyle/>
          <a:p>
            <a:pPr lvl="0" algn="r" eaLnBrk="1" latinLnBrk="1" hangingPunct="1"/>
            <a:fld id="{566ABCEB-ACFC-4714-9973-3DA970169C29}" type="datetime1">
              <a:rPr lang="zh-CN" altLang="en-US" sz="1200"/>
              <a:pPr lvl="0" algn="r" eaLnBrk="1" latinLnBrk="1" hangingPunct="1"/>
              <a:t>2024/2/9</a:t>
            </a:fld>
            <a:endParaRPr lang="zh-CN" altLang="en-US" sz="1200"/>
          </a:p>
        </p:txBody>
      </p:sp>
      <p:sp>
        <p:nvSpPr>
          <p:cNvPr id="1048818" name="Slide Image Placeholder 1048755"/>
          <p:cNvSpPr>
            <a:spLocks noGrp="1" noRot="1" noChangeAspect="1"/>
          </p:cNvSpPr>
          <p:nvPr>
            <p:ph type="sldImg" idx="2"/>
          </p:nvPr>
        </p:nvSpPr>
        <p:spPr>
          <a:xfrm>
            <a:off x="1143000" y="685800"/>
            <a:ext cx="4572000" cy="3429000"/>
          </a:xfrm>
          <a:prstGeom prst="rect">
            <a:avLst/>
          </a:prstGeom>
          <a:noFill/>
          <a:ln w="12700" cap="flat" cmpd="sng">
            <a:solidFill>
              <a:srgbClr val="000000">
                <a:alpha val="100000"/>
              </a:srgbClr>
            </a:solidFill>
            <a:prstDash val="solid"/>
            <a:round/>
          </a:ln>
        </p:spPr>
        <p:txBody>
          <a:bodyPr lIns="91440" tIns="45720" rIns="91440" bIns="45720" anchor="ctr"/>
          <a:lstStyle/>
          <a:p>
            <a:endParaRPr/>
          </a:p>
        </p:txBody>
      </p:sp>
      <p:sp>
        <p:nvSpPr>
          <p:cNvPr id="1048819" name="Notes Placeholder 1048756"/>
          <p:cNvSpPr>
            <a:spLocks noGrp="1"/>
          </p:cNvSpPr>
          <p:nvPr>
            <p:ph type="body" sz="quarter" idx="3"/>
          </p:nvPr>
        </p:nvSpPr>
        <p:spPr>
          <a:xfrm>
            <a:off x="685800" y="4343400"/>
            <a:ext cx="5486400" cy="4114800"/>
          </a:xfrm>
          <a:prstGeom prst="rect">
            <a:avLst/>
          </a:prstGeom>
          <a:noFill/>
          <a:ln>
            <a:noFill/>
          </a:ln>
        </p:spPr>
        <p:txBody>
          <a:bodyPr lIns="91440" tIns="45720" rIns="91440" bIns="45720" anchor="t"/>
          <a:lstStyle/>
          <a:p>
            <a:pPr lvl="0"/>
            <a:r>
              <a:rPr lang="zh-CN" altLang="en-US"/>
              <a:t>Click to edit Master text styles</a:t>
            </a:r>
          </a:p>
          <a:p>
            <a:pPr lvl="1"/>
            <a:r>
              <a:rPr lang="zh-CN" altLang="en-US"/>
              <a:t>Second level</a:t>
            </a:r>
          </a:p>
          <a:p>
            <a:pPr lvl="2"/>
            <a:r>
              <a:rPr lang="zh-CN" altLang="en-US"/>
              <a:t>Third level</a:t>
            </a:r>
          </a:p>
          <a:p>
            <a:pPr lvl="3"/>
            <a:r>
              <a:rPr lang="zh-CN" altLang="en-US"/>
              <a:t>Fourth level</a:t>
            </a:r>
          </a:p>
          <a:p>
            <a:pPr lvl="4"/>
            <a:r>
              <a:rPr lang="zh-CN" altLang="en-US"/>
              <a:t>Fifth level</a:t>
            </a:r>
          </a:p>
        </p:txBody>
      </p:sp>
      <p:sp>
        <p:nvSpPr>
          <p:cNvPr id="1048820" name="Footer Placeholder 1048757"/>
          <p:cNvSpPr>
            <a:spLocks noGrp="1"/>
          </p:cNvSpPr>
          <p:nvPr>
            <p:ph type="ftr" sz="quarter" idx="4"/>
          </p:nvPr>
        </p:nvSpPr>
        <p:spPr>
          <a:xfrm>
            <a:off x="0" y="8685212"/>
            <a:ext cx="2971800" cy="457200"/>
          </a:xfrm>
          <a:prstGeom prst="rect">
            <a:avLst/>
          </a:prstGeom>
          <a:noFill/>
          <a:ln>
            <a:noFill/>
          </a:ln>
        </p:spPr>
        <p:txBody>
          <a:bodyPr lIns="91440" tIns="45720" rIns="91440" bIns="45720" anchor="b"/>
          <a:lstStyle/>
          <a:p>
            <a:pPr lvl="0" algn="l" eaLnBrk="1" latinLnBrk="1" hangingPunct="1"/>
            <a:endParaRPr lang="zh-CN" altLang="en-US" sz="1200"/>
          </a:p>
        </p:txBody>
      </p:sp>
      <p:sp>
        <p:nvSpPr>
          <p:cNvPr id="1048821" name="Slide Number Placeholder 1048758"/>
          <p:cNvSpPr>
            <a:spLocks noGrp="1"/>
          </p:cNvSpPr>
          <p:nvPr>
            <p:ph type="sldNum" sz="quarter" idx="5"/>
          </p:nvPr>
        </p:nvSpPr>
        <p:spPr>
          <a:xfrm>
            <a:off x="3884612" y="8685212"/>
            <a:ext cx="2971800" cy="457200"/>
          </a:xfrm>
          <a:prstGeom prst="rect">
            <a:avLst/>
          </a:prstGeom>
          <a:noFill/>
          <a:ln>
            <a:noFill/>
          </a:ln>
        </p:spPr>
        <p:txBody>
          <a:bodyPr lIns="91440" tIns="45720" rIns="91440" bIns="45720" anchor="b"/>
          <a:lstStyle/>
          <a:p>
            <a:pPr lvl="0" algn="r" eaLnBrk="1" latinLnBrk="1" hangingPunct="1"/>
            <a:fld id="{566ABCEB-ACFC-4714-9973-3DA970169C29}" type="slidenum">
              <a:rPr lang="zh-CN" altLang="en-US" sz="1200"/>
              <a:pPr lvl="0" algn="r" eaLnBrk="1" latinLnBrk="1" hangingPunct="1"/>
              <a:t>‹#›</a:t>
            </a:fld>
            <a:endParaRPr lang="zh-CN" altLang="en-US" sz="1200"/>
          </a:p>
        </p:txBody>
      </p:sp>
    </p:spTree>
    <p:extLst>
      <p:ext uri="{BB962C8B-B14F-4D97-AF65-F5344CB8AC3E}">
        <p14:creationId xmlns:p14="http://schemas.microsoft.com/office/powerpoint/2010/main" val="263908720"/>
      </p:ext>
    </p:extLst>
  </p:cSld>
  <p:clrMap bg1="dk1" tx1="dk1" bg2="dk1" tx2="dk1" accent1="dk1" accent2="dk1" accent3="dk1" accent4="dk1" accent5="dk1" accent6="dk1" hlink="dk1" folHlink="dk1"/>
  <p:notesStyle>
    <a:lvl1pPr marL="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Narrow" pitchFamily="34" charset="0"/>
      </a:defRPr>
    </a:lvl1pPr>
    <a:lvl2pPr marL="4572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Narrow" pitchFamily="34" charset="0"/>
      </a:defRPr>
    </a:lvl2pPr>
    <a:lvl3pPr marL="9144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Narrow" pitchFamily="34" charset="0"/>
      </a:defRPr>
    </a:lvl3pPr>
    <a:lvl4pPr marL="13716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Narrow" pitchFamily="34" charset="0"/>
      </a:defRPr>
    </a:lvl4pPr>
    <a:lvl5pPr marL="18288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Narrow" pitchFamily="34" charset="0"/>
      </a:defRPr>
    </a:lvl5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3" name="Notes Placeholder 1048672"/>
          <p:cNvSpPr>
            <a:spLocks noGrp="1"/>
          </p:cNvSpPr>
          <p:nvPr>
            <p:ph type="body"/>
          </p:nvPr>
        </p:nvSpPr>
        <p:spPr/>
      </p:sp>
    </p:spTree>
    <p:extLst>
      <p:ext uri="{BB962C8B-B14F-4D97-AF65-F5344CB8AC3E}">
        <p14:creationId xmlns:p14="http://schemas.microsoft.com/office/powerpoint/2010/main" val="35476020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582" name="Freeform 1048603"/>
          <p:cNvSpPr/>
          <p:nvPr/>
        </p:nvSpPr>
        <p:spPr bwMode="hidden">
          <a:xfrm>
            <a:off x="-11112" y="1836737"/>
            <a:ext cx="2268537" cy="2709862"/>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chemeClr val="accent2">
                  <a:alpha val="100000"/>
                </a:schemeClr>
              </a:gs>
              <a:gs pos="100000">
                <a:schemeClr val="lt1">
                  <a:alpha val="100000"/>
                </a:schemeClr>
              </a:gs>
            </a:gsLst>
            <a:lin ang="0" scaled="1"/>
          </a:gradFill>
          <a:ln>
            <a:noFill/>
          </a:ln>
        </p:spPr>
      </p:sp>
      <p:sp>
        <p:nvSpPr>
          <p:cNvPr id="1048583" name="Freeform 1048604"/>
          <p:cNvSpPr/>
          <p:nvPr/>
        </p:nvSpPr>
        <p:spPr bwMode="hidden">
          <a:xfrm>
            <a:off x="107950" y="15875"/>
            <a:ext cx="838200" cy="787400"/>
          </a:xfrm>
          <a:custGeom>
            <a:avLst/>
            <a:gdLst>
              <a:gd name="l" fmla="*/ 0 w 528"/>
              <a:gd name="t" fmla="*/ 0 h 496"/>
              <a:gd name="r" fmla="*/ 528 w 528"/>
              <a:gd name="b" fmla="*/ 496 h 496"/>
            </a:gdLst>
            <a:ahLst/>
            <a:cxnLst/>
            <a:rect l="l" t="t" r="r" b="b"/>
            <a:pathLst>
              <a:path w="528" h="496">
                <a:moveTo>
                  <a:pt x="335" y="56"/>
                </a:moveTo>
                <a:lnTo>
                  <a:pt x="293" y="46"/>
                </a:lnTo>
                <a:lnTo>
                  <a:pt x="288" y="0"/>
                </a:lnTo>
                <a:lnTo>
                  <a:pt x="238" y="0"/>
                </a:lnTo>
                <a:lnTo>
                  <a:pt x="232" y="46"/>
                </a:lnTo>
                <a:lnTo>
                  <a:pt x="198" y="58"/>
                </a:lnTo>
                <a:lnTo>
                  <a:pt x="146" y="0"/>
                </a:lnTo>
                <a:lnTo>
                  <a:pt x="114" y="14"/>
                </a:lnTo>
                <a:lnTo>
                  <a:pt x="147" y="84"/>
                </a:lnTo>
                <a:lnTo>
                  <a:pt x="124" y="107"/>
                </a:lnTo>
                <a:lnTo>
                  <a:pt x="50" y="81"/>
                </a:lnTo>
                <a:lnTo>
                  <a:pt x="32" y="109"/>
                </a:lnTo>
                <a:lnTo>
                  <a:pt x="90" y="159"/>
                </a:lnTo>
                <a:lnTo>
                  <a:pt x="80" y="197"/>
                </a:lnTo>
                <a:lnTo>
                  <a:pt x="2" y="202"/>
                </a:lnTo>
                <a:lnTo>
                  <a:pt x="0" y="244"/>
                </a:lnTo>
                <a:lnTo>
                  <a:pt x="80" y="256"/>
                </a:lnTo>
                <a:lnTo>
                  <a:pt x="88" y="292"/>
                </a:lnTo>
                <a:lnTo>
                  <a:pt x="29" y="345"/>
                </a:lnTo>
                <a:lnTo>
                  <a:pt x="50" y="378"/>
                </a:lnTo>
                <a:lnTo>
                  <a:pt x="116" y="347"/>
                </a:lnTo>
                <a:lnTo>
                  <a:pt x="141" y="372"/>
                </a:lnTo>
                <a:lnTo>
                  <a:pt x="107" y="435"/>
                </a:lnTo>
                <a:lnTo>
                  <a:pt x="139" y="462"/>
                </a:lnTo>
                <a:lnTo>
                  <a:pt x="198" y="404"/>
                </a:lnTo>
                <a:lnTo>
                  <a:pt x="232" y="416"/>
                </a:lnTo>
                <a:lnTo>
                  <a:pt x="240" y="494"/>
                </a:lnTo>
                <a:lnTo>
                  <a:pt x="292" y="496"/>
                </a:lnTo>
                <a:lnTo>
                  <a:pt x="297" y="414"/>
                </a:lnTo>
                <a:lnTo>
                  <a:pt x="341" y="403"/>
                </a:lnTo>
                <a:lnTo>
                  <a:pt x="393" y="460"/>
                </a:lnTo>
                <a:lnTo>
                  <a:pt x="427" y="439"/>
                </a:lnTo>
                <a:lnTo>
                  <a:pt x="393" y="370"/>
                </a:lnTo>
                <a:lnTo>
                  <a:pt x="416" y="341"/>
                </a:lnTo>
                <a:lnTo>
                  <a:pt x="484" y="374"/>
                </a:lnTo>
                <a:lnTo>
                  <a:pt x="505" y="338"/>
                </a:lnTo>
                <a:lnTo>
                  <a:pt x="442" y="292"/>
                </a:lnTo>
                <a:lnTo>
                  <a:pt x="450" y="252"/>
                </a:lnTo>
                <a:lnTo>
                  <a:pt x="528" y="244"/>
                </a:lnTo>
                <a:lnTo>
                  <a:pt x="526" y="204"/>
                </a:lnTo>
                <a:lnTo>
                  <a:pt x="448" y="193"/>
                </a:lnTo>
                <a:lnTo>
                  <a:pt x="440" y="162"/>
                </a:lnTo>
                <a:lnTo>
                  <a:pt x="503" y="119"/>
                </a:lnTo>
                <a:lnTo>
                  <a:pt x="482" y="82"/>
                </a:lnTo>
                <a:lnTo>
                  <a:pt x="412" y="111"/>
                </a:lnTo>
                <a:lnTo>
                  <a:pt x="389" y="88"/>
                </a:lnTo>
                <a:lnTo>
                  <a:pt x="425" y="21"/>
                </a:lnTo>
                <a:lnTo>
                  <a:pt x="391" y="0"/>
                </a:lnTo>
                <a:lnTo>
                  <a:pt x="335" y="56"/>
                </a:lnTo>
              </a:path>
            </a:pathLst>
          </a:custGeom>
          <a:gradFill rotWithShape="0">
            <a:gsLst>
              <a:gs pos="0">
                <a:schemeClr val="accent1">
                  <a:alpha val="100000"/>
                </a:schemeClr>
              </a:gs>
              <a:gs pos="100000">
                <a:schemeClr val="lt1">
                  <a:alpha val="100000"/>
                </a:schemeClr>
              </a:gs>
            </a:gsLst>
            <a:lin ang="2700000" scaled="1"/>
          </a:gradFill>
          <a:ln>
            <a:noFill/>
          </a:ln>
        </p:spPr>
      </p:sp>
      <p:sp>
        <p:nvSpPr>
          <p:cNvPr id="1048584" name="Freeform 1048605"/>
          <p:cNvSpPr/>
          <p:nvPr/>
        </p:nvSpPr>
        <p:spPr bwMode="hidden">
          <a:xfrm>
            <a:off x="1192212" y="354012"/>
            <a:ext cx="2266950" cy="2270125"/>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chemeClr val="dk2">
                  <a:alpha val="100000"/>
                </a:schemeClr>
              </a:gs>
              <a:gs pos="100000">
                <a:schemeClr val="lt1">
                  <a:alpha val="100000"/>
                </a:schemeClr>
              </a:gs>
            </a:gsLst>
            <a:lin ang="18900000" scaled="1"/>
          </a:gradFill>
          <a:ln>
            <a:noFill/>
          </a:ln>
        </p:spPr>
      </p:sp>
      <p:sp>
        <p:nvSpPr>
          <p:cNvPr id="1048585" name="Freeform 1048606"/>
          <p:cNvSpPr/>
          <p:nvPr/>
        </p:nvSpPr>
        <p:spPr bwMode="hidden">
          <a:xfrm>
            <a:off x="2532062" y="1270000"/>
            <a:ext cx="3670300" cy="3671887"/>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chemeClr val="lt1">
                  <a:alpha val="100000"/>
                </a:schemeClr>
              </a:gs>
              <a:gs pos="100000">
                <a:schemeClr val="dk2">
                  <a:alpha val="100000"/>
                </a:schemeClr>
              </a:gs>
            </a:gsLst>
            <a:lin ang="2700000" scaled="1"/>
          </a:gradFill>
          <a:ln>
            <a:noFill/>
          </a:ln>
        </p:spPr>
      </p:sp>
      <p:sp>
        <p:nvSpPr>
          <p:cNvPr id="1048586" name="Freeform 1048607"/>
          <p:cNvSpPr/>
          <p:nvPr/>
        </p:nvSpPr>
        <p:spPr bwMode="hidden">
          <a:xfrm>
            <a:off x="3175" y="4797425"/>
            <a:ext cx="3417887" cy="2097087"/>
          </a:xfrm>
          <a:custGeom>
            <a:avLst/>
            <a:gdLst>
              <a:gd name="l" fmla="*/ 0 w 2153"/>
              <a:gd name="t" fmla="*/ 0 h 1321"/>
              <a:gd name="r" fmla="*/ 2153 w 2153"/>
              <a:gd name="b" fmla="*/ 1321 h 1321"/>
            </a:gdLst>
            <a:ahLst/>
            <a:cxnLst/>
            <a:rect l="l" t="t" r="r" b="b"/>
            <a:pathLst>
              <a:path w="2153" h="1321">
                <a:moveTo>
                  <a:pt x="1368" y="358"/>
                </a:moveTo>
                <a:lnTo>
                  <a:pt x="1197" y="318"/>
                </a:lnTo>
                <a:lnTo>
                  <a:pt x="1173" y="0"/>
                </a:lnTo>
                <a:lnTo>
                  <a:pt x="964" y="16"/>
                </a:lnTo>
                <a:lnTo>
                  <a:pt x="948" y="318"/>
                </a:lnTo>
                <a:lnTo>
                  <a:pt x="808" y="366"/>
                </a:lnTo>
                <a:lnTo>
                  <a:pt x="606" y="109"/>
                </a:lnTo>
                <a:lnTo>
                  <a:pt x="467" y="187"/>
                </a:lnTo>
                <a:lnTo>
                  <a:pt x="599" y="474"/>
                </a:lnTo>
                <a:lnTo>
                  <a:pt x="506" y="568"/>
                </a:lnTo>
                <a:lnTo>
                  <a:pt x="202" y="459"/>
                </a:lnTo>
                <a:lnTo>
                  <a:pt x="132" y="576"/>
                </a:lnTo>
                <a:lnTo>
                  <a:pt x="365" y="778"/>
                </a:lnTo>
                <a:lnTo>
                  <a:pt x="327" y="933"/>
                </a:lnTo>
                <a:lnTo>
                  <a:pt x="7" y="956"/>
                </a:lnTo>
                <a:lnTo>
                  <a:pt x="0" y="1128"/>
                </a:lnTo>
                <a:lnTo>
                  <a:pt x="327" y="1174"/>
                </a:lnTo>
                <a:lnTo>
                  <a:pt x="358" y="1321"/>
                </a:lnTo>
                <a:lnTo>
                  <a:pt x="1804" y="1321"/>
                </a:lnTo>
                <a:lnTo>
                  <a:pt x="1835" y="1158"/>
                </a:lnTo>
                <a:lnTo>
                  <a:pt x="2153" y="1128"/>
                </a:lnTo>
                <a:lnTo>
                  <a:pt x="2146" y="964"/>
                </a:lnTo>
                <a:lnTo>
                  <a:pt x="1827" y="917"/>
                </a:lnTo>
                <a:lnTo>
                  <a:pt x="1795" y="793"/>
                </a:lnTo>
                <a:lnTo>
                  <a:pt x="2052" y="615"/>
                </a:lnTo>
                <a:lnTo>
                  <a:pt x="1967" y="467"/>
                </a:lnTo>
                <a:lnTo>
                  <a:pt x="1679" y="583"/>
                </a:lnTo>
                <a:lnTo>
                  <a:pt x="1586" y="490"/>
                </a:lnTo>
                <a:lnTo>
                  <a:pt x="1733" y="218"/>
                </a:lnTo>
                <a:lnTo>
                  <a:pt x="1593" y="132"/>
                </a:lnTo>
                <a:lnTo>
                  <a:pt x="1368" y="358"/>
                </a:lnTo>
              </a:path>
            </a:pathLst>
          </a:custGeom>
          <a:solidFill>
            <a:schemeClr val="lt1">
              <a:alpha val="50195"/>
            </a:schemeClr>
          </a:solidFill>
          <a:ln>
            <a:noFill/>
          </a:ln>
        </p:spPr>
      </p:sp>
      <p:sp>
        <p:nvSpPr>
          <p:cNvPr id="1048587" name="Freeform 1048608"/>
          <p:cNvSpPr/>
          <p:nvPr/>
        </p:nvSpPr>
        <p:spPr bwMode="hidden">
          <a:xfrm>
            <a:off x="4494212" y="4425950"/>
            <a:ext cx="2263775" cy="2263775"/>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chemeClr val="dk2">
                  <a:alpha val="100000"/>
                </a:schemeClr>
              </a:gs>
              <a:gs pos="100000">
                <a:schemeClr val="lt1">
                  <a:alpha val="100000"/>
                </a:schemeClr>
              </a:gs>
            </a:gsLst>
            <a:lin ang="2700000" scaled="1"/>
          </a:gradFill>
          <a:ln>
            <a:noFill/>
          </a:ln>
        </p:spPr>
      </p:sp>
      <p:sp>
        <p:nvSpPr>
          <p:cNvPr id="1048588" name="Freeform 1048609"/>
          <p:cNvSpPr/>
          <p:nvPr/>
        </p:nvSpPr>
        <p:spPr bwMode="hidden">
          <a:xfrm>
            <a:off x="5646737" y="487362"/>
            <a:ext cx="2928937" cy="2930525"/>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chemeClr val="lt1">
                  <a:alpha val="100000"/>
                </a:schemeClr>
              </a:gs>
              <a:gs pos="100000">
                <a:schemeClr val="dk2">
                  <a:alpha val="100000"/>
                </a:schemeClr>
              </a:gs>
            </a:gsLst>
            <a:lin ang="2700000" scaled="1"/>
          </a:gradFill>
          <a:ln>
            <a:noFill/>
          </a:ln>
        </p:spPr>
      </p:sp>
      <p:sp>
        <p:nvSpPr>
          <p:cNvPr id="1048589" name="Freeform 1048610"/>
          <p:cNvSpPr/>
          <p:nvPr/>
        </p:nvSpPr>
        <p:spPr bwMode="hidden">
          <a:xfrm>
            <a:off x="7146925" y="2555875"/>
            <a:ext cx="2008187" cy="3997325"/>
          </a:xfrm>
          <a:custGeom>
            <a:avLst/>
            <a:gdLst>
              <a:gd name="l" fmla="*/ 0 w 1265"/>
              <a:gd name="t" fmla="*/ 0 h 2518"/>
              <a:gd name="r" fmla="*/ 1265 w 1265"/>
              <a:gd name="b" fmla="*/ 2518 h 2518"/>
            </a:gdLst>
            <a:ahLst/>
            <a:cxnLst/>
            <a:rect l="l" t="t" r="r" b="b"/>
            <a:pathLst>
              <a:path w="1265" h="2518">
                <a:moveTo>
                  <a:pt x="1265" y="0"/>
                </a:moveTo>
                <a:lnTo>
                  <a:pt x="1128" y="18"/>
                </a:lnTo>
                <a:lnTo>
                  <a:pt x="1110" y="372"/>
                </a:lnTo>
                <a:lnTo>
                  <a:pt x="946" y="428"/>
                </a:lnTo>
                <a:lnTo>
                  <a:pt x="710" y="127"/>
                </a:lnTo>
                <a:lnTo>
                  <a:pt x="546" y="219"/>
                </a:lnTo>
                <a:lnTo>
                  <a:pt x="701" y="555"/>
                </a:lnTo>
                <a:lnTo>
                  <a:pt x="592" y="665"/>
                </a:lnTo>
                <a:lnTo>
                  <a:pt x="237" y="537"/>
                </a:lnTo>
                <a:lnTo>
                  <a:pt x="155" y="674"/>
                </a:lnTo>
                <a:lnTo>
                  <a:pt x="427" y="911"/>
                </a:lnTo>
                <a:lnTo>
                  <a:pt x="383" y="1093"/>
                </a:lnTo>
                <a:lnTo>
                  <a:pt x="9" y="1121"/>
                </a:lnTo>
                <a:lnTo>
                  <a:pt x="0" y="1322"/>
                </a:lnTo>
                <a:lnTo>
                  <a:pt x="383" y="1376"/>
                </a:lnTo>
                <a:lnTo>
                  <a:pt x="419" y="1549"/>
                </a:lnTo>
                <a:lnTo>
                  <a:pt x="136" y="1804"/>
                </a:lnTo>
                <a:lnTo>
                  <a:pt x="237" y="1959"/>
                </a:lnTo>
                <a:lnTo>
                  <a:pt x="555" y="1813"/>
                </a:lnTo>
                <a:lnTo>
                  <a:pt x="674" y="1932"/>
                </a:lnTo>
                <a:lnTo>
                  <a:pt x="509" y="2232"/>
                </a:lnTo>
                <a:lnTo>
                  <a:pt x="664" y="2360"/>
                </a:lnTo>
                <a:lnTo>
                  <a:pt x="946" y="2087"/>
                </a:lnTo>
                <a:lnTo>
                  <a:pt x="1110" y="2142"/>
                </a:lnTo>
                <a:lnTo>
                  <a:pt x="1147" y="2515"/>
                </a:lnTo>
                <a:lnTo>
                  <a:pt x="1265" y="2518"/>
                </a:lnTo>
                <a:lnTo>
                  <a:pt x="1265" y="0"/>
                </a:lnTo>
              </a:path>
            </a:pathLst>
          </a:custGeom>
          <a:gradFill rotWithShape="0">
            <a:gsLst>
              <a:gs pos="0">
                <a:schemeClr val="lt1">
                  <a:alpha val="100000"/>
                </a:schemeClr>
              </a:gs>
              <a:gs pos="100000">
                <a:schemeClr val="accent2">
                  <a:alpha val="100000"/>
                </a:schemeClr>
              </a:gs>
            </a:gsLst>
            <a:lin ang="0" scaled="1"/>
          </a:gradFill>
          <a:ln>
            <a:noFill/>
          </a:ln>
        </p:spPr>
      </p:sp>
      <p:sp>
        <p:nvSpPr>
          <p:cNvPr id="1048590" name="Freeform 1048611"/>
          <p:cNvSpPr/>
          <p:nvPr/>
        </p:nvSpPr>
        <p:spPr bwMode="hidden">
          <a:xfrm rot="16200000">
            <a:off x="3977482" y="-853282"/>
            <a:ext cx="1722437" cy="3429000"/>
          </a:xfrm>
          <a:custGeom>
            <a:avLst/>
            <a:gdLst>
              <a:gd name="l" fmla="*/ 0 w 1265"/>
              <a:gd name="t" fmla="*/ 0 h 2518"/>
              <a:gd name="r" fmla="*/ 1265 w 1265"/>
              <a:gd name="b" fmla="*/ 2518 h 2518"/>
            </a:gdLst>
            <a:ahLst/>
            <a:cxnLst/>
            <a:rect l="l" t="t" r="r" b="b"/>
            <a:pathLst>
              <a:path w="1265" h="2518">
                <a:moveTo>
                  <a:pt x="1265" y="0"/>
                </a:moveTo>
                <a:lnTo>
                  <a:pt x="1128" y="18"/>
                </a:lnTo>
                <a:lnTo>
                  <a:pt x="1110" y="372"/>
                </a:lnTo>
                <a:lnTo>
                  <a:pt x="946" y="428"/>
                </a:lnTo>
                <a:lnTo>
                  <a:pt x="710" y="127"/>
                </a:lnTo>
                <a:lnTo>
                  <a:pt x="546" y="219"/>
                </a:lnTo>
                <a:lnTo>
                  <a:pt x="701" y="555"/>
                </a:lnTo>
                <a:lnTo>
                  <a:pt x="592" y="665"/>
                </a:lnTo>
                <a:lnTo>
                  <a:pt x="237" y="537"/>
                </a:lnTo>
                <a:lnTo>
                  <a:pt x="155" y="674"/>
                </a:lnTo>
                <a:lnTo>
                  <a:pt x="427" y="911"/>
                </a:lnTo>
                <a:lnTo>
                  <a:pt x="383" y="1093"/>
                </a:lnTo>
                <a:lnTo>
                  <a:pt x="9" y="1121"/>
                </a:lnTo>
                <a:lnTo>
                  <a:pt x="0" y="1322"/>
                </a:lnTo>
                <a:lnTo>
                  <a:pt x="383" y="1376"/>
                </a:lnTo>
                <a:lnTo>
                  <a:pt x="419" y="1549"/>
                </a:lnTo>
                <a:lnTo>
                  <a:pt x="136" y="1804"/>
                </a:lnTo>
                <a:lnTo>
                  <a:pt x="237" y="1959"/>
                </a:lnTo>
                <a:lnTo>
                  <a:pt x="555" y="1813"/>
                </a:lnTo>
                <a:lnTo>
                  <a:pt x="674" y="1932"/>
                </a:lnTo>
                <a:lnTo>
                  <a:pt x="509" y="2232"/>
                </a:lnTo>
                <a:lnTo>
                  <a:pt x="664" y="2360"/>
                </a:lnTo>
                <a:lnTo>
                  <a:pt x="946" y="2087"/>
                </a:lnTo>
                <a:lnTo>
                  <a:pt x="1110" y="2142"/>
                </a:lnTo>
                <a:lnTo>
                  <a:pt x="1147" y="2515"/>
                </a:lnTo>
                <a:lnTo>
                  <a:pt x="1265" y="2518"/>
                </a:lnTo>
                <a:lnTo>
                  <a:pt x="1265" y="0"/>
                </a:lnTo>
              </a:path>
            </a:pathLst>
          </a:custGeom>
          <a:gradFill rotWithShape="0">
            <a:gsLst>
              <a:gs pos="0">
                <a:schemeClr val="lt1">
                  <a:alpha val="100000"/>
                </a:schemeClr>
              </a:gs>
              <a:gs pos="100000">
                <a:schemeClr val="accent2">
                  <a:alpha val="100000"/>
                </a:schemeClr>
              </a:gs>
            </a:gsLst>
            <a:lin ang="0" scaled="1"/>
          </a:gradFill>
          <a:ln>
            <a:noFill/>
          </a:ln>
        </p:spPr>
      </p:sp>
      <p:pic>
        <p:nvPicPr>
          <p:cNvPr id="2097152" name="Picture 2097158" descr="Facbanna"/>
          <p:cNvPicPr>
            <a:picLocks/>
          </p:cNvPicPr>
          <p:nvPr/>
        </p:nvPicPr>
        <p:blipFill>
          <a:blip r:embed="rId2" cstate="print"/>
          <a:srcRect/>
          <a:stretch>
            <a:fillRect/>
          </a:stretch>
        </p:blipFill>
        <p:spPr bwMode="invGray">
          <a:xfrm>
            <a:off x="3175" y="-3175"/>
            <a:ext cx="803275" cy="6858000"/>
          </a:xfrm>
          <a:prstGeom prst="rect">
            <a:avLst/>
          </a:prstGeom>
          <a:noFill/>
          <a:ln>
            <a:noFill/>
          </a:ln>
        </p:spPr>
      </p:pic>
      <p:sp>
        <p:nvSpPr>
          <p:cNvPr id="1048591" name="Date Placeholder 1048612"/>
          <p:cNvSpPr>
            <a:spLocks noGrp="1"/>
          </p:cNvSpPr>
          <p:nvPr>
            <p:ph type="dt" sz="half" idx="2"/>
          </p:nvPr>
        </p:nvSpPr>
        <p:spPr>
          <a:xfrm>
            <a:off x="1143000" y="6248400"/>
            <a:ext cx="1905000" cy="4572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algn="l" eaLnBrk="1" latinLnBrk="1" hangingPunct="1"/>
            <a:endParaRPr lang="zh-CN" altLang="en-US" sz="1400">
              <a:solidFill>
                <a:schemeClr val="lt2"/>
              </a:solidFill>
              <a:latin typeface="Arial" charset="0"/>
            </a:endParaRPr>
          </a:p>
        </p:txBody>
      </p:sp>
      <p:sp>
        <p:nvSpPr>
          <p:cNvPr id="1048592" name="Footer Placeholder 1048613"/>
          <p:cNvSpPr>
            <a:spLocks noGrp="1"/>
          </p:cNvSpPr>
          <p:nvPr>
            <p:ph type="ftr" sz="quarter" idx="3"/>
          </p:nvPr>
        </p:nvSpPr>
        <p:spPr>
          <a:xfrm>
            <a:off x="3581400" y="6248400"/>
            <a:ext cx="2895600" cy="4572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400">
                <a:solidFill>
                  <a:schemeClr val="lt2"/>
                </a:solidFill>
                <a:latin typeface="Arial" charset="0"/>
                <a:ea typeface="Arial" charset="0"/>
              </a:rPr>
              <a:t>EMU - Manufacturing Technology</a:t>
            </a:r>
          </a:p>
        </p:txBody>
      </p:sp>
      <p:sp>
        <p:nvSpPr>
          <p:cNvPr id="1048593" name="Slide Number Placeholder 1048614"/>
          <p:cNvSpPr>
            <a:spLocks noGrp="1"/>
          </p:cNvSpPr>
          <p:nvPr>
            <p:ph type="sldNum" sz="quarter" idx="4"/>
          </p:nvPr>
        </p:nvSpPr>
        <p:spPr>
          <a:xfrm>
            <a:off x="7010400" y="6248400"/>
            <a:ext cx="1905000" cy="4572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algn="r" eaLnBrk="1" latinLnBrk="1" hangingPunct="1"/>
            <a:fld id="{566ABCEB-ACFC-4714-9973-3DA970169C29}" type="slidenum">
              <a:rPr lang="zh-CN" altLang="en-US" sz="1400">
                <a:solidFill>
                  <a:schemeClr val="lt2"/>
                </a:solidFill>
                <a:latin typeface="Arial" charset="0"/>
              </a:rPr>
              <a:pPr lvl="0" algn="r" eaLnBrk="1" latinLnBrk="1" hangingPunct="1"/>
              <a:t>‹#›</a:t>
            </a:fld>
            <a:endParaRPr lang="zh-CN" altLang="en-US" sz="1400">
              <a:solidFill>
                <a:schemeClr val="lt2"/>
              </a:solidFill>
              <a:latin typeface="Arial" charset="0"/>
            </a:endParaRPr>
          </a:p>
        </p:txBody>
      </p:sp>
      <p:sp>
        <p:nvSpPr>
          <p:cNvPr id="1048594" name="Rectangle 13"/>
          <p:cNvSpPr>
            <a:spLocks noGrp="1" noChangeArrowheads="1"/>
          </p:cNvSpPr>
          <p:nvPr>
            <p:ph type="subTitle" idx="1"/>
          </p:nvPr>
        </p:nvSpPr>
        <p:spPr>
          <a:xfrm>
            <a:off x="2133600" y="4114800"/>
            <a:ext cx="6400800" cy="1752600"/>
          </a:xfrm>
        </p:spPr>
        <p:txBody>
          <a:bodyPr/>
          <a:lstStyle>
            <a:lvl1pPr marL="0" indent="0"/>
          </a:lstStyle>
          <a:p>
            <a:pPr lvl="0"/>
            <a:r>
              <a:rPr lang="en-US" noProof="0" smtClean="0"/>
              <a:t>Click to edit Master subtitle style</a:t>
            </a:r>
          </a:p>
        </p:txBody>
      </p:sp>
      <p:sp>
        <p:nvSpPr>
          <p:cNvPr id="1048595" name="Rectangle 12"/>
          <p:cNvSpPr>
            <a:spLocks noGrp="1" noChangeArrowheads="1"/>
          </p:cNvSpPr>
          <p:nvPr>
            <p:ph type="ctrTitle"/>
          </p:nvPr>
        </p:nvSpPr>
        <p:spPr>
          <a:xfrm>
            <a:off x="1143000" y="2286000"/>
            <a:ext cx="7772400" cy="1143000"/>
          </a:xfrm>
        </p:spPr>
        <p:txBody>
          <a:bodyPr/>
          <a:lstStyle/>
          <a:p>
            <a:pPr lvl="0"/>
            <a:r>
              <a:rPr lang="en-US" noProof="0" smtClean="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597" name="Freeform 1048618"/>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598" name="Freeform 1048619"/>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599" name="Straight Connector 1048620"/>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600" name="Footer Placeholder 1048621"/>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601"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0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97" name="Freeform 1048734"/>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98" name="Freeform 1048735"/>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99" name="Straight Connector 1048736"/>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800" name="Footer Placeholder 1048737"/>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801"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104880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607" name="Freeform 1048581"/>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608" name="Freeform 1048582"/>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609" name="Straight Connector 1048583"/>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610" name="Footer Placeholder 1048584"/>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611" name="Content Placeholder 3"/>
          <p:cNvSpPr>
            <a:spLocks noGrp="1"/>
          </p:cNvSpPr>
          <p:nvPr>
            <p:ph sz="half" idx="2"/>
          </p:nvPr>
        </p:nvSpPr>
        <p:spPr>
          <a:xfrm>
            <a:off x="5448300" y="1447800"/>
            <a:ext cx="33909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12" name="Content Placeholder 2"/>
          <p:cNvSpPr>
            <a:spLocks noGrp="1"/>
          </p:cNvSpPr>
          <p:nvPr>
            <p:ph sz="half" idx="1"/>
          </p:nvPr>
        </p:nvSpPr>
        <p:spPr>
          <a:xfrm>
            <a:off x="1905000" y="1447800"/>
            <a:ext cx="33909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13"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59" name="Freeform 1048696"/>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60" name="Freeform 1048697"/>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61" name="Straight Connector 1048698"/>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62" name="Footer Placeholder 1048699"/>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763"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4876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6"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48767"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68" name="Freeform 1048705"/>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69" name="Freeform 1048706"/>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70" name="Straight Connector 1048707"/>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71" name="Footer Placeholder 1048708"/>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77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86" name="Freeform 1048723"/>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87" name="Freeform 1048724"/>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88" name="Straight Connector 1048725"/>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89" name="Footer Placeholder 1048726"/>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809" name="Freeform 1048746"/>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810" name="Freeform 1048747"/>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811" name="Straight Connector 1048748"/>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812" name="Footer Placeholder 1048749"/>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81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814"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15"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90" name="Freeform 1048727"/>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91" name="Freeform 1048728"/>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92" name="Straight Connector 1048729"/>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93" name="Footer Placeholder 1048730"/>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79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795"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FF0066"/>
              </a:buClr>
              <a:buSzTx/>
              <a:buFont typeface="Wingdings" pitchFamily="2" charset="2"/>
              <a:buNone/>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1048796"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803" name="Freeform 1048740"/>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804" name="Freeform 1048741"/>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805" name="Straight Connector 1048742"/>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806" name="Footer Placeholder 1048743"/>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807"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08"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80" name="Freeform 1048717"/>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81" name="Freeform 1048718"/>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82" name="Straight Connector 1048719"/>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83" name="Footer Placeholder 1048720"/>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784" name="Vertical Text Placeholder 2"/>
          <p:cNvSpPr>
            <a:spLocks noGrp="1"/>
          </p:cNvSpPr>
          <p:nvPr>
            <p:ph type="body" orient="vert" idx="1"/>
          </p:nvPr>
        </p:nvSpPr>
        <p:spPr>
          <a:xfrm>
            <a:off x="1143000" y="228600"/>
            <a:ext cx="561975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85" name="Vertical Title 1"/>
          <p:cNvSpPr>
            <a:spLocks noGrp="1"/>
          </p:cNvSpPr>
          <p:nvPr>
            <p:ph type="title" orient="vert"/>
          </p:nvPr>
        </p:nvSpPr>
        <p:spPr>
          <a:xfrm>
            <a:off x="6915150" y="228600"/>
            <a:ext cx="1924050" cy="5715000"/>
          </a:xfrm>
        </p:spPr>
        <p:txBody>
          <a:bodyPr vert="eaVert"/>
          <a:lstStyle/>
          <a:p>
            <a:r>
              <a:rPr lang="en-US" smtClean="0"/>
              <a:t>Click to edit Master 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73" name="Freeform 1048710"/>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74" name="Freeform 1048711"/>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75" name="Straight Connector 1048712"/>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76" name="Footer Placeholder 1048713"/>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777" name="Text Placeholder 3"/>
          <p:cNvSpPr>
            <a:spLocks noGrp="1"/>
          </p:cNvSpPr>
          <p:nvPr>
            <p:ph type="body" sz="half" idx="2"/>
          </p:nvPr>
        </p:nvSpPr>
        <p:spPr>
          <a:xfrm>
            <a:off x="5448300" y="1447800"/>
            <a:ext cx="33909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78" name="Content Placeholder 2"/>
          <p:cNvSpPr>
            <a:spLocks noGrp="1"/>
          </p:cNvSpPr>
          <p:nvPr>
            <p:ph sz="half" idx="1"/>
          </p:nvPr>
        </p:nvSpPr>
        <p:spPr>
          <a:xfrm>
            <a:off x="1905000" y="1447800"/>
            <a:ext cx="33909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79" name="Title 1"/>
          <p:cNvSpPr>
            <a:spLocks noGrp="1"/>
          </p:cNvSpPr>
          <p:nvPr>
            <p:ph type="title"/>
          </p:nvPr>
        </p:nvSpPr>
        <p:spPr>
          <a:xfrm>
            <a:off x="1143000" y="228600"/>
            <a:ext cx="7696200" cy="914400"/>
          </a:xfr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76" name="Freeform 1048575"/>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577" name="Title Placeholder 1048576"/>
          <p:cNvSpPr>
            <a:spLocks noGrp="1"/>
          </p:cNvSpPr>
          <p:nvPr>
            <p:ph type="title"/>
          </p:nvPr>
        </p:nvSpPr>
        <p:spPr>
          <a:xfrm>
            <a:off x="1143000" y="228600"/>
            <a:ext cx="7696200" cy="914400"/>
          </a:xfrm>
          <a:prstGeom prst="rect">
            <a:avLst/>
          </a:prstGeom>
          <a:noFill/>
          <a:ln>
            <a:noFill/>
          </a:ln>
        </p:spPr>
        <p:txBody>
          <a:bodyPr lIns="91440" tIns="45720" rIns="91440" bIns="45720" anchor="b"/>
          <a:lstStyle/>
          <a:p>
            <a:pPr lvl="0"/>
            <a:r>
              <a:rPr lang="zh-CN" altLang="en-US"/>
              <a:t>Click to edit Master title style</a:t>
            </a:r>
          </a:p>
        </p:txBody>
      </p:sp>
      <p:sp>
        <p:nvSpPr>
          <p:cNvPr id="1048578" name="Text Placeholder 1048577"/>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p>
            <a:pPr lvl="0"/>
            <a:r>
              <a:rPr lang="zh-CN" altLang="en-US"/>
              <a:t>Click to edit Master text styles</a:t>
            </a:r>
          </a:p>
          <a:p>
            <a:pPr lvl="1"/>
            <a:r>
              <a:rPr lang="zh-CN" altLang="en-US"/>
              <a:t>Second level</a:t>
            </a:r>
          </a:p>
          <a:p>
            <a:pPr lvl="2"/>
            <a:r>
              <a:rPr lang="zh-CN" altLang="en-US"/>
              <a:t>Third level</a:t>
            </a:r>
          </a:p>
          <a:p>
            <a:pPr lvl="3"/>
            <a:r>
              <a:rPr lang="zh-CN" altLang="en-US"/>
              <a:t>Fourth level</a:t>
            </a:r>
          </a:p>
          <a:p>
            <a:pPr lvl="4"/>
            <a:r>
              <a:rPr lang="zh-CN" altLang="en-US"/>
              <a:t>Fifth level</a:t>
            </a:r>
          </a:p>
        </p:txBody>
      </p:sp>
      <p:sp>
        <p:nvSpPr>
          <p:cNvPr id="1048579" name="Footer Placeholder 1048578"/>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580" name="Freeform 1048579"/>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581" name="Straight Connector 1048580"/>
          <p:cNvSpPr/>
          <p:nvPr/>
        </p:nvSpPr>
        <p:spPr>
          <a:xfrm>
            <a:off x="1219200" y="1219200"/>
            <a:ext cx="7620000" cy="0"/>
          </a:xfrm>
          <a:prstGeom prst="line">
            <a:avLst/>
          </a:prstGeom>
          <a:noFill/>
          <a:ln w="25400" cap="flat" cmpd="sng">
            <a:solidFill>
              <a:srgbClr val="006699">
                <a:alpha val="100000"/>
              </a:srgbClr>
            </a:solidFill>
            <a:prstDash val="solid"/>
            <a:miter/>
          </a:ln>
        </p:spPr>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3200">
          <a:solidFill>
            <a:srgbClr val="006699"/>
          </a:solidFill>
          <a:latin typeface="Calibri Light"/>
          <a:ea typeface="宋体"/>
          <a:cs typeface="+mj-cs"/>
        </a:defRPr>
      </a:lvl1pPr>
      <a:lvl2pPr algn="ctr" rtl="0" eaLnBrk="0" fontAlgn="base" hangingPunct="0">
        <a:spcBef>
          <a:spcPct val="0"/>
        </a:spcBef>
        <a:spcAft>
          <a:spcPct val="0"/>
        </a:spcAft>
        <a:defRPr sz="3200">
          <a:solidFill>
            <a:srgbClr val="006699"/>
          </a:solidFill>
          <a:latin typeface="Arial" charset="0"/>
        </a:defRPr>
      </a:lvl2pPr>
      <a:lvl3pPr algn="ctr" rtl="0" eaLnBrk="0" fontAlgn="base" hangingPunct="0">
        <a:spcBef>
          <a:spcPct val="0"/>
        </a:spcBef>
        <a:spcAft>
          <a:spcPct val="0"/>
        </a:spcAft>
        <a:defRPr sz="3200">
          <a:solidFill>
            <a:srgbClr val="006699"/>
          </a:solidFill>
          <a:latin typeface="Arial" charset="0"/>
        </a:defRPr>
      </a:lvl3pPr>
      <a:lvl4pPr algn="ctr" rtl="0" eaLnBrk="0" fontAlgn="base" hangingPunct="0">
        <a:spcBef>
          <a:spcPct val="0"/>
        </a:spcBef>
        <a:spcAft>
          <a:spcPct val="0"/>
        </a:spcAft>
        <a:defRPr sz="3200">
          <a:solidFill>
            <a:srgbClr val="006699"/>
          </a:solidFill>
          <a:latin typeface="Arial" charset="0"/>
        </a:defRPr>
      </a:lvl4pPr>
      <a:lvl5pPr algn="ctr" rtl="0" eaLnBrk="0" fontAlgn="base" hangingPunct="0">
        <a:spcBef>
          <a:spcPct val="0"/>
        </a:spcBef>
        <a:spcAft>
          <a:spcPct val="0"/>
        </a:spcAft>
        <a:defRPr sz="3200">
          <a:solidFill>
            <a:srgbClr val="006699"/>
          </a:solidFill>
          <a:latin typeface="Arial" charset="0"/>
        </a:defRPr>
      </a:lvl5pPr>
      <a:lvl6pPr marL="457200" algn="ctr" rtl="0" fontAlgn="base">
        <a:spcBef>
          <a:spcPct val="0"/>
        </a:spcBef>
        <a:spcAft>
          <a:spcPct val="0"/>
        </a:spcAft>
        <a:defRPr sz="3200">
          <a:solidFill>
            <a:srgbClr val="006699"/>
          </a:solidFill>
          <a:latin typeface="Arial" charset="0"/>
        </a:defRPr>
      </a:lvl6pPr>
      <a:lvl7pPr marL="914400" algn="ctr" rtl="0" fontAlgn="base">
        <a:spcBef>
          <a:spcPct val="0"/>
        </a:spcBef>
        <a:spcAft>
          <a:spcPct val="0"/>
        </a:spcAft>
        <a:defRPr sz="3200">
          <a:solidFill>
            <a:srgbClr val="006699"/>
          </a:solidFill>
          <a:latin typeface="Arial" charset="0"/>
        </a:defRPr>
      </a:lvl7pPr>
      <a:lvl8pPr marL="1371600" algn="ctr" rtl="0" fontAlgn="base">
        <a:spcBef>
          <a:spcPct val="0"/>
        </a:spcBef>
        <a:spcAft>
          <a:spcPct val="0"/>
        </a:spcAft>
        <a:defRPr sz="3200">
          <a:solidFill>
            <a:srgbClr val="006699"/>
          </a:solidFill>
          <a:latin typeface="Arial" charset="0"/>
        </a:defRPr>
      </a:lvl8pPr>
      <a:lvl9pPr marL="1828800" algn="ctr" rtl="0" fontAlgn="base">
        <a:spcBef>
          <a:spcPct val="0"/>
        </a:spcBef>
        <a:spcAft>
          <a:spcPct val="0"/>
        </a:spcAft>
        <a:defRPr sz="3200">
          <a:solidFill>
            <a:srgbClr val="006699"/>
          </a:solidFill>
          <a:latin typeface="Arial" charset="0"/>
        </a:defRPr>
      </a:lvl9pPr>
    </p:titleStyle>
    <p:bodyStyle>
      <a:lvl1pPr marL="342900" indent="-342900" algn="l" rtl="0" eaLnBrk="0" fontAlgn="base" hangingPunct="0">
        <a:spcBef>
          <a:spcPct val="20000"/>
        </a:spcBef>
        <a:spcAft>
          <a:spcPct val="0"/>
        </a:spcAft>
        <a:buClr>
          <a:srgbClr val="FF0066"/>
        </a:buClr>
        <a:buFont typeface="Wingdings" pitchFamily="2" charset="2"/>
        <a:buChar char="§"/>
        <a:defRPr sz="2400">
          <a:solidFill>
            <a:schemeClr val="tx1"/>
          </a:solidFill>
          <a:latin typeface="Calibri"/>
          <a:ea typeface="宋体"/>
          <a:cs typeface="+mn-cs"/>
        </a:defRPr>
      </a:lvl1pPr>
      <a:lvl2pPr marL="742950" indent="-285750" algn="l" rtl="0" eaLnBrk="0" fontAlgn="base" hangingPunct="0">
        <a:spcBef>
          <a:spcPct val="20000"/>
        </a:spcBef>
        <a:spcAft>
          <a:spcPct val="0"/>
        </a:spcAft>
        <a:buClr>
          <a:srgbClr val="006699"/>
        </a:buClr>
        <a:buFont typeface="Wingdings" pitchFamily="2" charset="2"/>
        <a:buChar char="§"/>
        <a:defRPr sz="2200">
          <a:solidFill>
            <a:schemeClr val="tx1"/>
          </a:solidFill>
          <a:latin typeface="Calibri"/>
        </a:defRPr>
      </a:lvl2pPr>
      <a:lvl3pPr marL="1143000" indent="-228600" algn="l" rtl="0" eaLnBrk="0" fontAlgn="base" hangingPunct="0">
        <a:spcBef>
          <a:spcPct val="20000"/>
        </a:spcBef>
        <a:spcAft>
          <a:spcPct val="0"/>
        </a:spcAft>
        <a:buClr>
          <a:schemeClr val="tx1"/>
        </a:buClr>
        <a:buSzPct val="60000"/>
        <a:buFont typeface="Wingdings" pitchFamily="2" charset="2"/>
        <a:buChar char="§"/>
        <a:defRPr sz="2000">
          <a:solidFill>
            <a:schemeClr val="tx1"/>
          </a:solidFill>
          <a:latin typeface="Calibri"/>
        </a:defRPr>
      </a:lvl3pPr>
      <a:lvl4pPr marL="1600200" indent="-228600" algn="l" rtl="0" eaLnBrk="0" fontAlgn="base" hangingPunct="0">
        <a:spcBef>
          <a:spcPct val="20000"/>
        </a:spcBef>
        <a:spcAft>
          <a:spcPct val="0"/>
        </a:spcAft>
        <a:buClr>
          <a:schemeClr val="hlink"/>
        </a:buClr>
        <a:buSzPct val="60000"/>
        <a:buFont typeface="Wingdings" pitchFamily="2" charset="2"/>
        <a:buChar char="–"/>
        <a:defRPr sz="2000">
          <a:solidFill>
            <a:schemeClr val="tx1"/>
          </a:solidFill>
          <a:latin typeface="Calibri"/>
        </a:defRPr>
      </a:lvl4pPr>
      <a:lvl5pPr marL="2057400" indent="-228600" algn="l" rtl="0" eaLnBrk="0" fontAlgn="base" hangingPunct="0">
        <a:spcBef>
          <a:spcPct val="20000"/>
        </a:spcBef>
        <a:spcAft>
          <a:spcPct val="0"/>
        </a:spcAft>
        <a:buClr>
          <a:schemeClr val="accent2"/>
        </a:buClr>
        <a:buSzPct val="55000"/>
        <a:buFont typeface="Wingdings" pitchFamily="2" charset="2"/>
        <a:buChar char="»"/>
        <a:defRPr sz="1600">
          <a:solidFill>
            <a:schemeClr val="tx1"/>
          </a:solidFill>
          <a:latin typeface="Calibri"/>
        </a:defRPr>
      </a:lvl5pPr>
      <a:lvl6pPr marL="2514600" indent="-228600" algn="l" rtl="0" fontAlgn="base">
        <a:spcBef>
          <a:spcPct val="20000"/>
        </a:spcBef>
        <a:spcAft>
          <a:spcPct val="0"/>
        </a:spcAft>
        <a:buClr>
          <a:schemeClr val="accent2"/>
        </a:buClr>
        <a:buSzPct val="55000"/>
        <a:buFont typeface="Wingdings" pitchFamily="2" charset="2"/>
        <a:defRPr sz="1600">
          <a:solidFill>
            <a:schemeClr val="tx1"/>
          </a:solidFill>
          <a:latin typeface="+mn-lt"/>
        </a:defRPr>
      </a:lvl6pPr>
      <a:lvl7pPr marL="2971800" indent="-228600" algn="l" rtl="0" fontAlgn="base">
        <a:spcBef>
          <a:spcPct val="20000"/>
        </a:spcBef>
        <a:spcAft>
          <a:spcPct val="0"/>
        </a:spcAft>
        <a:buClr>
          <a:schemeClr val="accent2"/>
        </a:buClr>
        <a:buSzPct val="55000"/>
        <a:buFont typeface="Wingdings" pitchFamily="2" charset="2"/>
        <a:defRPr sz="1600">
          <a:solidFill>
            <a:schemeClr val="tx1"/>
          </a:solidFill>
          <a:latin typeface="+mn-lt"/>
        </a:defRPr>
      </a:lvl7pPr>
      <a:lvl8pPr marL="3429000" indent="-228600" algn="l" rtl="0" fontAlgn="base">
        <a:spcBef>
          <a:spcPct val="20000"/>
        </a:spcBef>
        <a:spcAft>
          <a:spcPct val="0"/>
        </a:spcAft>
        <a:buClr>
          <a:schemeClr val="accent2"/>
        </a:buClr>
        <a:buSzPct val="55000"/>
        <a:buFont typeface="Wingdings" pitchFamily="2" charset="2"/>
        <a:defRPr sz="1600">
          <a:solidFill>
            <a:schemeClr val="tx1"/>
          </a:solidFill>
          <a:latin typeface="+mn-lt"/>
        </a:defRPr>
      </a:lvl8pPr>
      <a:lvl9pPr marL="3886200" indent="-228600" algn="l" rtl="0" fontAlgn="base">
        <a:spcBef>
          <a:spcPct val="20000"/>
        </a:spcBef>
        <a:spcAft>
          <a:spcPct val="0"/>
        </a:spcAft>
        <a:buClr>
          <a:schemeClr val="accent2"/>
        </a:buClr>
        <a:buSzPct val="55000"/>
        <a:buFont typeface="Wingdings" pitchFamily="2" charset="2"/>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Calibri"/>
          <a:ea typeface="宋体"/>
          <a:cs typeface="+mn-cs"/>
        </a:defRPr>
      </a:lvl1pPr>
      <a:lvl2pPr marL="457200" algn="l" defTabSz="914400" rtl="0" eaLnBrk="1" latinLnBrk="0" hangingPunct="1">
        <a:defRPr sz="1800" kern="1200">
          <a:solidFill>
            <a:schemeClr val="tx1"/>
          </a:solidFill>
          <a:latin typeface="Calibri"/>
          <a:ea typeface="宋体"/>
          <a:cs typeface="+mn-cs"/>
        </a:defRPr>
      </a:lvl2pPr>
      <a:lvl3pPr marL="914400" algn="l" defTabSz="914400" rtl="0" eaLnBrk="1" latinLnBrk="0" hangingPunct="1">
        <a:defRPr sz="1800" kern="1200">
          <a:solidFill>
            <a:schemeClr val="tx1"/>
          </a:solidFill>
          <a:latin typeface="Calibri"/>
          <a:ea typeface="宋体"/>
          <a:cs typeface="+mn-cs"/>
        </a:defRPr>
      </a:lvl3pPr>
      <a:lvl4pPr marL="1371600" algn="l" defTabSz="914400" rtl="0" eaLnBrk="1" latinLnBrk="0" hangingPunct="1">
        <a:defRPr sz="1800" kern="1200">
          <a:solidFill>
            <a:schemeClr val="tx1"/>
          </a:solidFill>
          <a:latin typeface="Calibri"/>
          <a:ea typeface="宋体"/>
          <a:cs typeface="+mn-cs"/>
        </a:defRPr>
      </a:lvl4pPr>
      <a:lvl5pPr marL="1828800" algn="l" defTabSz="914400" rtl="0" eaLnBrk="1" latinLnBrk="0" hangingPunct="1">
        <a:defRPr sz="1800" kern="1200">
          <a:solidFill>
            <a:schemeClr val="tx1"/>
          </a:solidFill>
          <a:latin typeface="Calibri"/>
          <a:ea typeface="宋体"/>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pcpolytechnic.com/mechanical/learning.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F:\MPR%20ME4G\CASTING\VIDEOS\Sand%20Casting%202.mp4" TargetMode="External"/><Relationship Id="rId1" Type="http://schemas.microsoft.com/office/2007/relationships/media" Target="file:///F:\MPR%20ME4G\CASTING\VIDEOS\Sand%20Casting%202.mp4"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gif"/><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www.pcpolytechnic.com/contact-u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itle 1048617"/>
          <p:cNvSpPr>
            <a:spLocks noGrp="1"/>
          </p:cNvSpPr>
          <p:nvPr>
            <p:ph type="ctrTitle" idx="4294967295"/>
          </p:nvPr>
        </p:nvSpPr>
        <p:spPr>
          <a:xfrm>
            <a:off x="1143000" y="2286000"/>
            <a:ext cx="7772400" cy="1143000"/>
          </a:xfrm>
          <a:prstGeom prst="rect">
            <a:avLst/>
          </a:prstGeom>
          <a:noFill/>
          <a:ln>
            <a:noFill/>
          </a:ln>
        </p:spPr>
        <p:txBody>
          <a:bodyPr lIns="91440" tIns="45720" rIns="91440" bIns="45720" anchor="b"/>
          <a:lstStyle>
            <a:lvl1pPr algn="ctr">
              <a:defRPr sz="3200"/>
            </a:lvl1pPr>
          </a:lstStyle>
          <a:p>
            <a:pPr lvl="0"/>
            <a:r>
              <a:rPr lang="zh-CN" altLang="en-US" sz="6000" b="1">
                <a:latin typeface="Algerian" pitchFamily="82" charset="0"/>
              </a:rPr>
              <a:t>Metal Casting</a:t>
            </a:r>
          </a:p>
        </p:txBody>
      </p:sp>
      <p:sp>
        <p:nvSpPr>
          <p:cNvPr id="3" name="Rectangle 2">
            <a:hlinkClick r:id="rId2"/>
          </p:cNvPr>
          <p:cNvSpPr>
            <a:spLocks noChangeArrowheads="1"/>
          </p:cNvSpPr>
          <p:nvPr/>
        </p:nvSpPr>
        <p:spPr bwMode="auto">
          <a:xfrm>
            <a:off x="2371725" y="6215063"/>
            <a:ext cx="4343400" cy="533400"/>
          </a:xfrm>
          <a:prstGeom prst="rect">
            <a:avLst/>
          </a:prstGeom>
          <a:solidFill>
            <a:schemeClr val="bg1"/>
          </a:solidFill>
          <a:ln w="9525">
            <a:solidFill>
              <a:schemeClr val="bg1"/>
            </a:solidFill>
            <a:miter lim="800000"/>
            <a:headEnd/>
            <a:tailEnd/>
          </a:ln>
        </p:spPr>
        <p:txBody>
          <a:bodyPr wrap="none" anchor="ctr"/>
          <a:lstStyle/>
          <a:p>
            <a:pPr algn="ctr">
              <a:defRPr/>
            </a:pPr>
            <a:r>
              <a:rPr lang="en-IN" sz="2000" i="1" u="sng" dirty="0">
                <a:solidFill>
                  <a:schemeClr val="accent6">
                    <a:lumMod val="50000"/>
                  </a:schemeClr>
                </a:solidFill>
                <a:latin typeface="Arial" pitchFamily="34" charset="0"/>
                <a:cs typeface="Times New Roman" pitchFamily="18" charset="0"/>
              </a:rPr>
              <a:t>Visit for more Learning Resources</a:t>
            </a:r>
            <a:endParaRPr lang="en-US" sz="2000" b="1" dirty="0">
              <a:solidFill>
                <a:schemeClr val="accent6">
                  <a:lumMod val="50000"/>
                </a:schemeClr>
              </a:solidFill>
              <a:latin typeface="Arial" pitchFamily="34" charset="0"/>
              <a:cs typeface="Arial" pitchFamily="34" charset="0"/>
            </a:endParaRPr>
          </a:p>
        </p:txBody>
      </p:sp>
    </p:spTree>
  </p:cSld>
  <p:clrMapOvr>
    <a:masterClrMapping/>
  </p:clrMapOvr>
  <p:transition advClick="0">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Identify and select proper manufacturing process for a specific component.</a:t>
            </a:r>
            <a:endParaRPr lang="en-US" dirty="0"/>
          </a:p>
        </p:txBody>
      </p:sp>
      <p:sp>
        <p:nvSpPr>
          <p:cNvPr id="3" name="Title 2"/>
          <p:cNvSpPr>
            <a:spLocks noGrp="1"/>
          </p:cNvSpPr>
          <p:nvPr>
            <p:ph type="title"/>
          </p:nvPr>
        </p:nvSpPr>
        <p:spPr/>
        <p:txBody>
          <a:bodyPr/>
          <a:lstStyle/>
          <a:p>
            <a:r>
              <a:rPr lang="en-US" dirty="0" smtClean="0"/>
              <a:t>CO</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04862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METAL CASTING</a:t>
            </a:r>
          </a:p>
        </p:txBody>
      </p:sp>
      <p:sp>
        <p:nvSpPr>
          <p:cNvPr id="1048604" name="Text Placeholder 1048625"/>
          <p:cNvSpPr>
            <a:spLocks noGrp="1"/>
          </p:cNvSpPr>
          <p:nvPr>
            <p:ph type="body" idx="1"/>
          </p:nvPr>
        </p:nvSpPr>
        <p:spPr>
          <a:xfrm>
            <a:off x="1752600" y="19812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Wingdings" pitchFamily="2" charset="2"/>
              <a:buAutoNum type="arabicPeriod"/>
            </a:pPr>
            <a:endParaRPr lang="zh-CN" altLang="en-US"/>
          </a:p>
          <a:p>
            <a:pPr marL="457200" lvl="0" indent="-457200" eaLnBrk="1" latinLnBrk="1" hangingPunct="1">
              <a:buFont typeface="Wingdings" pitchFamily="2" charset="2"/>
              <a:buAutoNum type="arabicPeriod"/>
            </a:pPr>
            <a:r>
              <a:rPr lang="zh-CN" altLang="en-US"/>
              <a:t>History of Casting </a:t>
            </a:r>
          </a:p>
          <a:p>
            <a:pPr marL="457200" lvl="0" indent="-457200" eaLnBrk="1" latinLnBrk="1" hangingPunct="1">
              <a:buFont typeface="Wingdings" pitchFamily="2" charset="2"/>
              <a:buAutoNum type="arabicPeriod"/>
            </a:pPr>
            <a:r>
              <a:rPr lang="zh-CN" altLang="en-US"/>
              <a:t>Why Casting?</a:t>
            </a:r>
          </a:p>
          <a:p>
            <a:pPr marL="457200" lvl="0" indent="-457200" eaLnBrk="1" latinLnBrk="1" hangingPunct="1">
              <a:buFont typeface="Wingdings" pitchFamily="2" charset="2"/>
              <a:buAutoNum type="arabicPeriod"/>
            </a:pPr>
            <a:r>
              <a:rPr lang="zh-CN" altLang="en-US"/>
              <a:t>Basic casting process</a:t>
            </a:r>
          </a:p>
          <a:p>
            <a:pPr marL="457200" lvl="0" indent="-457200" eaLnBrk="1" latinLnBrk="1" hangingPunct="1">
              <a:buFont typeface="Wingdings" pitchFamily="2" charset="2"/>
              <a:buAutoNum type="arabicPeriod"/>
            </a:pPr>
            <a:r>
              <a:rPr lang="zh-CN" altLang="en-US"/>
              <a:t>Basic terms used in casting</a:t>
            </a:r>
          </a:p>
          <a:p>
            <a:pPr marL="457200" lvl="0" indent="-457200" eaLnBrk="1" latinLnBrk="1" hangingPunct="1">
              <a:buFont typeface="Wingdings" pitchFamily="2" charset="2"/>
              <a:buAutoNum type="arabicPeriod"/>
            </a:pPr>
            <a:r>
              <a:rPr lang="zh-CN" altLang="en-US"/>
              <a:t>Steps in casting process</a:t>
            </a:r>
          </a:p>
          <a:p>
            <a:pPr marL="457200" lvl="0" indent="-457200" eaLnBrk="1" latinLnBrk="1" hangingPunct="1">
              <a:buNone/>
            </a:pPr>
            <a:endParaRPr lang="zh-CN" altLang="en-US"/>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48604">
                                            <p:txEl>
                                              <p:pRg st="1" end="1"/>
                                            </p:txEl>
                                          </p:spTgt>
                                        </p:tgtEl>
                                        <p:attrNameLst>
                                          <p:attrName>style.visibility</p:attrName>
                                        </p:attrNameLst>
                                      </p:cBhvr>
                                      <p:to>
                                        <p:strVal val="visible"/>
                                      </p:to>
                                    </p:set>
                                    <p:animEffect transition="in" filter="wipe(down)">
                                      <p:cBhvr>
                                        <p:cTn id="7" dur="500"/>
                                        <p:tgtEl>
                                          <p:spTgt spid="1048604">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048604">
                                            <p:txEl>
                                              <p:pRg st="2" end="2"/>
                                            </p:txEl>
                                          </p:spTgt>
                                        </p:tgtEl>
                                        <p:attrNameLst>
                                          <p:attrName>style.visibility</p:attrName>
                                        </p:attrNameLst>
                                      </p:cBhvr>
                                      <p:to>
                                        <p:strVal val="visible"/>
                                      </p:to>
                                    </p:set>
                                    <p:animEffect transition="in" filter="wipe(down)">
                                      <p:cBhvr>
                                        <p:cTn id="10" dur="500"/>
                                        <p:tgtEl>
                                          <p:spTgt spid="1048604">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048604">
                                            <p:txEl>
                                              <p:pRg st="3" end="3"/>
                                            </p:txEl>
                                          </p:spTgt>
                                        </p:tgtEl>
                                        <p:attrNameLst>
                                          <p:attrName>style.visibility</p:attrName>
                                        </p:attrNameLst>
                                      </p:cBhvr>
                                      <p:to>
                                        <p:strVal val="visible"/>
                                      </p:to>
                                    </p:set>
                                    <p:animEffect transition="in" filter="wipe(down)">
                                      <p:cBhvr>
                                        <p:cTn id="13" dur="500"/>
                                        <p:tgtEl>
                                          <p:spTgt spid="1048604">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048604">
                                            <p:txEl>
                                              <p:pRg st="4" end="4"/>
                                            </p:txEl>
                                          </p:spTgt>
                                        </p:tgtEl>
                                        <p:attrNameLst>
                                          <p:attrName>style.visibility</p:attrName>
                                        </p:attrNameLst>
                                      </p:cBhvr>
                                      <p:to>
                                        <p:strVal val="visible"/>
                                      </p:to>
                                    </p:set>
                                    <p:animEffect transition="in" filter="wipe(down)">
                                      <p:cBhvr>
                                        <p:cTn id="16" dur="500"/>
                                        <p:tgtEl>
                                          <p:spTgt spid="1048604">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048604">
                                            <p:txEl>
                                              <p:pRg st="5" end="5"/>
                                            </p:txEl>
                                          </p:spTgt>
                                        </p:tgtEl>
                                        <p:attrNameLst>
                                          <p:attrName>style.visibility</p:attrName>
                                        </p:attrNameLst>
                                      </p:cBhvr>
                                      <p:to>
                                        <p:strVal val="visible"/>
                                      </p:to>
                                    </p:set>
                                    <p:animEffect transition="in" filter="wipe(down)">
                                      <p:cBhvr>
                                        <p:cTn id="19" dur="500"/>
                                        <p:tgtEl>
                                          <p:spTgt spid="104860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itle 1048626"/>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Introduction</a:t>
            </a:r>
          </a:p>
        </p:txBody>
      </p:sp>
      <p:sp>
        <p:nvSpPr>
          <p:cNvPr id="1048606" name="Text Placeholder 1048627"/>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eaLnBrk="1" latinLnBrk="1" hangingPunct="1"/>
            <a:endParaRPr lang="zh-CN" altLang="en-US"/>
          </a:p>
          <a:p>
            <a:pPr lvl="0" eaLnBrk="1" latinLnBrk="1" hangingPunct="1"/>
            <a:r>
              <a:rPr lang="zh-CN" altLang="en-US"/>
              <a:t>A process based on the property of liquid to take up the shape of the vessel containing it.</a:t>
            </a:r>
          </a:p>
          <a:p>
            <a:pPr lvl="0" eaLnBrk="1" latinLnBrk="1" hangingPunct="1"/>
            <a:r>
              <a:rPr lang="zh-CN" altLang="en-US"/>
              <a:t>A cavity of desired shape is made, contained in a mold.</a:t>
            </a:r>
          </a:p>
          <a:p>
            <a:pPr lvl="0" eaLnBrk="1" latinLnBrk="1" hangingPunct="1"/>
            <a:r>
              <a:rPr lang="zh-CN" altLang="en-US"/>
              <a:t>Carried out in a foundry.</a:t>
            </a:r>
          </a:p>
        </p:txBody>
      </p:sp>
    </p:spTree>
  </p:cSld>
  <p:clrMapOvr>
    <a:masterClrMapping/>
  </p:clrMapOvr>
  <p:transition advClick="0">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104862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History of Casting</a:t>
            </a:r>
          </a:p>
        </p:txBody>
      </p:sp>
      <p:sp>
        <p:nvSpPr>
          <p:cNvPr id="1048615" name="Content Placeholder 1048629"/>
          <p:cNvSpPr>
            <a:spLocks noGrp="1"/>
          </p:cNvSpPr>
          <p:nvPr>
            <p:ph sz="half" idx="1"/>
          </p:nvPr>
        </p:nvSpPr>
        <p:spPr>
          <a:xfrm>
            <a:off x="1295400" y="1752600"/>
            <a:ext cx="3924300" cy="44958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r>
              <a:rPr lang="zh-CN" altLang="en-US" sz="2500"/>
              <a:t>Ancient process, started 5000 years ago.</a:t>
            </a:r>
          </a:p>
          <a:p>
            <a:pPr lvl="0"/>
            <a:endParaRPr lang="zh-CN" altLang="en-US" sz="2500"/>
          </a:p>
          <a:p>
            <a:pPr lvl="0"/>
            <a:r>
              <a:rPr lang="zh-CN" altLang="en-US" sz="2500"/>
              <a:t>Jaivana- 50 tons cannon was built in 17</a:t>
            </a:r>
            <a:r>
              <a:rPr lang="zh-CN" altLang="en-US" sz="2500" baseline="30000"/>
              <a:t>th</a:t>
            </a:r>
            <a:r>
              <a:rPr lang="zh-CN" altLang="en-US" sz="2500"/>
              <a:t> century in Jaipur.</a:t>
            </a:r>
          </a:p>
          <a:p>
            <a:pPr lvl="0"/>
            <a:endParaRPr lang="zh-CN" altLang="en-US" sz="2500"/>
          </a:p>
          <a:p>
            <a:pPr lvl="0"/>
            <a:r>
              <a:rPr lang="zh-CN" altLang="en-US" sz="2500"/>
              <a:t>Used for making arrows, coins, knives etc.</a:t>
            </a:r>
          </a:p>
          <a:p>
            <a:pPr lvl="0"/>
            <a:endParaRPr lang="zh-CN" altLang="en-US" sz="2800"/>
          </a:p>
        </p:txBody>
      </p:sp>
      <p:pic>
        <p:nvPicPr>
          <p:cNvPr id="2097153" name="Content Placeholder 2097159"/>
          <p:cNvPicPr>
            <a:picLocks noGrp="1"/>
          </p:cNvPicPr>
          <p:nvPr>
            <p:ph sz="half" idx="2"/>
          </p:nvPr>
        </p:nvPicPr>
        <p:blipFill>
          <a:blip r:embed="rId2" cstate="print"/>
          <a:srcRect/>
          <a:stretch>
            <a:fillRect/>
          </a:stretch>
        </p:blipFill>
        <p:spPr>
          <a:xfrm>
            <a:off x="5410200" y="1752600"/>
            <a:ext cx="3543300" cy="3200400"/>
          </a:xfrm>
          <a:prstGeom prst="rect">
            <a:avLst/>
          </a:prstGeom>
          <a:noFill/>
          <a:ln>
            <a:noFill/>
          </a:ln>
        </p:spPr>
      </p:pic>
      <p:sp>
        <p:nvSpPr>
          <p:cNvPr id="1048616" name="TextBox 1048630"/>
          <p:cNvSpPr txBox="1"/>
          <p:nvPr/>
        </p:nvSpPr>
        <p:spPr>
          <a:xfrm>
            <a:off x="5562600" y="5248275"/>
            <a:ext cx="3624580" cy="802640"/>
          </a:xfrm>
          <a:prstGeom prst="rect">
            <a:avLst/>
          </a:prstGeom>
          <a:noFill/>
          <a:ln>
            <a:noFill/>
          </a:ln>
        </p:spPr>
        <p:txBody>
          <a:bodyPr wrap="none" lIns="91440" tIns="45720" rIns="91440" bIns="45720" anchor="t">
            <a:spAutoFit/>
          </a:bodyPr>
          <a:lstStyle>
            <a:lvl1pPr marL="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1pPr>
            <a:lvl2pPr marL="4572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2pPr>
            <a:lvl3pPr marL="9144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3pPr>
            <a:lvl4pPr marL="13716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4pPr>
            <a:lvl5pPr marL="18288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5pPr>
          </a:lstStyle>
          <a:p>
            <a:pPr lvl="0" eaLnBrk="1" latinLnBrk="1" hangingPunct="1"/>
            <a:r>
              <a:rPr lang="zh-CN" altLang="en-US"/>
              <a:t>World’s largest Cannon in </a:t>
            </a:r>
          </a:p>
          <a:p>
            <a:pPr lvl="0" eaLnBrk="1" latinLnBrk="1" hangingPunct="1"/>
            <a:r>
              <a:rPr lang="zh-CN" altLang="en-US"/>
              <a:t>Jaipur, made by casting</a:t>
            </a:r>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86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21" fill="hold" nodeType="clickEffect">
                                  <p:stCondLst>
                                    <p:cond delay="0"/>
                                  </p:stCondLst>
                                  <p:childTnLst>
                                    <p:set>
                                      <p:cBhvr>
                                        <p:cTn id="10" dur="1" fill="hold">
                                          <p:stCondLst>
                                            <p:cond delay="0"/>
                                          </p:stCondLst>
                                        </p:cTn>
                                        <p:tgtEl>
                                          <p:spTgt spid="2097153"/>
                                        </p:tgtEl>
                                        <p:attrNameLst>
                                          <p:attrName>style.visibility</p:attrName>
                                        </p:attrNameLst>
                                      </p:cBhvr>
                                      <p:to>
                                        <p:strVal val="visible"/>
                                      </p:to>
                                    </p:set>
                                    <p:animEffect transition="in" filter="barn(inVertical)">
                                      <p:cBhvr>
                                        <p:cTn id="11" dur="500"/>
                                        <p:tgtEl>
                                          <p:spTgt spid="209715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48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5" grpId="0" build="p"/>
      <p:bldP spid="10486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048631"/>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Why Casting?</a:t>
            </a:r>
          </a:p>
        </p:txBody>
      </p:sp>
      <p:sp>
        <p:nvSpPr>
          <p:cNvPr id="1048618" name="Text Placeholder 1048632"/>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Arial" charset="0"/>
              <a:buAutoNum type="arabicPeriod"/>
            </a:pPr>
            <a:endParaRPr lang="zh-CN" altLang="en-US"/>
          </a:p>
          <a:p>
            <a:pPr marL="457200" lvl="0" indent="-457200" eaLnBrk="1" latinLnBrk="1" hangingPunct="1">
              <a:buFont typeface="Arial" charset="0"/>
              <a:buAutoNum type="arabicPeriod"/>
            </a:pPr>
            <a:r>
              <a:rPr lang="zh-CN" altLang="en-US"/>
              <a:t>A job of 5m diameter and 10m length.</a:t>
            </a:r>
          </a:p>
          <a:p>
            <a:pPr marL="457200" lvl="0" indent="-457200" eaLnBrk="1" latinLnBrk="1" hangingPunct="1">
              <a:buFont typeface="Arial" charset="0"/>
              <a:buAutoNum type="arabicPeriod"/>
            </a:pPr>
            <a:r>
              <a:rPr lang="zh-CN" altLang="en-US"/>
              <a:t>A job with a hole of 2m diameter, made of very hard material.</a:t>
            </a:r>
          </a:p>
          <a:p>
            <a:pPr marL="457200" lvl="0" indent="-457200" eaLnBrk="1" latinLnBrk="1" hangingPunct="1">
              <a:buFont typeface="Arial" charset="0"/>
              <a:buAutoNum type="arabicPeriod"/>
            </a:pPr>
            <a:r>
              <a:rPr lang="zh-CN" altLang="en-US"/>
              <a:t>Parts of very complicated shapes.</a:t>
            </a:r>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8618">
                                            <p:txEl>
                                              <p:pRg st="1" end="1"/>
                                            </p:txEl>
                                          </p:spTgt>
                                        </p:tgtEl>
                                        <p:attrNameLst>
                                          <p:attrName>style.visibility</p:attrName>
                                        </p:attrNameLst>
                                      </p:cBhvr>
                                      <p:to>
                                        <p:strVal val="visible"/>
                                      </p:to>
                                    </p:set>
                                    <p:animEffect transition="in" filter="fade">
                                      <p:cBhvr>
                                        <p:cTn id="7" dur="500"/>
                                        <p:tgtEl>
                                          <p:spTgt spid="104861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8618">
                                            <p:txEl>
                                              <p:pRg st="2" end="2"/>
                                            </p:txEl>
                                          </p:spTgt>
                                        </p:tgtEl>
                                        <p:attrNameLst>
                                          <p:attrName>style.visibility</p:attrName>
                                        </p:attrNameLst>
                                      </p:cBhvr>
                                      <p:to>
                                        <p:strVal val="visible"/>
                                      </p:to>
                                    </p:set>
                                    <p:animEffect transition="in" filter="fade">
                                      <p:cBhvr>
                                        <p:cTn id="12" dur="500"/>
                                        <p:tgtEl>
                                          <p:spTgt spid="104861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48618">
                                            <p:txEl>
                                              <p:pRg st="3" end="3"/>
                                            </p:txEl>
                                          </p:spTgt>
                                        </p:tgtEl>
                                        <p:attrNameLst>
                                          <p:attrName>style.visibility</p:attrName>
                                        </p:attrNameLst>
                                      </p:cBhvr>
                                      <p:to>
                                        <p:strVal val="visible"/>
                                      </p:to>
                                    </p:set>
                                    <p:animEffect transition="in" filter="fade">
                                      <p:cBhvr>
                                        <p:cTn id="17" dur="500"/>
                                        <p:tgtEl>
                                          <p:spTgt spid="10486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048633"/>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Have you seen any similar process before?</a:t>
            </a:r>
          </a:p>
        </p:txBody>
      </p:sp>
      <p:sp>
        <p:nvSpPr>
          <p:cNvPr id="1048620" name="Content Placeholder 1048634"/>
          <p:cNvSpPr>
            <a:spLocks noGrp="1"/>
          </p:cNvSpPr>
          <p:nvPr>
            <p:ph sz="half" idx="1"/>
          </p:nvPr>
        </p:nvSpPr>
        <p:spPr>
          <a:xfrm>
            <a:off x="1295400" y="1752600"/>
            <a:ext cx="3924300" cy="44958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endParaRPr lang="zh-CN" altLang="en-US" sz="2800"/>
          </a:p>
          <a:p>
            <a:pPr lvl="0"/>
            <a:r>
              <a:rPr lang="zh-CN" altLang="en-US" sz="2800"/>
              <a:t>What do we control?</a:t>
            </a:r>
          </a:p>
          <a:p>
            <a:pPr marL="914400" lvl="1" indent="-548640">
              <a:buFont typeface="Arial" charset="0"/>
              <a:buAutoNum type="arabicPeriod"/>
            </a:pPr>
            <a:r>
              <a:rPr lang="zh-CN" altLang="en-US" sz="2400"/>
              <a:t>Size &amp; shape of cavity and mold</a:t>
            </a:r>
          </a:p>
          <a:p>
            <a:pPr marL="914400" lvl="1" indent="-548640">
              <a:buFont typeface="Arial" charset="0"/>
              <a:buAutoNum type="arabicPeriod"/>
            </a:pPr>
            <a:r>
              <a:rPr lang="zh-CN" altLang="en-US" sz="2400"/>
              <a:t>Mixture composition</a:t>
            </a:r>
          </a:p>
          <a:p>
            <a:pPr marL="914400" lvl="1" indent="-548640">
              <a:buFont typeface="Arial" charset="0"/>
              <a:buAutoNum type="arabicPeriod"/>
            </a:pPr>
            <a:r>
              <a:rPr lang="zh-CN" altLang="en-US" sz="2400"/>
              <a:t>Temperature</a:t>
            </a:r>
          </a:p>
          <a:p>
            <a:pPr marL="914400" lvl="1" indent="-548640">
              <a:buFont typeface="Arial" charset="0"/>
              <a:buAutoNum type="arabicPeriod"/>
            </a:pPr>
            <a:r>
              <a:rPr lang="zh-CN" altLang="en-US" sz="2400"/>
              <a:t>Cooling time</a:t>
            </a:r>
          </a:p>
          <a:p>
            <a:pPr marL="914400" lvl="1" indent="-548640">
              <a:buFont typeface="Arial" charset="0"/>
              <a:buAutoNum type="arabicPeriod"/>
            </a:pPr>
            <a:r>
              <a:rPr lang="zh-CN" altLang="en-US" sz="2400"/>
              <a:t>Carefully remove it</a:t>
            </a:r>
          </a:p>
        </p:txBody>
      </p:sp>
      <p:pic>
        <p:nvPicPr>
          <p:cNvPr id="2097154" name="Content Placeholder 2097160"/>
          <p:cNvPicPr>
            <a:picLocks noGrp="1"/>
          </p:cNvPicPr>
          <p:nvPr>
            <p:ph sz="half" idx="2"/>
          </p:nvPr>
        </p:nvPicPr>
        <p:blipFill>
          <a:blip r:embed="rId2" cstate="print"/>
          <a:srcRect/>
          <a:stretch>
            <a:fillRect/>
          </a:stretch>
        </p:blipFill>
        <p:spPr>
          <a:xfrm>
            <a:off x="5410200" y="1752600"/>
            <a:ext cx="3390900" cy="3276600"/>
          </a:xfrm>
          <a:prstGeom prst="rect">
            <a:avLst/>
          </a:prstGeom>
          <a:noFill/>
          <a:ln>
            <a:noFill/>
          </a:ln>
        </p:spPr>
      </p:pic>
    </p:spTree>
  </p:cSld>
  <p:clrMapOvr>
    <a:masterClrMapping/>
  </p:clrMapOvr>
  <p:transition advClick="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971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9"/>
                                          </p:stCondLst>
                                        </p:cTn>
                                        <p:tgtEl>
                                          <p:spTgt spid="1048620">
                                            <p:txEl>
                                              <p:pRg st="1" end="1"/>
                                            </p:txEl>
                                          </p:spTgt>
                                        </p:tgtEl>
                                        <p:attrNameLst>
                                          <p:attrName>style.visibility</p:attrName>
                                        </p:attrNameLst>
                                      </p:cBhvr>
                                      <p:to>
                                        <p:strVal val="visible"/>
                                      </p:to>
                                    </p:set>
                                  </p:childTnLst>
                                </p:cTn>
                              </p:par>
                            </p:childTnLst>
                          </p:cTn>
                        </p:par>
                        <p:par>
                          <p:cTn id="11" fill="hold" nodeType="afterGroup">
                            <p:stCondLst>
                              <p:cond delay="10"/>
                            </p:stCondLst>
                            <p:childTnLst>
                              <p:par>
                                <p:cTn id="12" presetID="1" presetClass="entr" presetSubtype="0" fill="hold" nodeType="afterEffect">
                                  <p:stCondLst>
                                    <p:cond delay="0"/>
                                  </p:stCondLst>
                                  <p:childTnLst>
                                    <p:set>
                                      <p:cBhvr>
                                        <p:cTn id="13" dur="1" fill="hold">
                                          <p:stCondLst>
                                            <p:cond delay="0"/>
                                          </p:stCondLst>
                                        </p:cTn>
                                        <p:tgtEl>
                                          <p:spTgt spid="1048620">
                                            <p:txEl>
                                              <p:pRg st="2" end="2"/>
                                            </p:txEl>
                                          </p:spTgt>
                                        </p:tgtEl>
                                        <p:attrNameLst>
                                          <p:attrName>style.visibility</p:attrName>
                                        </p:attrNameLst>
                                      </p:cBhvr>
                                      <p:to>
                                        <p:strVal val="visible"/>
                                      </p:to>
                                    </p:set>
                                  </p:childTnLst>
                                </p:cTn>
                              </p:par>
                            </p:childTnLst>
                          </p:cTn>
                        </p:par>
                        <p:par>
                          <p:cTn id="14" fill="hold" nodeType="afterGroup">
                            <p:stCondLst>
                              <p:cond delay="10"/>
                            </p:stCondLst>
                            <p:childTnLst>
                              <p:par>
                                <p:cTn id="15" presetID="1" presetClass="entr" presetSubtype="0" fill="hold" nodeType="afterEffect">
                                  <p:stCondLst>
                                    <p:cond delay="0"/>
                                  </p:stCondLst>
                                  <p:childTnLst>
                                    <p:set>
                                      <p:cBhvr>
                                        <p:cTn id="16" dur="1" fill="hold">
                                          <p:stCondLst>
                                            <p:cond delay="0"/>
                                          </p:stCondLst>
                                        </p:cTn>
                                        <p:tgtEl>
                                          <p:spTgt spid="1048620">
                                            <p:txEl>
                                              <p:pRg st="3" end="3"/>
                                            </p:txEl>
                                          </p:spTgt>
                                        </p:tgtEl>
                                        <p:attrNameLst>
                                          <p:attrName>style.visibility</p:attrName>
                                        </p:attrNameLst>
                                      </p:cBhvr>
                                      <p:to>
                                        <p:strVal val="visible"/>
                                      </p:to>
                                    </p:set>
                                  </p:childTnLst>
                                </p:cTn>
                              </p:par>
                            </p:childTnLst>
                          </p:cTn>
                        </p:par>
                        <p:par>
                          <p:cTn id="17" fill="hold" nodeType="afterGroup">
                            <p:stCondLst>
                              <p:cond delay="10"/>
                            </p:stCondLst>
                            <p:childTnLst>
                              <p:par>
                                <p:cTn id="18" presetID="1" presetClass="entr" presetSubtype="0" fill="hold" nodeType="afterEffect">
                                  <p:stCondLst>
                                    <p:cond delay="0"/>
                                  </p:stCondLst>
                                  <p:childTnLst>
                                    <p:set>
                                      <p:cBhvr>
                                        <p:cTn id="19" dur="1" fill="hold">
                                          <p:stCondLst>
                                            <p:cond delay="0"/>
                                          </p:stCondLst>
                                        </p:cTn>
                                        <p:tgtEl>
                                          <p:spTgt spid="1048620">
                                            <p:txEl>
                                              <p:pRg st="4" end="4"/>
                                            </p:txEl>
                                          </p:spTgt>
                                        </p:tgtEl>
                                        <p:attrNameLst>
                                          <p:attrName>style.visibility</p:attrName>
                                        </p:attrNameLst>
                                      </p:cBhvr>
                                      <p:to>
                                        <p:strVal val="visible"/>
                                      </p:to>
                                    </p:set>
                                  </p:childTnLst>
                                </p:cTn>
                              </p:par>
                            </p:childTnLst>
                          </p:cTn>
                        </p:par>
                        <p:par>
                          <p:cTn id="20" fill="hold" nodeType="afterGroup">
                            <p:stCondLst>
                              <p:cond delay="10"/>
                            </p:stCondLst>
                            <p:childTnLst>
                              <p:par>
                                <p:cTn id="21" presetID="1" presetClass="entr" presetSubtype="0" fill="hold" nodeType="afterEffect">
                                  <p:stCondLst>
                                    <p:cond delay="0"/>
                                  </p:stCondLst>
                                  <p:childTnLst>
                                    <p:set>
                                      <p:cBhvr>
                                        <p:cTn id="22" dur="1" fill="hold">
                                          <p:stCondLst>
                                            <p:cond delay="0"/>
                                          </p:stCondLst>
                                        </p:cTn>
                                        <p:tgtEl>
                                          <p:spTgt spid="1048620">
                                            <p:txEl>
                                              <p:pRg st="5" end="5"/>
                                            </p:txEl>
                                          </p:spTgt>
                                        </p:tgtEl>
                                        <p:attrNameLst>
                                          <p:attrName>style.visibility</p:attrName>
                                        </p:attrNameLst>
                                      </p:cBhvr>
                                      <p:to>
                                        <p:strVal val="visible"/>
                                      </p:to>
                                    </p:set>
                                  </p:childTnLst>
                                </p:cTn>
                              </p:par>
                            </p:childTnLst>
                          </p:cTn>
                        </p:par>
                        <p:par>
                          <p:cTn id="23" fill="hold" nodeType="afterGroup">
                            <p:stCondLst>
                              <p:cond delay="10"/>
                            </p:stCondLst>
                            <p:childTnLst>
                              <p:par>
                                <p:cTn id="24" presetID="1" presetClass="entr" presetSubtype="0" fill="hold" nodeType="afterEffect">
                                  <p:stCondLst>
                                    <p:cond delay="0"/>
                                  </p:stCondLst>
                                  <p:childTnLst>
                                    <p:set>
                                      <p:cBhvr>
                                        <p:cTn id="25" dur="1" fill="hold">
                                          <p:stCondLst>
                                            <p:cond delay="0"/>
                                          </p:stCondLst>
                                        </p:cTn>
                                        <p:tgtEl>
                                          <p:spTgt spid="10486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048635"/>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Requirement for Casting?</a:t>
            </a:r>
          </a:p>
        </p:txBody>
      </p:sp>
      <p:sp>
        <p:nvSpPr>
          <p:cNvPr id="1048622" name="Text Placeholder 1048636"/>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Arial" charset="0"/>
              <a:buAutoNum type="arabicPeriod"/>
            </a:pPr>
            <a:endParaRPr lang="zh-CN" altLang="en-US"/>
          </a:p>
          <a:p>
            <a:pPr marL="457200" lvl="0" indent="-457200" eaLnBrk="1" latinLnBrk="1" hangingPunct="1">
              <a:buFont typeface="Arial" charset="0"/>
              <a:buAutoNum type="arabicPeriod"/>
            </a:pPr>
            <a:r>
              <a:rPr lang="zh-CN" altLang="en-US"/>
              <a:t>Cavity of desired shape- Mold</a:t>
            </a:r>
          </a:p>
          <a:p>
            <a:pPr marL="457200" lvl="0" indent="-457200" eaLnBrk="1" latinLnBrk="1" hangingPunct="1">
              <a:buFont typeface="Arial" charset="0"/>
              <a:buAutoNum type="arabicPeriod"/>
            </a:pPr>
            <a:r>
              <a:rPr lang="zh-CN" altLang="en-US"/>
              <a:t>Molten metal</a:t>
            </a:r>
          </a:p>
          <a:p>
            <a:pPr marL="457200" lvl="0" indent="-457200" eaLnBrk="1" latinLnBrk="1" hangingPunct="1">
              <a:buFont typeface="Arial" charset="0"/>
              <a:buAutoNum type="arabicPeriod"/>
            </a:pPr>
            <a:r>
              <a:rPr lang="zh-CN" altLang="en-US"/>
              <a:t>Proper channel to fill the molten metal</a:t>
            </a:r>
          </a:p>
          <a:p>
            <a:pPr marL="457200" lvl="0" indent="-457200" eaLnBrk="1" latinLnBrk="1" hangingPunct="1">
              <a:buFont typeface="Arial" charset="0"/>
              <a:buAutoNum type="arabicPeriod"/>
            </a:pPr>
            <a:endParaRPr lang="zh-CN" altLang="en-US"/>
          </a:p>
        </p:txBody>
      </p:sp>
    </p:spTree>
  </p:cSld>
  <p:clrMapOvr>
    <a:masterClrMapping/>
  </p:clrMapOvr>
  <p:transition advClick="0">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048637"/>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Basic Casting Process</a:t>
            </a:r>
          </a:p>
        </p:txBody>
      </p:sp>
      <p:pic>
        <p:nvPicPr>
          <p:cNvPr id="2097155" name="Content Placeholder 2097161">
            <a:hlinkClick r:id="" action="ppaction://media"/>
          </p:cNvPr>
          <p:cNvPicPr>
            <a:picLocks noGrp="1"/>
          </p:cNvPicPr>
          <p:nvPr>
            <p:ph idx="1"/>
            <a:videoFile r:link="rId2"/>
            <p:extLst>
              <p:ext uri="{DAA4B4D4-6D71-4841-9C94-3DE7FCFB9230}">
                <p14:media xmlns:p14="http://schemas.microsoft.com/office/powerpoint/2010/main" r:link="rId1"/>
              </p:ext>
            </p:extLst>
          </p:nvPr>
        </p:nvPicPr>
        <p:blipFill>
          <a:blip r:embed="rId4" cstate="print"/>
          <a:srcRect/>
          <a:stretch>
            <a:fillRect/>
          </a:stretch>
        </p:blipFill>
        <p:spPr>
          <a:xfrm>
            <a:off x="1905000" y="2209800"/>
            <a:ext cx="5722937" cy="3219450"/>
          </a:xfrm>
          <a:prstGeom prst="rect">
            <a:avLst/>
          </a:prstGeom>
          <a:noFill/>
          <a:ln>
            <a:noFill/>
          </a:ln>
        </p:spPr>
      </p:pic>
    </p:spTree>
  </p:cSld>
  <p:clrMapOvr>
    <a:masterClrMapping/>
  </p:clrMapOvr>
  <p:transition advClick="0">
    <p:cut/>
  </p:transition>
  <p:timing>
    <p:tnLst>
      <p:par>
        <p:cTn id="1" dur="indefinite" restart="never" nodeType="tmRoot">
          <p:childTnLst>
            <p:seq concurrent="1" nextAc="seek">
              <p:cTn id="2" restart="whenNotActive" fill="hold" evtFilter="cancelBubble" nodeType="interactiveSeq">
                <p:stCondLst>
                  <p:cond evt="onClick" delay="0">
                    <p:tgtEl>
                      <p:spTgt spid="2097155"/>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097155"/>
                                        </p:tgtEl>
                                      </p:cBhvr>
                                    </p:cmd>
                                  </p:childTnLst>
                                </p:cTn>
                              </p:par>
                            </p:childTnLst>
                          </p:cTn>
                        </p:par>
                      </p:childTnLst>
                    </p:cTn>
                  </p:par>
                </p:childTnLst>
              </p:cTn>
              <p:nextCondLst>
                <p:cond evt="onClick" delay="0">
                  <p:tgtEl>
                    <p:spTgt spid="2097155"/>
                  </p:tgtEl>
                </p:cond>
              </p:nextCondLst>
            </p:seq>
            <p:video>
              <p:cMediaNode vol="80000">
                <p:cTn id="7" fill="hold" display="0">
                  <p:stCondLst>
                    <p:cond delay="indefinite"/>
                  </p:stCondLst>
                </p:cTn>
                <p:tgtEl>
                  <p:spTgt spid="2097155"/>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Title 104863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Basic Casting Process</a:t>
            </a:r>
          </a:p>
        </p:txBody>
      </p:sp>
      <p:pic>
        <p:nvPicPr>
          <p:cNvPr id="2097156" name="Picture 2097162" descr="F:\MPR ME4G\CASTING\IMAGES\500px-Haandform-e.png"/>
          <p:cNvPicPr>
            <a:picLocks/>
          </p:cNvPicPr>
          <p:nvPr/>
        </p:nvPicPr>
        <p:blipFill>
          <a:blip r:embed="rId2" cstate="print"/>
          <a:srcRect/>
          <a:stretch>
            <a:fillRect/>
          </a:stretch>
        </p:blipFill>
        <p:spPr>
          <a:xfrm>
            <a:off x="1524000" y="1600200"/>
            <a:ext cx="7342187" cy="4567237"/>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Title 1048639"/>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Basic terms used in Casting</a:t>
            </a:r>
          </a:p>
        </p:txBody>
      </p:sp>
      <p:sp>
        <p:nvSpPr>
          <p:cNvPr id="1048626" name="Text Placeholder 1048640"/>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Arial" charset="0"/>
              <a:buAutoNum type="arabicPeriod"/>
            </a:pPr>
            <a:r>
              <a:rPr lang="zh-CN" altLang="en-US"/>
              <a:t>Pattern: Replica of the desired part</a:t>
            </a:r>
          </a:p>
          <a:p>
            <a:pPr marL="457200" lvl="0" indent="-457200" eaLnBrk="1" latinLnBrk="1" hangingPunct="1">
              <a:buFont typeface="Arial" charset="0"/>
              <a:buAutoNum type="arabicPeriod"/>
            </a:pPr>
            <a:r>
              <a:rPr lang="zh-CN" altLang="en-US"/>
              <a:t>Mold- Container with a cavity within. Divided in two halves: Cope and Drag.</a:t>
            </a:r>
          </a:p>
          <a:p>
            <a:pPr marL="457200" lvl="0" indent="-457200" eaLnBrk="1" latinLnBrk="1" hangingPunct="1">
              <a:buFont typeface="Arial" charset="0"/>
              <a:buAutoNum type="arabicPeriod"/>
            </a:pPr>
            <a:r>
              <a:rPr lang="zh-CN" altLang="en-US"/>
              <a:t>Gating system- Network of  channels that deliver molten  metal to the cavity.</a:t>
            </a:r>
          </a:p>
          <a:p>
            <a:pPr marL="457200" lvl="0" indent="-457200" eaLnBrk="1" latinLnBrk="1" hangingPunct="1">
              <a:buNone/>
            </a:pPr>
            <a:endParaRPr lang="zh-CN" altLang="en-US"/>
          </a:p>
        </p:txBody>
      </p:sp>
      <p:pic>
        <p:nvPicPr>
          <p:cNvPr id="2097157" name="Picture 2097163"/>
          <p:cNvPicPr>
            <a:picLocks/>
          </p:cNvPicPr>
          <p:nvPr/>
        </p:nvPicPr>
        <p:blipFill>
          <a:blip r:embed="rId2" cstate="print"/>
          <a:srcRect/>
          <a:stretch>
            <a:fillRect/>
          </a:stretch>
        </p:blipFill>
        <p:spPr>
          <a:xfrm>
            <a:off x="2814637" y="3733800"/>
            <a:ext cx="2976562" cy="2384425"/>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048641"/>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Basic steps in Casting</a:t>
            </a:r>
          </a:p>
        </p:txBody>
      </p:sp>
      <p:sp>
        <p:nvSpPr>
          <p:cNvPr id="1048628" name="Text Placeholder 1048642"/>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Arial" charset="0"/>
              <a:buAutoNum type="arabicPeriod"/>
            </a:pPr>
            <a:endParaRPr lang="zh-CN" altLang="en-US"/>
          </a:p>
          <a:p>
            <a:pPr marL="457200" lvl="0" indent="-457200" eaLnBrk="1" latinLnBrk="1" hangingPunct="1">
              <a:buFont typeface="Arial" charset="0"/>
              <a:buAutoNum type="arabicPeriod"/>
            </a:pPr>
            <a:r>
              <a:rPr lang="zh-CN" altLang="en-US"/>
              <a:t>Pattern making</a:t>
            </a:r>
          </a:p>
          <a:p>
            <a:pPr marL="457200" lvl="0" indent="-457200" eaLnBrk="1" latinLnBrk="1" hangingPunct="1">
              <a:buFont typeface="Arial" charset="0"/>
              <a:buAutoNum type="arabicPeriod"/>
            </a:pPr>
            <a:r>
              <a:rPr lang="zh-CN" altLang="en-US"/>
              <a:t>Mold making</a:t>
            </a:r>
          </a:p>
          <a:p>
            <a:pPr marL="457200" lvl="0" indent="-457200" eaLnBrk="1" latinLnBrk="1" hangingPunct="1">
              <a:buFont typeface="Arial" charset="0"/>
              <a:buAutoNum type="arabicPeriod"/>
            </a:pPr>
            <a:r>
              <a:rPr lang="zh-CN" altLang="en-US"/>
              <a:t>Melting of metal and pouring</a:t>
            </a:r>
          </a:p>
          <a:p>
            <a:pPr marL="457200" lvl="0" indent="-457200" eaLnBrk="1" latinLnBrk="1" hangingPunct="1">
              <a:buFont typeface="Arial" charset="0"/>
              <a:buAutoNum type="arabicPeriod"/>
            </a:pPr>
            <a:r>
              <a:rPr lang="zh-CN" altLang="en-US"/>
              <a:t>Cooling and solidification of metal</a:t>
            </a:r>
          </a:p>
          <a:p>
            <a:pPr marL="457200" lvl="0" indent="-457200" eaLnBrk="1" latinLnBrk="1" hangingPunct="1">
              <a:buFont typeface="Arial" charset="0"/>
              <a:buAutoNum type="arabicPeriod"/>
            </a:pPr>
            <a:r>
              <a:rPr lang="zh-CN" altLang="en-US"/>
              <a:t>Cleaning of casting and inspection</a:t>
            </a:r>
          </a:p>
          <a:p>
            <a:pPr marL="457200" lvl="0" indent="-457200" eaLnBrk="1" latinLnBrk="1" hangingPunct="1">
              <a:buNone/>
            </a:pPr>
            <a:endParaRPr lang="zh-CN" altLang="en-US"/>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8628">
                                            <p:txEl>
                                              <p:pRg st="1" end="1"/>
                                            </p:txEl>
                                          </p:spTgt>
                                        </p:tgtEl>
                                        <p:attrNameLst>
                                          <p:attrName>style.visibility</p:attrName>
                                        </p:attrNameLst>
                                      </p:cBhvr>
                                      <p:to>
                                        <p:strVal val="visible"/>
                                      </p:to>
                                    </p:set>
                                    <p:animEffect transition="in" filter="fade">
                                      <p:cBhvr>
                                        <p:cTn id="7" dur="500"/>
                                        <p:tgtEl>
                                          <p:spTgt spid="104862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8628">
                                            <p:txEl>
                                              <p:pRg st="2" end="2"/>
                                            </p:txEl>
                                          </p:spTgt>
                                        </p:tgtEl>
                                        <p:attrNameLst>
                                          <p:attrName>style.visibility</p:attrName>
                                        </p:attrNameLst>
                                      </p:cBhvr>
                                      <p:to>
                                        <p:strVal val="visible"/>
                                      </p:to>
                                    </p:set>
                                    <p:animEffect transition="in" filter="fade">
                                      <p:cBhvr>
                                        <p:cTn id="12" dur="500"/>
                                        <p:tgtEl>
                                          <p:spTgt spid="104862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48628">
                                            <p:txEl>
                                              <p:pRg st="3" end="3"/>
                                            </p:txEl>
                                          </p:spTgt>
                                        </p:tgtEl>
                                        <p:attrNameLst>
                                          <p:attrName>style.visibility</p:attrName>
                                        </p:attrNameLst>
                                      </p:cBhvr>
                                      <p:to>
                                        <p:strVal val="visible"/>
                                      </p:to>
                                    </p:set>
                                    <p:animEffect transition="in" filter="fade">
                                      <p:cBhvr>
                                        <p:cTn id="17" dur="500"/>
                                        <p:tgtEl>
                                          <p:spTgt spid="1048628">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8628">
                                            <p:txEl>
                                              <p:pRg st="4" end="4"/>
                                            </p:txEl>
                                          </p:spTgt>
                                        </p:tgtEl>
                                        <p:attrNameLst>
                                          <p:attrName>style.visibility</p:attrName>
                                        </p:attrNameLst>
                                      </p:cBhvr>
                                      <p:to>
                                        <p:strVal val="visible"/>
                                      </p:to>
                                    </p:set>
                                    <p:animEffect transition="in" filter="fade">
                                      <p:cBhvr>
                                        <p:cTn id="22" dur="500"/>
                                        <p:tgtEl>
                                          <p:spTgt spid="1048628">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48628">
                                            <p:txEl>
                                              <p:pRg st="5" end="5"/>
                                            </p:txEl>
                                          </p:spTgt>
                                        </p:tgtEl>
                                        <p:attrNameLst>
                                          <p:attrName>style.visibility</p:attrName>
                                        </p:attrNameLst>
                                      </p:cBhvr>
                                      <p:to>
                                        <p:strVal val="visible"/>
                                      </p:to>
                                    </p:set>
                                    <p:animEffect transition="in" filter="fade">
                                      <p:cBhvr>
                                        <p:cTn id="27" dur="500"/>
                                        <p:tgtEl>
                                          <p:spTgt spid="104862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itle 1048643"/>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a:t>
            </a:r>
          </a:p>
        </p:txBody>
      </p:sp>
      <p:sp>
        <p:nvSpPr>
          <p:cNvPr id="1048630" name="Text Placeholder 1048644"/>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eaLnBrk="1" latinLnBrk="1" hangingPunct="1"/>
            <a:r>
              <a:rPr lang="zh-CN" altLang="en-US"/>
              <a:t>Replica of the desired product </a:t>
            </a:r>
          </a:p>
          <a:p>
            <a:pPr lvl="0" eaLnBrk="1" latinLnBrk="1" hangingPunct="1"/>
            <a:r>
              <a:rPr lang="zh-CN" altLang="en-US"/>
              <a:t>Has somehow different dimensions than the actual part to be manufactured</a:t>
            </a:r>
          </a:p>
          <a:p>
            <a:pPr lvl="0" eaLnBrk="1" latinLnBrk="1" hangingPunct="1"/>
            <a:r>
              <a:rPr lang="zh-CN" altLang="en-US"/>
              <a:t>Used to form the mold cavity </a:t>
            </a:r>
          </a:p>
          <a:p>
            <a:pPr lvl="0" eaLnBrk="1" latinLnBrk="1" hangingPunct="1">
              <a:buNone/>
            </a:pPr>
            <a:endParaRPr lang="zh-CN" altLang="en-US"/>
          </a:p>
          <a:p>
            <a:pPr lvl="0" eaLnBrk="1" latinLnBrk="1" hangingPunct="1">
              <a:buFont typeface="Arial" charset="0"/>
              <a:buAutoNum type="arabicPeriod"/>
            </a:pPr>
            <a:r>
              <a:rPr lang="zh-CN" altLang="en-US"/>
              <a:t>Materials used</a:t>
            </a:r>
          </a:p>
          <a:p>
            <a:pPr lvl="0" eaLnBrk="1" latinLnBrk="1" hangingPunct="1">
              <a:buFont typeface="Arial" charset="0"/>
              <a:buAutoNum type="arabicPeriod"/>
            </a:pPr>
            <a:r>
              <a:rPr lang="zh-CN" altLang="en-US"/>
              <a:t>Types of patterns</a:t>
            </a:r>
          </a:p>
          <a:p>
            <a:pPr lvl="0" eaLnBrk="1" latinLnBrk="1" hangingPunct="1">
              <a:buFont typeface="Arial" charset="0"/>
              <a:buAutoNum type="arabicPeriod"/>
            </a:pPr>
            <a:r>
              <a:rPr lang="zh-CN" altLang="en-US"/>
              <a:t>Pattern Allowances</a:t>
            </a:r>
          </a:p>
          <a:p>
            <a:pPr lvl="0" eaLnBrk="1" latinLnBrk="1" hangingPunct="1"/>
            <a:endParaRPr lang="zh-CN" altLang="en-US"/>
          </a:p>
        </p:txBody>
      </p:sp>
    </p:spTree>
  </p:cSld>
  <p:clrMapOvr>
    <a:masterClrMapping/>
  </p:clrMapOvr>
  <p:transition advClick="0">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Title 1048645"/>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Materials</a:t>
            </a:r>
          </a:p>
        </p:txBody>
      </p:sp>
      <p:sp>
        <p:nvSpPr>
          <p:cNvPr id="1048632" name="Text Placeholder 1048646"/>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eaLnBrk="1" latinLnBrk="1" hangingPunct="1"/>
            <a:endParaRPr lang="zh-CN" altLang="en-US"/>
          </a:p>
          <a:p>
            <a:pPr lvl="0" eaLnBrk="1" latinLnBrk="1" hangingPunct="1"/>
            <a:r>
              <a:rPr lang="zh-CN" altLang="en-US"/>
              <a:t>Requirements:</a:t>
            </a:r>
          </a:p>
          <a:p>
            <a:pPr marL="914400" lvl="1" indent="-548640" eaLnBrk="1" latinLnBrk="1" hangingPunct="1">
              <a:buFont typeface="Arial" charset="0"/>
              <a:buAutoNum type="arabicPeriod"/>
            </a:pPr>
            <a:r>
              <a:rPr lang="zh-CN" altLang="en-US"/>
              <a:t>Easily shaped, worked, machined and joined</a:t>
            </a:r>
          </a:p>
          <a:p>
            <a:pPr marL="914400" lvl="1" indent="-548640" eaLnBrk="1" latinLnBrk="1" hangingPunct="1">
              <a:buFont typeface="Arial" charset="0"/>
              <a:buAutoNum type="arabicPeriod"/>
            </a:pPr>
            <a:r>
              <a:rPr lang="zh-CN" altLang="en-US"/>
              <a:t>Resistant to wear and corrosion</a:t>
            </a:r>
          </a:p>
          <a:p>
            <a:pPr marL="914400" lvl="1" indent="-548640" eaLnBrk="1" latinLnBrk="1" hangingPunct="1">
              <a:buFont typeface="Arial" charset="0"/>
              <a:buAutoNum type="arabicPeriod"/>
            </a:pPr>
            <a:r>
              <a:rPr lang="zh-CN" altLang="en-US"/>
              <a:t>Resistant to chemical action</a:t>
            </a:r>
          </a:p>
          <a:p>
            <a:pPr marL="914400" lvl="1" indent="-548640" eaLnBrk="1" latinLnBrk="1" hangingPunct="1">
              <a:buFont typeface="Arial" charset="0"/>
              <a:buAutoNum type="arabicPeriod"/>
            </a:pPr>
            <a:r>
              <a:rPr lang="zh-CN" altLang="en-US"/>
              <a:t>Dimensionally stable </a:t>
            </a:r>
          </a:p>
          <a:p>
            <a:pPr marL="914400" lvl="1" indent="-548640" eaLnBrk="1" latinLnBrk="1" hangingPunct="1">
              <a:buFont typeface="Arial" charset="0"/>
              <a:buAutoNum type="arabicPeriod"/>
            </a:pPr>
            <a:r>
              <a:rPr lang="zh-CN" altLang="en-US"/>
              <a:t>Easily available and economical</a:t>
            </a:r>
          </a:p>
          <a:p>
            <a:pPr marL="914400" lvl="1" indent="-548640" eaLnBrk="1" latinLnBrk="1" hangingPunct="1">
              <a:buNone/>
            </a:pPr>
            <a:endParaRPr lang="zh-CN" altLang="en-US"/>
          </a:p>
        </p:txBody>
      </p:sp>
    </p:spTree>
  </p:cSld>
  <p:clrMapOvr>
    <a:masterClrMapping/>
  </p:clrMapOvr>
  <p:transition advClick="0">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itle 1048647"/>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Materials</a:t>
            </a:r>
          </a:p>
        </p:txBody>
      </p:sp>
      <p:sp>
        <p:nvSpPr>
          <p:cNvPr id="1048634" name="Text Placeholder 1048648"/>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Arial" charset="0"/>
              <a:buAutoNum type="arabicPeriod"/>
            </a:pPr>
            <a:r>
              <a:rPr lang="zh-CN" altLang="en-US"/>
              <a:t>Wood:</a:t>
            </a:r>
          </a:p>
          <a:p>
            <a:pPr marL="457200" lvl="0" indent="-457200" eaLnBrk="1" latinLnBrk="1" hangingPunct="1">
              <a:lnSpc>
                <a:spcPct val="150000"/>
              </a:lnSpc>
              <a:buFont typeface="Wingdings" pitchFamily="2" charset="2"/>
              <a:buChar char="Ø"/>
            </a:pPr>
            <a:r>
              <a:rPr lang="zh-CN" altLang="en-US" sz="2000"/>
              <a:t>Easy availability, low weight and low cost</a:t>
            </a:r>
          </a:p>
          <a:p>
            <a:pPr marL="457200" lvl="0" indent="-457200" eaLnBrk="1" latinLnBrk="1" hangingPunct="1">
              <a:lnSpc>
                <a:spcPct val="150000"/>
              </a:lnSpc>
              <a:buFont typeface="Wingdings" pitchFamily="2" charset="2"/>
              <a:buChar char="Ø"/>
            </a:pPr>
            <a:r>
              <a:rPr lang="zh-CN" altLang="en-US" sz="2000"/>
              <a:t>Can be easily shaped</a:t>
            </a:r>
          </a:p>
          <a:p>
            <a:pPr marL="457200" lvl="0" indent="-457200" eaLnBrk="1" latinLnBrk="1" hangingPunct="1">
              <a:lnSpc>
                <a:spcPct val="150000"/>
              </a:lnSpc>
              <a:buFont typeface="Wingdings" pitchFamily="2" charset="2"/>
              <a:buChar char="Ø"/>
            </a:pPr>
            <a:r>
              <a:rPr lang="zh-CN" altLang="en-US" sz="2000"/>
              <a:t>More than 90% castings use wood patterns</a:t>
            </a:r>
          </a:p>
          <a:p>
            <a:pPr marL="457200" lvl="0" indent="-457200" eaLnBrk="1" latinLnBrk="1" hangingPunct="1">
              <a:lnSpc>
                <a:spcPct val="150000"/>
              </a:lnSpc>
              <a:buFont typeface="Wingdings" pitchFamily="2" charset="2"/>
              <a:buChar char="Ø"/>
            </a:pPr>
            <a:r>
              <a:rPr lang="zh-CN" altLang="en-US" sz="2000"/>
              <a:t>Absorbs moisture. So, distortions and dimensional changes occur</a:t>
            </a:r>
          </a:p>
          <a:p>
            <a:pPr marL="457200" lvl="0" indent="-457200" eaLnBrk="1" latinLnBrk="1" hangingPunct="1">
              <a:lnSpc>
                <a:spcPct val="150000"/>
              </a:lnSpc>
              <a:buFont typeface="Wingdings" pitchFamily="2" charset="2"/>
              <a:buChar char="Ø"/>
            </a:pPr>
            <a:r>
              <a:rPr lang="zh-CN" altLang="en-US" sz="2000"/>
              <a:t>Relatively lower life, hence suitable for small quantity production</a:t>
            </a:r>
          </a:p>
        </p:txBody>
      </p:sp>
    </p:spTree>
  </p:cSld>
  <p:clrMapOvr>
    <a:masterClrMapping/>
  </p:clrMapOvr>
  <p:transition advClick="0">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Title 1048649"/>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Materials</a:t>
            </a:r>
          </a:p>
        </p:txBody>
      </p:sp>
      <p:sp>
        <p:nvSpPr>
          <p:cNvPr id="1048636" name="Text Placeholder 1048650"/>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eaLnBrk="1" latinLnBrk="1" hangingPunct="1">
              <a:buNone/>
            </a:pPr>
            <a:r>
              <a:rPr lang="zh-CN" altLang="en-US"/>
              <a:t>2. Metal:</a:t>
            </a:r>
          </a:p>
          <a:p>
            <a:pPr marL="0" lvl="0" indent="0" eaLnBrk="1" latinLnBrk="1" hangingPunct="1">
              <a:lnSpc>
                <a:spcPct val="150000"/>
              </a:lnSpc>
              <a:buFont typeface="Wingdings" pitchFamily="2" charset="2"/>
              <a:buChar char="Ø"/>
            </a:pPr>
            <a:r>
              <a:rPr lang="zh-CN" altLang="en-US" sz="2000"/>
              <a:t>Used for large quantity production and for closer dimensional tolerances</a:t>
            </a:r>
          </a:p>
          <a:p>
            <a:pPr marL="0" lvl="0" indent="0" eaLnBrk="1" latinLnBrk="1" hangingPunct="1">
              <a:lnSpc>
                <a:spcPct val="150000"/>
              </a:lnSpc>
              <a:buFont typeface="Wingdings" pitchFamily="2" charset="2"/>
              <a:buChar char="Ø"/>
            </a:pPr>
            <a:r>
              <a:rPr lang="zh-CN" altLang="en-US" sz="2000"/>
              <a:t>Longer life</a:t>
            </a:r>
          </a:p>
          <a:p>
            <a:pPr marL="0" lvl="0" indent="0" eaLnBrk="1" latinLnBrk="1" hangingPunct="1">
              <a:lnSpc>
                <a:spcPct val="150000"/>
              </a:lnSpc>
              <a:buFont typeface="Wingdings" pitchFamily="2" charset="2"/>
              <a:buChar char="Ø"/>
            </a:pPr>
            <a:r>
              <a:rPr lang="zh-CN" altLang="en-US" sz="2000"/>
              <a:t>Aluminum is mostly used.</a:t>
            </a:r>
          </a:p>
          <a:p>
            <a:pPr marL="0" lvl="0" indent="0" eaLnBrk="1" latinLnBrk="1" hangingPunct="1">
              <a:lnSpc>
                <a:spcPct val="150000"/>
              </a:lnSpc>
              <a:buFont typeface="Wingdings" pitchFamily="2" charset="2"/>
              <a:buChar char="Ø"/>
            </a:pPr>
            <a:r>
              <a:rPr lang="zh-CN" altLang="en-US" sz="2000"/>
              <a:t>Other metals: cast iron, brass etc.</a:t>
            </a:r>
          </a:p>
        </p:txBody>
      </p:sp>
    </p:spTree>
  </p:cSld>
  <p:clrMapOvr>
    <a:masterClrMapping/>
  </p:clrMapOvr>
  <p:transition advClick="0">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Title 1048651"/>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Materials</a:t>
            </a:r>
          </a:p>
        </p:txBody>
      </p:sp>
      <p:sp>
        <p:nvSpPr>
          <p:cNvPr id="1048638" name="Text Placeholder 1048652"/>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eaLnBrk="1" latinLnBrk="1" hangingPunct="1">
              <a:buNone/>
            </a:pPr>
            <a:r>
              <a:rPr lang="zh-CN" altLang="en-US"/>
              <a:t>3. Plastic:</a:t>
            </a:r>
          </a:p>
          <a:p>
            <a:pPr marL="0" lvl="0" indent="0" eaLnBrk="1" latinLnBrk="1" hangingPunct="1">
              <a:lnSpc>
                <a:spcPct val="150000"/>
              </a:lnSpc>
              <a:buFont typeface="Wingdings" pitchFamily="2" charset="2"/>
              <a:buChar char="Ø"/>
            </a:pPr>
            <a:r>
              <a:rPr lang="zh-CN" altLang="en-US" sz="2000"/>
              <a:t>Low weight, easier formability, smooth surfaces and durability</a:t>
            </a:r>
          </a:p>
          <a:p>
            <a:pPr marL="0" lvl="0" indent="0" eaLnBrk="1" latinLnBrk="1" hangingPunct="1">
              <a:lnSpc>
                <a:spcPct val="150000"/>
              </a:lnSpc>
              <a:buFont typeface="Wingdings" pitchFamily="2" charset="2"/>
              <a:buChar char="Ø"/>
            </a:pPr>
            <a:r>
              <a:rPr lang="zh-CN" altLang="en-US" sz="2000"/>
              <a:t>Do not absorb moisture. So, dimensionally stable</a:t>
            </a:r>
          </a:p>
          <a:p>
            <a:pPr marL="0" lvl="0" indent="0" eaLnBrk="1" latinLnBrk="1" hangingPunct="1">
              <a:lnSpc>
                <a:spcPct val="150000"/>
              </a:lnSpc>
              <a:buFont typeface="Wingdings" pitchFamily="2" charset="2"/>
              <a:buChar char="Ø"/>
            </a:pPr>
            <a:r>
              <a:rPr lang="zh-CN" altLang="en-US" sz="2000"/>
              <a:t>Corrosion resistance</a:t>
            </a:r>
          </a:p>
        </p:txBody>
      </p:sp>
    </p:spTree>
  </p:cSld>
  <p:clrMapOvr>
    <a:masterClrMapping/>
  </p:clrMapOvr>
  <p:transition advClick="0">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Title 1048653"/>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Materials</a:t>
            </a:r>
          </a:p>
        </p:txBody>
      </p:sp>
      <p:sp>
        <p:nvSpPr>
          <p:cNvPr id="1048640" name="Text Placeholder 1048654"/>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eaLnBrk="1" latinLnBrk="1" hangingPunct="1">
              <a:buNone/>
            </a:pPr>
            <a:r>
              <a:rPr lang="zh-CN" altLang="en-US"/>
              <a:t>4. Polystyrene:</a:t>
            </a:r>
          </a:p>
          <a:p>
            <a:pPr marL="0" lvl="0" indent="0" eaLnBrk="1" latinLnBrk="1" hangingPunct="1">
              <a:lnSpc>
                <a:spcPct val="150000"/>
              </a:lnSpc>
              <a:buFont typeface="Wingdings" pitchFamily="2" charset="2"/>
              <a:buChar char="Ø"/>
            </a:pPr>
            <a:r>
              <a:rPr lang="zh-CN" altLang="en-US" sz="2000"/>
              <a:t>Changes to gaseous state on heating</a:t>
            </a:r>
          </a:p>
          <a:p>
            <a:pPr marL="0" lvl="0" indent="0" eaLnBrk="1" latinLnBrk="1" hangingPunct="1">
              <a:lnSpc>
                <a:spcPct val="150000"/>
              </a:lnSpc>
              <a:buFont typeface="Wingdings" pitchFamily="2" charset="2"/>
              <a:buChar char="Ø"/>
            </a:pPr>
            <a:r>
              <a:rPr lang="zh-CN" altLang="en-US" sz="2000"/>
              <a:t>Disposable Patterns. Hence, suitable for single casting.</a:t>
            </a:r>
          </a:p>
          <a:p>
            <a:pPr marL="0" lvl="0" indent="0" eaLnBrk="1" latinLnBrk="1" hangingPunct="1">
              <a:lnSpc>
                <a:spcPct val="150000"/>
              </a:lnSpc>
              <a:buFont typeface="Wingdings" pitchFamily="2" charset="2"/>
              <a:buChar char="Ø"/>
            </a:pPr>
            <a:r>
              <a:rPr lang="zh-CN" altLang="en-US" sz="2000"/>
              <a:t>When molten metal is poured into cavity, polystyrene transforms to gaseous state.</a:t>
            </a:r>
          </a:p>
          <a:p>
            <a:pPr marL="0" lvl="0" indent="0" eaLnBrk="1" latinLnBrk="1" hangingPunct="1">
              <a:lnSpc>
                <a:spcPct val="150000"/>
              </a:lnSpc>
              <a:buFont typeface="Wingdings" pitchFamily="2" charset="2"/>
              <a:buChar char="Ø"/>
            </a:pPr>
            <a:r>
              <a:rPr lang="zh-CN" altLang="en-US" sz="2000"/>
              <a:t>Used mostly for small and complicated shaped castings.</a:t>
            </a:r>
          </a:p>
          <a:p>
            <a:pPr marL="0" lvl="0" indent="0" eaLnBrk="1" latinLnBrk="1" hangingPunct="1">
              <a:lnSpc>
                <a:spcPct val="150000"/>
              </a:lnSpc>
              <a:buNone/>
            </a:pPr>
            <a:endParaRPr lang="zh-CN" altLang="en-US" sz="2000"/>
          </a:p>
        </p:txBody>
      </p:sp>
    </p:spTree>
  </p:cSld>
  <p:clrMapOvr>
    <a:masterClrMapping/>
  </p:clrMapOvr>
  <p:transition advClick="0">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Title 1048655"/>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Types</a:t>
            </a:r>
          </a:p>
        </p:txBody>
      </p:sp>
      <p:sp>
        <p:nvSpPr>
          <p:cNvPr id="1048642" name="Content Placeholder 1048656"/>
          <p:cNvSpPr>
            <a:spLocks noGrp="1"/>
          </p:cNvSpPr>
          <p:nvPr>
            <p:ph sz="half" idx="1"/>
          </p:nvPr>
        </p:nvSpPr>
        <p:spPr>
          <a:xfrm>
            <a:off x="1905000" y="1447800"/>
            <a:ext cx="3995737" cy="44958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0" lvl="0" indent="0" eaLnBrk="1" latinLnBrk="1" hangingPunct="1">
              <a:buNone/>
            </a:pPr>
            <a:r>
              <a:rPr lang="zh-CN" altLang="en-US" sz="2400"/>
              <a:t>1.Single piece pattern</a:t>
            </a:r>
            <a:r>
              <a:rPr lang="zh-CN" altLang="en-US" sz="2800"/>
              <a:t>:</a:t>
            </a:r>
          </a:p>
          <a:p>
            <a:pPr marL="0" lvl="0" indent="0" eaLnBrk="1" latinLnBrk="1" hangingPunct="1"/>
            <a:r>
              <a:rPr lang="zh-CN" altLang="en-US"/>
              <a:t>Used for simple shaped &amp; large castings.</a:t>
            </a:r>
          </a:p>
          <a:p>
            <a:pPr marL="0" lvl="0" indent="0" eaLnBrk="1" latinLnBrk="1" hangingPunct="1"/>
            <a:r>
              <a:rPr lang="zh-CN" altLang="en-US"/>
              <a:t>Pattern and cavity produced by it are completely in the lower flask (i.e. drag)</a:t>
            </a:r>
          </a:p>
          <a:p>
            <a:pPr marL="0" lvl="0" indent="0" eaLnBrk="1" latinLnBrk="1" hangingPunct="1"/>
            <a:r>
              <a:rPr lang="zh-CN" altLang="en-US"/>
              <a:t>Causes difficulty in making the mold.</a:t>
            </a:r>
          </a:p>
          <a:p>
            <a:pPr marL="0" lvl="0" indent="0" eaLnBrk="1" latinLnBrk="1" hangingPunct="1">
              <a:buNone/>
            </a:pPr>
            <a:endParaRPr lang="zh-CN" altLang="en-US"/>
          </a:p>
          <a:p>
            <a:pPr marL="0" lvl="0" indent="0" eaLnBrk="1" latinLnBrk="1" hangingPunct="1"/>
            <a:endParaRPr lang="zh-CN" altLang="en-US"/>
          </a:p>
        </p:txBody>
      </p:sp>
      <p:pic>
        <p:nvPicPr>
          <p:cNvPr id="2097158" name="Picture 2097164"/>
          <p:cNvPicPr>
            <a:picLocks/>
          </p:cNvPicPr>
          <p:nvPr/>
        </p:nvPicPr>
        <p:blipFill>
          <a:blip r:embed="rId2" cstate="print"/>
          <a:srcRect/>
          <a:stretch>
            <a:fillRect/>
          </a:stretch>
        </p:blipFill>
        <p:spPr>
          <a:xfrm>
            <a:off x="5886450" y="1828800"/>
            <a:ext cx="3243262" cy="3124200"/>
          </a:xfrm>
          <a:prstGeom prst="rect">
            <a:avLst/>
          </a:prstGeom>
          <a:noFill/>
          <a:ln>
            <a:noFill/>
          </a:ln>
        </p:spPr>
      </p:pic>
      <p:pic>
        <p:nvPicPr>
          <p:cNvPr id="2097159" name="Picture 2097165"/>
          <p:cNvPicPr>
            <a:picLocks/>
          </p:cNvPicPr>
          <p:nvPr/>
        </p:nvPicPr>
        <p:blipFill>
          <a:blip r:embed="rId3" cstate="print"/>
          <a:srcRect/>
          <a:stretch>
            <a:fillRect/>
          </a:stretch>
        </p:blipFill>
        <p:spPr>
          <a:xfrm>
            <a:off x="2133600" y="4286250"/>
            <a:ext cx="3048000" cy="2101850"/>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Title 1048601"/>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Types</a:t>
            </a:r>
          </a:p>
        </p:txBody>
      </p:sp>
      <p:sp>
        <p:nvSpPr>
          <p:cNvPr id="1048644" name="Content Placeholder 1048602"/>
          <p:cNvSpPr>
            <a:spLocks noGrp="1"/>
          </p:cNvSpPr>
          <p:nvPr>
            <p:ph sz="half" idx="1"/>
          </p:nvPr>
        </p:nvSpPr>
        <p:spPr>
          <a:xfrm>
            <a:off x="1905000" y="1447800"/>
            <a:ext cx="3995737" cy="44958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0" lvl="0" indent="0" eaLnBrk="1" latinLnBrk="1" hangingPunct="1">
              <a:buNone/>
            </a:pPr>
            <a:r>
              <a:rPr lang="zh-CN" altLang="en-US" sz="2400"/>
              <a:t>2.Split pattern</a:t>
            </a:r>
            <a:r>
              <a:rPr lang="zh-CN" altLang="en-US" sz="2800"/>
              <a:t>:</a:t>
            </a:r>
          </a:p>
          <a:p>
            <a:pPr marL="0" lvl="0" indent="0"/>
            <a:r>
              <a:rPr lang="zh-CN" altLang="en-US"/>
              <a:t>Split pattern models the part as two separate pieces that meet along the parting line of the mould</a:t>
            </a:r>
          </a:p>
          <a:p>
            <a:pPr marL="0" lvl="0" indent="0" eaLnBrk="1" latinLnBrk="1" hangingPunct="1"/>
            <a:r>
              <a:rPr lang="zh-CN" altLang="en-US"/>
              <a:t>Two parts are aligned by Dowel pin.</a:t>
            </a:r>
          </a:p>
          <a:p>
            <a:pPr marL="0" lvl="0" indent="0" eaLnBrk="1" latinLnBrk="1" hangingPunct="1"/>
            <a:endParaRPr lang="zh-CN" altLang="en-US"/>
          </a:p>
        </p:txBody>
      </p:sp>
      <p:pic>
        <p:nvPicPr>
          <p:cNvPr id="2097160" name="Picture 2097157"/>
          <p:cNvPicPr>
            <a:picLocks/>
          </p:cNvPicPr>
          <p:nvPr/>
        </p:nvPicPr>
        <p:blipFill>
          <a:blip r:embed="rId2" cstate="print"/>
          <a:srcRect/>
          <a:stretch>
            <a:fillRect/>
          </a:stretch>
        </p:blipFill>
        <p:spPr>
          <a:xfrm>
            <a:off x="5638800" y="1447800"/>
            <a:ext cx="3352800" cy="2514600"/>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itle 1048596"/>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Types</a:t>
            </a:r>
          </a:p>
        </p:txBody>
      </p:sp>
      <p:pic>
        <p:nvPicPr>
          <p:cNvPr id="2097161" name="Picture 2097155"/>
          <p:cNvPicPr>
            <a:picLocks/>
          </p:cNvPicPr>
          <p:nvPr/>
        </p:nvPicPr>
        <p:blipFill>
          <a:blip r:embed="rId2" cstate="print"/>
          <a:srcRect/>
          <a:stretch>
            <a:fillRect/>
          </a:stretch>
        </p:blipFill>
        <p:spPr>
          <a:xfrm>
            <a:off x="6352308" y="4356099"/>
            <a:ext cx="2133600" cy="2501900"/>
          </a:xfrm>
          <a:prstGeom prst="rect">
            <a:avLst/>
          </a:prstGeom>
          <a:noFill/>
          <a:ln>
            <a:noFill/>
          </a:ln>
        </p:spPr>
      </p:pic>
      <p:sp>
        <p:nvSpPr>
          <p:cNvPr id="1048646" name="TextBox 1048597"/>
          <p:cNvSpPr txBox="1"/>
          <p:nvPr/>
        </p:nvSpPr>
        <p:spPr>
          <a:xfrm>
            <a:off x="1676400" y="1905000"/>
            <a:ext cx="7467600" cy="2834640"/>
          </a:xfrm>
          <a:prstGeom prst="rect">
            <a:avLst/>
          </a:prstGeom>
          <a:noFill/>
          <a:ln>
            <a:noFill/>
          </a:ln>
        </p:spPr>
        <p:txBody>
          <a:bodyPr lIns="91440" tIns="45720" rIns="91440" bIns="45720" anchor="t">
            <a:spAutoFit/>
          </a:bodyPr>
          <a:lstStyle>
            <a:lvl1pPr marL="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1pPr>
            <a:lvl2pPr marL="4572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2pPr>
            <a:lvl3pPr marL="9144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3pPr>
            <a:lvl4pPr marL="13716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4pPr>
            <a:lvl5pPr marL="18288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5pPr>
          </a:lstStyle>
          <a:p>
            <a:pPr marL="457200" lvl="0" indent="-457200" algn="l" eaLnBrk="1" latinLnBrk="1" hangingPunct="1">
              <a:buAutoNum type="arabicPeriod"/>
            </a:pPr>
            <a:r>
              <a:rPr lang="zh-CN" altLang="en-US" sz="2000" b="0"/>
              <a:t>As pre The name Pattern Contain One or more than one loose piece</a:t>
            </a:r>
            <a:endParaRPr b="0"/>
          </a:p>
          <a:p>
            <a:pPr marL="457200" lvl="0" indent="-457200" algn="l" eaLnBrk="1" latinLnBrk="1" hangingPunct="1">
              <a:buAutoNum type="arabicPeriod"/>
            </a:pPr>
            <a:r>
              <a:rPr lang="zh-CN" altLang="en-US" sz="2000" b="0"/>
              <a:t> Loose piece is used to make removal of pattern easy from mould box</a:t>
            </a:r>
            <a:endParaRPr b="0"/>
          </a:p>
          <a:p>
            <a:pPr marL="457200" lvl="0" indent="-457200" algn="l" eaLnBrk="1" latinLnBrk="1" hangingPunct="1">
              <a:buAutoNum type="arabicPeriod"/>
            </a:pPr>
            <a:r>
              <a:rPr lang="zh-CN" altLang="en-US" sz="2000" b="0"/>
              <a:t> loose pieces are attached  to main body with the help of dowel pins or wire</a:t>
            </a:r>
            <a:endParaRPr b="0"/>
          </a:p>
          <a:p>
            <a:pPr marL="457200" lvl="0" indent="-457200" algn="l" eaLnBrk="1" latinLnBrk="1" hangingPunct="1">
              <a:buAutoNum type="arabicPeriod"/>
            </a:pPr>
            <a:r>
              <a:rPr lang="zh-CN" altLang="en-US" sz="2000" b="0"/>
              <a:t>First main pattern is drawn and then carefully  loose pieces</a:t>
            </a:r>
            <a:endParaRPr b="0"/>
          </a:p>
          <a:p>
            <a:pPr marL="457200" lvl="0" indent="-457200" algn="l" eaLnBrk="1" latinLnBrk="1" hangingPunct="1">
              <a:buAutoNum type="arabicPeriod"/>
            </a:pPr>
            <a:r>
              <a:rPr lang="zh-CN" altLang="en-US" sz="2000" b="0"/>
              <a:t>Moulding with this pattern  is expensive and require more skill</a:t>
            </a:r>
            <a:endParaRPr b="0"/>
          </a:p>
        </p:txBody>
      </p:sp>
      <p:sp>
        <p:nvSpPr>
          <p:cNvPr id="1048647" name="TextBox 1048598"/>
          <p:cNvSpPr txBox="1"/>
          <p:nvPr/>
        </p:nvSpPr>
        <p:spPr>
          <a:xfrm>
            <a:off x="1600200" y="1371600"/>
            <a:ext cx="5156489" cy="447040"/>
          </a:xfrm>
          <a:prstGeom prst="rect">
            <a:avLst/>
          </a:prstGeom>
          <a:noFill/>
          <a:ln>
            <a:noFill/>
          </a:ln>
        </p:spPr>
        <p:txBody>
          <a:bodyPr lIns="91440" tIns="45720" rIns="91440" bIns="45720" anchor="t">
            <a:spAutoFit/>
          </a:bodyPr>
          <a:lstStyle>
            <a:lvl1pPr marL="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1pPr>
            <a:lvl2pPr marL="4572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2pPr>
            <a:lvl3pPr marL="9144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3pPr>
            <a:lvl4pPr marL="13716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4pPr>
            <a:lvl5pPr marL="18288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5pPr>
          </a:lstStyle>
          <a:p>
            <a:pPr lvl="0" algn="l" eaLnBrk="1" latinLnBrk="1" hangingPunct="1"/>
            <a:r>
              <a:rPr lang="zh-CN" altLang="en-US" b="1"/>
              <a:t>3.Loose Piece pattern</a:t>
            </a:r>
            <a:endParaRPr b="1"/>
          </a:p>
        </p:txBody>
      </p:sp>
    </p:spTree>
  </p:cSld>
  <p:clrMapOvr>
    <a:masterClrMapping/>
  </p:clrMapOvr>
  <p:transition advClick="0">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Title 1048592"/>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dirty="0"/>
              <a:t>Pattern Types</a:t>
            </a:r>
          </a:p>
        </p:txBody>
      </p:sp>
      <p:sp>
        <p:nvSpPr>
          <p:cNvPr id="1048649" name="Content Placeholder 1048593"/>
          <p:cNvSpPr>
            <a:spLocks noGrp="1"/>
          </p:cNvSpPr>
          <p:nvPr>
            <p:ph sz="half" idx="1"/>
          </p:nvPr>
        </p:nvSpPr>
        <p:spPr>
          <a:xfrm>
            <a:off x="1676400" y="1219200"/>
            <a:ext cx="7467600" cy="53340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0" lvl="0" indent="0" eaLnBrk="1" latinLnBrk="1" hangingPunct="1">
              <a:buNone/>
            </a:pPr>
            <a:r>
              <a:rPr lang="zh-CN" altLang="en-US" sz="2400" b="1"/>
              <a:t>4. Match-plate pattern:</a:t>
            </a:r>
            <a:endParaRPr sz="2400" b="1"/>
          </a:p>
          <a:p>
            <a:pPr marL="0" lvl="0" indent="0"/>
            <a:r>
              <a:rPr lang="zh-CN" altLang="en-US" sz="1800"/>
              <a:t>Similar to a split pattern, except that each half of the pattern is attached to opposite sides of a single plate.</a:t>
            </a:r>
          </a:p>
          <a:p>
            <a:pPr marL="0" lvl="0" indent="0"/>
            <a:r>
              <a:rPr lang="zh-CN" altLang="en-US" sz="1800"/>
              <a:t>Match plate confirms the parting line</a:t>
            </a:r>
          </a:p>
          <a:p>
            <a:pPr marL="0" lvl="0" indent="0"/>
            <a:r>
              <a:rPr lang="zh-CN" altLang="en-US" sz="1800"/>
              <a:t>Ensures proper alignment of the mould cavities in the cope and drag and the runner system can be included on the match plate.</a:t>
            </a:r>
          </a:p>
          <a:p>
            <a:pPr marL="0" lvl="0" indent="0"/>
            <a:r>
              <a:rPr lang="zh-CN" altLang="en-US" sz="1800"/>
              <a:t>Used for larger production quantities.</a:t>
            </a:r>
          </a:p>
          <a:p>
            <a:pPr marL="0" lvl="0" indent="0"/>
            <a:r>
              <a:rPr lang="zh-CN" altLang="en-US" sz="1800"/>
              <a:t>Ic Engines piston rings</a:t>
            </a:r>
          </a:p>
        </p:txBody>
      </p:sp>
      <p:pic>
        <p:nvPicPr>
          <p:cNvPr id="2097162" name="Picture 2097153" descr="F:\MPR ME4G\CASTING\IMAGES\match-plate pattern.jpg"/>
          <p:cNvPicPr>
            <a:picLocks/>
          </p:cNvPicPr>
          <p:nvPr/>
        </p:nvPicPr>
        <p:blipFill>
          <a:blip r:embed="rId2" cstate="print"/>
          <a:srcRect/>
          <a:stretch>
            <a:fillRect/>
          </a:stretch>
        </p:blipFill>
        <p:spPr>
          <a:xfrm>
            <a:off x="4267200" y="3581400"/>
            <a:ext cx="4495800" cy="3048000"/>
          </a:xfrm>
          <a:prstGeom prst="rect">
            <a:avLst/>
          </a:prstGeom>
          <a:noFill/>
          <a:ln>
            <a:noFill/>
          </a:ln>
        </p:spPr>
      </p:pic>
      <p:pic>
        <p:nvPicPr>
          <p:cNvPr id="2097163" name="Picture 2097154"/>
          <p:cNvPicPr>
            <a:picLocks/>
          </p:cNvPicPr>
          <p:nvPr/>
        </p:nvPicPr>
        <p:blipFill>
          <a:blip r:embed="rId3" cstate="print"/>
          <a:srcRect/>
          <a:stretch>
            <a:fillRect/>
          </a:stretch>
        </p:blipFill>
        <p:spPr>
          <a:xfrm>
            <a:off x="762000" y="4114800"/>
            <a:ext cx="2732087" cy="2049462"/>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Title 104858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Types</a:t>
            </a:r>
          </a:p>
        </p:txBody>
      </p:sp>
      <p:sp>
        <p:nvSpPr>
          <p:cNvPr id="1048651" name="Content Placeholder 1048589"/>
          <p:cNvSpPr>
            <a:spLocks noGrp="1"/>
          </p:cNvSpPr>
          <p:nvPr>
            <p:ph sz="half" idx="1"/>
          </p:nvPr>
        </p:nvSpPr>
        <p:spPr>
          <a:xfrm>
            <a:off x="1676400" y="1219200"/>
            <a:ext cx="7467600" cy="53340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0" lvl="0" indent="0" eaLnBrk="1" latinLnBrk="1" hangingPunct="1">
              <a:buNone/>
            </a:pPr>
            <a:r>
              <a:rPr lang="zh-CN" altLang="en-US" sz="2400" b="1"/>
              <a:t>4. Cope-Drag pattern:</a:t>
            </a:r>
            <a:endParaRPr sz="2400"/>
          </a:p>
          <a:p>
            <a:pPr marL="0" lvl="0" indent="0"/>
            <a:r>
              <a:rPr lang="zh-CN" altLang="en-US" sz="1800"/>
              <a:t>It is similar to split pattern </a:t>
            </a:r>
          </a:p>
          <a:p>
            <a:pPr marL="0" lvl="0" indent="0"/>
            <a:r>
              <a:rPr lang="zh-CN" altLang="en-US" sz="1800"/>
              <a:t>Each half of the pattern is attached to a separate plate and the mould halves are made independently.</a:t>
            </a:r>
          </a:p>
          <a:p>
            <a:pPr marL="0" lvl="0" indent="0"/>
            <a:r>
              <a:rPr lang="zh-CN" altLang="en-US" sz="1800"/>
              <a:t>.Pattern is made in two halves and split along parting line</a:t>
            </a:r>
          </a:p>
          <a:p>
            <a:pPr marL="0" lvl="0" indent="0"/>
            <a:r>
              <a:rPr lang="zh-CN" altLang="en-US" sz="1800"/>
              <a:t>These two halves are known as cope and drag</a:t>
            </a:r>
          </a:p>
          <a:p>
            <a:pPr marL="0" lvl="0" indent="0"/>
            <a:r>
              <a:rPr lang="zh-CN" altLang="en-US" sz="1800"/>
              <a:t>There moulding done independently </a:t>
            </a:r>
          </a:p>
          <a:p>
            <a:pPr marL="0" lvl="0" indent="0"/>
            <a:r>
              <a:rPr lang="zh-CN" altLang="en-US" sz="1800"/>
              <a:t>After moulding they are assembled to form complete mould box</a:t>
            </a:r>
          </a:p>
          <a:p>
            <a:pPr marL="0" lvl="0" indent="0"/>
            <a:r>
              <a:rPr lang="zh-CN" altLang="en-US" sz="1800"/>
              <a:t>Often desirable for larger castings</a:t>
            </a:r>
          </a:p>
          <a:p>
            <a:pPr marL="0" lvl="0" indent="0">
              <a:buNone/>
            </a:pPr>
            <a:endParaRPr lang="zh-CN" altLang="en-US" sz="1800"/>
          </a:p>
          <a:p>
            <a:pPr marL="0" lvl="0" indent="0"/>
            <a:endParaRPr lang="zh-CN" altLang="en-US" sz="1800"/>
          </a:p>
          <a:p>
            <a:pPr marL="0" lvl="0" indent="0"/>
            <a:endParaRPr lang="zh-CN" altLang="en-US" sz="1800"/>
          </a:p>
        </p:txBody>
      </p:sp>
      <p:pic>
        <p:nvPicPr>
          <p:cNvPr id="2097164" name="Picture 2097151" descr="F:\MPR ME4G\CASTING\IMAGES\cope n drag pattern.jpg"/>
          <p:cNvPicPr>
            <a:picLocks/>
          </p:cNvPicPr>
          <p:nvPr/>
        </p:nvPicPr>
        <p:blipFill>
          <a:blip r:embed="rId2" cstate="print"/>
          <a:srcRect/>
          <a:stretch>
            <a:fillRect/>
          </a:stretch>
        </p:blipFill>
        <p:spPr>
          <a:xfrm>
            <a:off x="5673725" y="4419600"/>
            <a:ext cx="3470275" cy="2438400"/>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Title 1048590"/>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Types</a:t>
            </a:r>
          </a:p>
        </p:txBody>
      </p:sp>
      <p:sp>
        <p:nvSpPr>
          <p:cNvPr id="1048653" name="Content Placeholder 1048591"/>
          <p:cNvSpPr>
            <a:spLocks noGrp="1"/>
          </p:cNvSpPr>
          <p:nvPr>
            <p:ph sz="half" idx="1"/>
          </p:nvPr>
        </p:nvSpPr>
        <p:spPr>
          <a:xfrm>
            <a:off x="1600200" y="1219200"/>
            <a:ext cx="7543800" cy="53340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0" lvl="0" indent="0" eaLnBrk="1" latinLnBrk="1" hangingPunct="1">
              <a:buNone/>
            </a:pPr>
            <a:r>
              <a:rPr lang="zh-CN" altLang="en-US" sz="2400"/>
              <a:t>5. Gated pattern</a:t>
            </a:r>
            <a:r>
              <a:rPr lang="zh-CN" altLang="en-US" sz="2800"/>
              <a:t>:</a:t>
            </a:r>
          </a:p>
          <a:p>
            <a:pPr marL="0" lvl="0" indent="0"/>
            <a:r>
              <a:rPr lang="zh-CN" altLang="en-US"/>
              <a:t>In </a:t>
            </a:r>
            <a:r>
              <a:rPr lang="zh-CN" altLang="en-US" sz="1800"/>
              <a:t>this patters of gate and riser or runner are permanently attached to regular pattern </a:t>
            </a:r>
          </a:p>
          <a:p>
            <a:pPr marL="0" lvl="0" indent="0"/>
            <a:r>
              <a:rPr lang="zh-CN" altLang="en-US" sz="1800"/>
              <a:t>They are used to manufacture multiple casting in on time</a:t>
            </a:r>
          </a:p>
          <a:p>
            <a:pPr marL="0" lvl="0" indent="0"/>
            <a:r>
              <a:rPr lang="zh-CN" altLang="en-US" sz="1800"/>
              <a:t>Each pattern is connected with common runner .</a:t>
            </a:r>
          </a:p>
          <a:p>
            <a:pPr marL="0" lvl="0" indent="0"/>
            <a:r>
              <a:rPr lang="zh-CN" altLang="en-US" sz="1800"/>
              <a:t>Suitable for pouring small castings and for mass production</a:t>
            </a:r>
          </a:p>
          <a:p>
            <a:pPr marL="0" lvl="0" indent="0"/>
            <a:r>
              <a:rPr lang="zh-CN" altLang="en-US" sz="1800"/>
              <a:t>It save labour and time </a:t>
            </a:r>
          </a:p>
        </p:txBody>
      </p:sp>
      <p:pic>
        <p:nvPicPr>
          <p:cNvPr id="2097165" name="Picture 2097152" descr="F:\MPR ME4G\CASTING\IMAGES\gated patterns.jpg"/>
          <p:cNvPicPr>
            <a:picLocks/>
          </p:cNvPicPr>
          <p:nvPr/>
        </p:nvPicPr>
        <p:blipFill>
          <a:blip r:embed="rId2" cstate="print"/>
          <a:srcRect/>
          <a:stretch>
            <a:fillRect/>
          </a:stretch>
        </p:blipFill>
        <p:spPr>
          <a:xfrm>
            <a:off x="4724400" y="4017962"/>
            <a:ext cx="4419600" cy="2840037"/>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4" name="Title 104859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55" name="Content Placeholder 1048595"/>
          <p:cNvSpPr>
            <a:spLocks noGrp="1"/>
          </p:cNvSpPr>
          <p:nvPr>
            <p:ph sz="half" idx="1"/>
          </p:nvPr>
        </p:nvSpPr>
        <p:spPr>
          <a:xfrm>
            <a:off x="2438400" y="1447800"/>
            <a:ext cx="6324600" cy="51054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457200" lvl="0" indent="-457200">
              <a:lnSpc>
                <a:spcPct val="150000"/>
              </a:lnSpc>
              <a:buFont typeface="Arial" charset="0"/>
              <a:buAutoNum type="arabicPeriod"/>
            </a:pPr>
            <a:endParaRPr lang="zh-CN" altLang="en-US"/>
          </a:p>
          <a:p>
            <a:pPr marL="457200" lvl="0" indent="-457200">
              <a:lnSpc>
                <a:spcPct val="150000"/>
              </a:lnSpc>
              <a:buFont typeface="Arial" charset="0"/>
              <a:buAutoNum type="arabicPeriod"/>
            </a:pPr>
            <a:r>
              <a:rPr lang="zh-CN" altLang="en-US"/>
              <a:t>Shrinkage or contraction allowance</a:t>
            </a:r>
          </a:p>
          <a:p>
            <a:pPr marL="457200" lvl="0" indent="-457200">
              <a:lnSpc>
                <a:spcPct val="150000"/>
              </a:lnSpc>
              <a:buFont typeface="Arial" charset="0"/>
              <a:buAutoNum type="arabicPeriod"/>
            </a:pPr>
            <a:r>
              <a:rPr lang="zh-CN" altLang="en-US"/>
              <a:t>Draft or taper allowance</a:t>
            </a:r>
          </a:p>
          <a:p>
            <a:pPr marL="457200" lvl="0" indent="-457200">
              <a:lnSpc>
                <a:spcPct val="150000"/>
              </a:lnSpc>
              <a:buFont typeface="Arial" charset="0"/>
              <a:buAutoNum type="arabicPeriod"/>
            </a:pPr>
            <a:r>
              <a:rPr lang="zh-CN" altLang="en-US"/>
              <a:t>Machining or finish allowance</a:t>
            </a:r>
          </a:p>
          <a:p>
            <a:pPr marL="457200" lvl="0" indent="-457200">
              <a:lnSpc>
                <a:spcPct val="150000"/>
              </a:lnSpc>
              <a:buFont typeface="Arial" charset="0"/>
              <a:buAutoNum type="arabicPeriod"/>
            </a:pPr>
            <a:r>
              <a:rPr lang="zh-CN" altLang="en-US"/>
              <a:t>Distortion or camber allowance</a:t>
            </a:r>
          </a:p>
          <a:p>
            <a:pPr marL="457200" lvl="0" indent="-457200">
              <a:lnSpc>
                <a:spcPct val="150000"/>
              </a:lnSpc>
              <a:buFont typeface="Arial" charset="0"/>
              <a:buAutoNum type="arabicPeriod"/>
            </a:pPr>
            <a:r>
              <a:rPr lang="zh-CN" altLang="en-US"/>
              <a:t>Rapping allowance</a:t>
            </a:r>
          </a:p>
        </p:txBody>
      </p:sp>
    </p:spTree>
  </p:cSld>
  <p:clrMapOvr>
    <a:masterClrMapping/>
  </p:clrMapOvr>
  <p:transition advClick="0">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Title 1048599"/>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57" name="Content Placeholder 1048600"/>
          <p:cNvSpPr>
            <a:spLocks noGrp="1"/>
          </p:cNvSpPr>
          <p:nvPr>
            <p:ph sz="half" idx="1"/>
          </p:nvPr>
        </p:nvSpPr>
        <p:spPr>
          <a:xfrm>
            <a:off x="1828800" y="1447800"/>
            <a:ext cx="6629400" cy="51816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a:t>Shrinkage Allowance:</a:t>
            </a:r>
          </a:p>
          <a:p>
            <a:pPr lvl="0">
              <a:lnSpc>
                <a:spcPct val="150000"/>
              </a:lnSpc>
            </a:pPr>
            <a:endParaRPr lang="zh-CN" altLang="en-US"/>
          </a:p>
          <a:p>
            <a:pPr lvl="0">
              <a:lnSpc>
                <a:spcPct val="150000"/>
              </a:lnSpc>
            </a:pPr>
            <a:endParaRPr lang="zh-CN" altLang="en-US"/>
          </a:p>
          <a:p>
            <a:pPr lvl="0">
              <a:lnSpc>
                <a:spcPct val="150000"/>
              </a:lnSpc>
            </a:pPr>
            <a:endParaRPr lang="zh-CN" altLang="en-US"/>
          </a:p>
          <a:p>
            <a:pPr lvl="0">
              <a:lnSpc>
                <a:spcPct val="150000"/>
              </a:lnSpc>
            </a:pPr>
            <a:endParaRPr lang="zh-CN" altLang="en-US"/>
          </a:p>
          <a:p>
            <a:pPr lvl="0">
              <a:lnSpc>
                <a:spcPct val="150000"/>
              </a:lnSpc>
            </a:pPr>
            <a:endParaRPr lang="zh-CN" altLang="en-US"/>
          </a:p>
          <a:p>
            <a:pPr lvl="0">
              <a:lnSpc>
                <a:spcPct val="150000"/>
              </a:lnSpc>
            </a:pPr>
            <a:endParaRPr lang="zh-CN" altLang="en-US"/>
          </a:p>
          <a:p>
            <a:pPr lvl="0">
              <a:lnSpc>
                <a:spcPct val="150000"/>
              </a:lnSpc>
            </a:pPr>
            <a:endParaRPr lang="zh-CN" altLang="en-US"/>
          </a:p>
          <a:p>
            <a:pPr lvl="0">
              <a:lnSpc>
                <a:spcPct val="150000"/>
              </a:lnSpc>
              <a:buFont typeface="Wingdings" pitchFamily="2" charset="2"/>
              <a:buChar char="Ø"/>
            </a:pPr>
            <a:r>
              <a:rPr lang="zh-CN" altLang="en-US"/>
              <a:t>Liquid Shrinkage</a:t>
            </a:r>
          </a:p>
          <a:p>
            <a:pPr lvl="0">
              <a:lnSpc>
                <a:spcPct val="150000"/>
              </a:lnSpc>
              <a:buFont typeface="Wingdings" pitchFamily="2" charset="2"/>
              <a:buChar char="Ø"/>
            </a:pPr>
            <a:r>
              <a:rPr lang="zh-CN" altLang="en-US"/>
              <a:t>Solid Shrinkage</a:t>
            </a:r>
          </a:p>
          <a:p>
            <a:pPr lvl="0">
              <a:lnSpc>
                <a:spcPct val="150000"/>
              </a:lnSpc>
              <a:buNone/>
            </a:pPr>
            <a:endParaRPr lang="zh-CN" altLang="en-US"/>
          </a:p>
        </p:txBody>
      </p:sp>
      <p:pic>
        <p:nvPicPr>
          <p:cNvPr id="2097166" name="Picture 2097156"/>
          <p:cNvPicPr>
            <a:picLocks/>
          </p:cNvPicPr>
          <p:nvPr/>
        </p:nvPicPr>
        <p:blipFill>
          <a:blip r:embed="rId2" cstate="print"/>
          <a:srcRect t="2927"/>
          <a:stretch>
            <a:fillRect/>
          </a:stretch>
        </p:blipFill>
        <p:spPr>
          <a:xfrm>
            <a:off x="2438400" y="2057400"/>
            <a:ext cx="4841875" cy="3581400"/>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Title 1048657"/>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Pattern Allowances</a:t>
            </a:r>
          </a:p>
        </p:txBody>
      </p:sp>
      <p:pic>
        <p:nvPicPr>
          <p:cNvPr id="2097167" name="Content Placeholder 2097166"/>
          <p:cNvPicPr>
            <a:picLocks noGrp="1"/>
          </p:cNvPicPr>
          <p:nvPr>
            <p:ph idx="1"/>
          </p:nvPr>
        </p:nvPicPr>
        <p:blipFill>
          <a:blip r:embed="rId2" cstate="print"/>
          <a:srcRect/>
          <a:stretch>
            <a:fillRect/>
          </a:stretch>
        </p:blipFill>
        <p:spPr>
          <a:xfrm>
            <a:off x="2286000" y="1447800"/>
            <a:ext cx="5668962" cy="4933950"/>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Title 104865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60" name="Content Placeholder 1048659"/>
          <p:cNvSpPr>
            <a:spLocks noGrp="1"/>
          </p:cNvSpPr>
          <p:nvPr>
            <p:ph sz="half" idx="1"/>
          </p:nvPr>
        </p:nvSpPr>
        <p:spPr>
          <a:xfrm>
            <a:off x="1828800" y="1233444"/>
            <a:ext cx="7201614" cy="5395956"/>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b="1" u="sng"/>
              <a:t>Shrinkage Allowance</a:t>
            </a:r>
            <a:r>
              <a:rPr lang="zh-CN" altLang="en-US"/>
              <a:t>:</a:t>
            </a:r>
          </a:p>
          <a:p>
            <a:pPr lvl="0">
              <a:buFont typeface="Wingdings" pitchFamily="2" charset="2"/>
              <a:buChar char="Ø"/>
            </a:pPr>
            <a:r>
              <a:rPr lang="en-US" altLang="en-US"/>
              <a:t>Shrinkage means contraction of metal on solidification</a:t>
            </a:r>
            <a:endParaRPr lang="zh-CN" altLang="en-US"/>
          </a:p>
          <a:p>
            <a:pPr lvl="0">
              <a:buFont typeface="Wingdings" pitchFamily="2" charset="2"/>
              <a:buChar char="Ø"/>
            </a:pPr>
            <a:r>
              <a:rPr lang="zh-CN" altLang="en-US"/>
              <a:t>All metals shrink after solidification. (Except grey cast iron that expands on solidification).</a:t>
            </a:r>
          </a:p>
          <a:p>
            <a:pPr lvl="0">
              <a:buFont typeface="Wingdings" pitchFamily="2" charset="2"/>
              <a:buChar char="Ø"/>
            </a:pPr>
            <a:r>
              <a:rPr lang="en-US" altLang="zh-CN"/>
              <a:t>It is expressed in mm/m</a:t>
            </a:r>
            <a:r>
              <a:rPr lang="zh-CN" altLang="en-US"/>
              <a:t>.</a:t>
            </a:r>
          </a:p>
          <a:p>
            <a:pPr lvl="0">
              <a:buFont typeface="Wingdings" pitchFamily="2" charset="2"/>
              <a:buChar char="Ø"/>
            </a:pPr>
            <a:r>
              <a:rPr lang="en-US" altLang="zh-CN"/>
              <a:t>Shrinkage allowance </a:t>
            </a:r>
            <a:r>
              <a:rPr lang="zh-CN" altLang="en-US"/>
              <a:t>Differs from material to material.</a:t>
            </a:r>
          </a:p>
          <a:p>
            <a:pPr lvl="0">
              <a:buFont typeface="Wingdings" pitchFamily="2" charset="2"/>
              <a:buChar char="Ø"/>
            </a:pPr>
            <a:r>
              <a:rPr lang="zh-CN" altLang="en-US"/>
              <a:t>Positive type of allowance.</a:t>
            </a:r>
          </a:p>
          <a:p>
            <a:pPr lvl="0">
              <a:lnSpc>
                <a:spcPct val="150000"/>
              </a:lnSpc>
              <a:buNone/>
            </a:pPr>
            <a:endParaRPr lang="zh-CN" altLang="en-US"/>
          </a:p>
          <a:p>
            <a:pPr lvl="0">
              <a:lnSpc>
                <a:spcPct val="150000"/>
              </a:lnSpc>
              <a:buNone/>
            </a:pPr>
            <a:endParaRPr lang="zh-CN" altLang="en-US"/>
          </a:p>
        </p:txBody>
      </p:sp>
      <p:pic>
        <p:nvPicPr>
          <p:cNvPr id="2097168" name="Picture 2097167"/>
          <p:cNvPicPr>
            <a:picLocks/>
          </p:cNvPicPr>
          <p:nvPr/>
        </p:nvPicPr>
        <p:blipFill>
          <a:blip r:embed="rId2" cstate="print"/>
          <a:srcRect/>
          <a:stretch>
            <a:fillRect/>
          </a:stretch>
        </p:blipFill>
        <p:spPr>
          <a:xfrm>
            <a:off x="2297112" y="3886200"/>
            <a:ext cx="6008687" cy="2725737"/>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Title 1048660"/>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62" name="Content Placeholder 1048661"/>
          <p:cNvSpPr>
            <a:spLocks noGrp="1"/>
          </p:cNvSpPr>
          <p:nvPr>
            <p:ph sz="half" idx="1"/>
          </p:nvPr>
        </p:nvSpPr>
        <p:spPr>
          <a:xfrm>
            <a:off x="1828800" y="1197901"/>
            <a:ext cx="7339445" cy="5431498"/>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b="1" u="sng"/>
              <a:t>Draft / Taper Allowance:</a:t>
            </a:r>
          </a:p>
          <a:p>
            <a:pPr lvl="0">
              <a:lnSpc>
                <a:spcPct val="150000"/>
              </a:lnSpc>
            </a:pPr>
            <a:endParaRPr lang="zh-CN" altLang="en-US" b="1" u="sng"/>
          </a:p>
          <a:p>
            <a:pPr lvl="0">
              <a:lnSpc>
                <a:spcPct val="150000"/>
              </a:lnSpc>
            </a:pPr>
            <a:endParaRPr lang="zh-CN" altLang="en-US" b="1" u="sng"/>
          </a:p>
          <a:p>
            <a:pPr lvl="0">
              <a:lnSpc>
                <a:spcPct val="150000"/>
              </a:lnSpc>
            </a:pPr>
            <a:endParaRPr lang="zh-CN" altLang="en-US" b="1" u="sng"/>
          </a:p>
          <a:p>
            <a:pPr lvl="0">
              <a:lnSpc>
                <a:spcPct val="150000"/>
              </a:lnSpc>
            </a:pPr>
            <a:endParaRPr lang="zh-CN" altLang="en-US" b="1" u="sng"/>
          </a:p>
          <a:p>
            <a:pPr lvl="0"/>
            <a:r>
              <a:rPr lang="zh-CN" altLang="en-US"/>
              <a:t>Taper provided by the pattern maker on all vertical surfaces of the pattern so that it can be removed from the sand without tearing away the sides of the sand mould.</a:t>
            </a:r>
          </a:p>
          <a:p>
            <a:pPr lvl="0"/>
            <a:r>
              <a:rPr lang="zh-CN" altLang="en-US"/>
              <a:t>Inner details of the pattern require higher draft than outer surfaces.</a:t>
            </a:r>
          </a:p>
          <a:p>
            <a:pPr lvl="0"/>
            <a:r>
              <a:rPr lang="en-US" altLang="zh-CN"/>
              <a:t>commonly applied draught allowance is 1</a:t>
            </a:r>
            <a:r>
              <a:rPr lang="zh-CN" altLang="en-US"/>
              <a:t>°</a:t>
            </a:r>
            <a:r>
              <a:rPr lang="en-US" altLang="zh-CN"/>
              <a:t>to 3</a:t>
            </a:r>
            <a:r>
              <a:rPr lang="zh-CN" altLang="en-US"/>
              <a:t>°</a:t>
            </a:r>
          </a:p>
          <a:p>
            <a:pPr lvl="0"/>
            <a:r>
              <a:rPr lang="en-US" altLang="zh-CN"/>
              <a:t>due to draught allowance pattern can easily removed from mould box </a:t>
            </a:r>
            <a:endParaRPr lang="zh-CN" altLang="en-US"/>
          </a:p>
        </p:txBody>
      </p:sp>
      <p:pic>
        <p:nvPicPr>
          <p:cNvPr id="2097169" name="Picture 2097168"/>
          <p:cNvPicPr>
            <a:picLocks/>
          </p:cNvPicPr>
          <p:nvPr/>
        </p:nvPicPr>
        <p:blipFill>
          <a:blip r:embed="rId2" cstate="print"/>
          <a:srcRect/>
          <a:stretch>
            <a:fillRect/>
          </a:stretch>
        </p:blipFill>
        <p:spPr>
          <a:xfrm>
            <a:off x="1659294" y="1947861"/>
            <a:ext cx="3733800" cy="1562100"/>
          </a:xfrm>
          <a:prstGeom prst="rect">
            <a:avLst/>
          </a:prstGeom>
          <a:noFill/>
          <a:ln>
            <a:noFill/>
          </a:ln>
        </p:spPr>
      </p:pic>
      <p:pic>
        <p:nvPicPr>
          <p:cNvPr id="2097170" name="Picture 2097169"/>
          <p:cNvPicPr>
            <a:picLocks/>
          </p:cNvPicPr>
          <p:nvPr/>
        </p:nvPicPr>
        <p:blipFill>
          <a:blip r:embed="rId3" cstate="print"/>
          <a:srcRect/>
          <a:stretch>
            <a:fillRect/>
          </a:stretch>
        </p:blipFill>
        <p:spPr>
          <a:xfrm>
            <a:off x="5105399" y="1633536"/>
            <a:ext cx="3857625" cy="1876425"/>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3" name="Title 1048662"/>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Pattern Allowances</a:t>
            </a:r>
          </a:p>
        </p:txBody>
      </p:sp>
      <p:sp>
        <p:nvSpPr>
          <p:cNvPr id="1048664" name="Content Placeholder 1048663"/>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b="1" u="sng"/>
              <a:t>Draft / Taper Allowance:</a:t>
            </a:r>
          </a:p>
          <a:p>
            <a:pPr lvl="0">
              <a:buNone/>
            </a:pPr>
            <a:endParaRPr lang="zh-CN" altLang="en-US"/>
          </a:p>
          <a:p>
            <a:pPr lvl="0"/>
            <a:r>
              <a:rPr lang="zh-CN" altLang="en-US"/>
              <a:t>The amount of draft depends upon-</a:t>
            </a:r>
          </a:p>
          <a:p>
            <a:pPr marL="914400" lvl="1" indent="-548640">
              <a:lnSpc>
                <a:spcPct val="150000"/>
              </a:lnSpc>
              <a:buFont typeface="Arial" charset="0"/>
              <a:buAutoNum type="arabicPeriod"/>
            </a:pPr>
            <a:r>
              <a:rPr lang="zh-CN" altLang="en-US"/>
              <a:t>The length of the vertical side of the pattern to be extracted; </a:t>
            </a:r>
          </a:p>
          <a:p>
            <a:pPr marL="914400" lvl="1" indent="-548640">
              <a:lnSpc>
                <a:spcPct val="150000"/>
              </a:lnSpc>
              <a:buFont typeface="Arial" charset="0"/>
              <a:buAutoNum type="arabicPeriod"/>
            </a:pPr>
            <a:r>
              <a:rPr lang="zh-CN" altLang="en-US"/>
              <a:t>The intricacy of the pattern; </a:t>
            </a:r>
          </a:p>
          <a:p>
            <a:pPr marL="914400" lvl="1" indent="-548640">
              <a:lnSpc>
                <a:spcPct val="150000"/>
              </a:lnSpc>
              <a:buFont typeface="Arial" charset="0"/>
              <a:buAutoNum type="arabicPeriod"/>
            </a:pPr>
            <a:r>
              <a:rPr lang="zh-CN" altLang="en-US"/>
              <a:t>The method of moulding</a:t>
            </a:r>
          </a:p>
          <a:p>
            <a:pPr marL="914400" lvl="1" indent="-548640">
              <a:lnSpc>
                <a:spcPct val="150000"/>
              </a:lnSpc>
              <a:buFont typeface="Arial" charset="0"/>
              <a:buAutoNum type="arabicPeriod"/>
            </a:pPr>
            <a:r>
              <a:rPr lang="zh-CN" altLang="en-US"/>
              <a:t>Pattern material.</a:t>
            </a:r>
          </a:p>
        </p:txBody>
      </p:sp>
    </p:spTree>
  </p:cSld>
  <p:clrMapOvr>
    <a:masterClrMapping/>
  </p:clrMapOvr>
  <p:transition advClick="0">
    <p:cu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5" name="Title 104866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Pattern Allowances</a:t>
            </a:r>
          </a:p>
        </p:txBody>
      </p:sp>
      <p:pic>
        <p:nvPicPr>
          <p:cNvPr id="2097171" name="Content Placeholder 2097170"/>
          <p:cNvPicPr>
            <a:picLocks noGrp="1"/>
          </p:cNvPicPr>
          <p:nvPr>
            <p:ph idx="1"/>
          </p:nvPr>
        </p:nvPicPr>
        <p:blipFill>
          <a:blip r:embed="rId2" cstate="print"/>
          <a:srcRect/>
          <a:stretch>
            <a:fillRect/>
          </a:stretch>
        </p:blipFill>
        <p:spPr>
          <a:xfrm>
            <a:off x="1933575" y="1852612"/>
            <a:ext cx="6257925" cy="4090987"/>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Title 1048665"/>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67" name="Content Placeholder 1048666"/>
          <p:cNvSpPr>
            <a:spLocks noGrp="1"/>
          </p:cNvSpPr>
          <p:nvPr>
            <p:ph sz="half" idx="1"/>
          </p:nvPr>
        </p:nvSpPr>
        <p:spPr>
          <a:xfrm>
            <a:off x="1828800" y="1447800"/>
            <a:ext cx="7287491" cy="51816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b="1" u="sng"/>
              <a:t>Machining  / Finishing Allowance:</a:t>
            </a:r>
          </a:p>
          <a:p>
            <a:pPr lvl="0">
              <a:lnSpc>
                <a:spcPct val="150000"/>
              </a:lnSpc>
            </a:pPr>
            <a:r>
              <a:rPr lang="zh-CN" altLang="en-US"/>
              <a:t>The finish and accuracy in sand casting is generally poor.</a:t>
            </a:r>
          </a:p>
          <a:p>
            <a:pPr lvl="0"/>
            <a:r>
              <a:rPr lang="zh-CN" altLang="en-US"/>
              <a:t>Extra material provided on the casting to enable their machining or finishing to the required size, accuracy and surface finish.</a:t>
            </a:r>
          </a:p>
          <a:p>
            <a:pPr lvl="0"/>
            <a:r>
              <a:rPr lang="en-US" altLang="zh-CN"/>
              <a:t>So it is </a:t>
            </a:r>
            <a:r>
              <a:rPr lang="zh-CN" altLang="en-US"/>
              <a:t>Added in pattern dimensions.</a:t>
            </a:r>
          </a:p>
          <a:p>
            <a:pPr lvl="0"/>
            <a:r>
              <a:rPr lang="en-US" altLang="zh-CN"/>
              <a:t>allowance is provided only in machining area</a:t>
            </a:r>
            <a:endParaRPr lang="zh-CN" altLang="en-US"/>
          </a:p>
          <a:p>
            <a:pPr lvl="0"/>
            <a:r>
              <a:rPr lang="zh-CN" altLang="en-US"/>
              <a:t>Amount of machining allowance depends upon:</a:t>
            </a:r>
          </a:p>
          <a:p>
            <a:pPr marL="800100" lvl="1" indent="-480060">
              <a:buFont typeface="Arial" charset="0"/>
              <a:buAutoNum type="arabicPeriod"/>
            </a:pPr>
            <a:r>
              <a:rPr lang="zh-CN" altLang="en-US" sz="1600"/>
              <a:t>Method of moulding and casting used</a:t>
            </a:r>
          </a:p>
          <a:p>
            <a:pPr marL="800100" lvl="1" indent="-480060">
              <a:buFont typeface="Arial" charset="0"/>
              <a:buAutoNum type="arabicPeriod"/>
            </a:pPr>
            <a:r>
              <a:rPr lang="zh-CN" altLang="en-US" sz="1600"/>
              <a:t>Size and shape of casting</a:t>
            </a:r>
          </a:p>
          <a:p>
            <a:pPr marL="800100" lvl="1" indent="-480060">
              <a:buFont typeface="Arial" charset="0"/>
              <a:buAutoNum type="arabicPeriod"/>
            </a:pPr>
            <a:r>
              <a:rPr lang="zh-CN" altLang="en-US" sz="1600"/>
              <a:t>Casting orientation</a:t>
            </a:r>
          </a:p>
          <a:p>
            <a:pPr marL="800100" lvl="1" indent="-480060">
              <a:buFont typeface="Arial" charset="0"/>
              <a:buAutoNum type="arabicPeriod"/>
            </a:pPr>
            <a:r>
              <a:rPr lang="zh-CN" altLang="en-US" sz="1600"/>
              <a:t>Metal used in casting</a:t>
            </a:r>
          </a:p>
          <a:p>
            <a:pPr marL="800100" lvl="1" indent="-480060">
              <a:buFont typeface="Arial" charset="0"/>
              <a:buAutoNum type="arabicPeriod"/>
            </a:pPr>
            <a:r>
              <a:rPr lang="zh-CN" altLang="en-US" sz="1600"/>
              <a:t>Degree of accuracy and finish required</a:t>
            </a:r>
          </a:p>
          <a:p>
            <a:pPr lvl="0">
              <a:buNone/>
            </a:pPr>
            <a:endParaRPr lang="zh-CN" altLang="en-US" sz="1800"/>
          </a:p>
          <a:p>
            <a:pPr lvl="0"/>
            <a:endParaRPr lang="zh-CN" altLang="en-US" sz="1800"/>
          </a:p>
          <a:p>
            <a:pPr lvl="0">
              <a:lnSpc>
                <a:spcPct val="150000"/>
              </a:lnSpc>
              <a:buNone/>
            </a:pPr>
            <a:endParaRPr lang="zh-CN" altLang="en-US" b="1" u="sng"/>
          </a:p>
        </p:txBody>
      </p:sp>
    </p:spTree>
  </p:cSld>
  <p:clrMapOvr>
    <a:masterClrMapping/>
  </p:clrMapOvr>
  <p:transition advClick="0">
    <p:cu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Title 1048667"/>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Pattern Allowances</a:t>
            </a:r>
          </a:p>
        </p:txBody>
      </p:sp>
      <p:pic>
        <p:nvPicPr>
          <p:cNvPr id="2097172" name="Content Placeholder 2097171"/>
          <p:cNvPicPr>
            <a:picLocks noGrp="1"/>
          </p:cNvPicPr>
          <p:nvPr>
            <p:ph sz="half" idx="2"/>
          </p:nvPr>
        </p:nvPicPr>
        <p:blipFill>
          <a:blip r:embed="rId2" cstate="print"/>
          <a:srcRect/>
          <a:stretch>
            <a:fillRect/>
          </a:stretch>
        </p:blipFill>
        <p:spPr>
          <a:xfrm>
            <a:off x="2133600" y="1981200"/>
            <a:ext cx="6172200" cy="3906837"/>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Title 104866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70" name="Content Placeholder 1048669"/>
          <p:cNvSpPr>
            <a:spLocks noGrp="1"/>
          </p:cNvSpPr>
          <p:nvPr>
            <p:ph sz="half" idx="1"/>
          </p:nvPr>
        </p:nvSpPr>
        <p:spPr>
          <a:xfrm>
            <a:off x="1828800" y="1447800"/>
            <a:ext cx="6629400" cy="51816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b="1" u="sng"/>
              <a:t>Distortion / Camber Allowance:</a:t>
            </a:r>
          </a:p>
          <a:p>
            <a:pPr lvl="0"/>
            <a:r>
              <a:rPr lang="zh-CN" altLang="en-US" sz="1800"/>
              <a:t>Due to their typical shapes (U,V,T,L shapes) , castings get distorted during solidification.</a:t>
            </a:r>
          </a:p>
          <a:p>
            <a:pPr lvl="0"/>
            <a:r>
              <a:rPr lang="en-US" altLang="zh-CN" sz="1900"/>
              <a:t>Distortion is observed in irregular castings so that it shrink in uneven manner </a:t>
            </a:r>
            <a:endParaRPr lang="zh-CN" altLang="en-US" sz="1900"/>
          </a:p>
          <a:p>
            <a:pPr lvl="0"/>
            <a:r>
              <a:rPr lang="zh-CN" altLang="en-US" sz="1800"/>
              <a:t>Distortions are caused by internal stresses which are generated on account of unequal cooling of different sections of casting.</a:t>
            </a:r>
          </a:p>
          <a:p>
            <a:pPr lvl="0"/>
            <a:r>
              <a:rPr lang="en-US" altLang="zh-CN" sz="1900"/>
              <a:t>To avoid this distortion allowance is provided </a:t>
            </a:r>
            <a:endParaRPr lang="zh-CN" altLang="en-US" sz="1900"/>
          </a:p>
          <a:p>
            <a:pPr lvl="0">
              <a:lnSpc>
                <a:spcPct val="150000"/>
              </a:lnSpc>
            </a:pPr>
            <a:r>
              <a:rPr lang="en-US" altLang="zh-CN" sz="1800"/>
              <a:t>It varies from 2 to 20 mm</a:t>
            </a:r>
            <a:endParaRPr lang="zh-CN" altLang="en-US" sz="1800"/>
          </a:p>
          <a:p>
            <a:pPr lvl="0">
              <a:buNone/>
            </a:pPr>
            <a:endParaRPr lang="zh-CN" altLang="en-US" sz="1800"/>
          </a:p>
          <a:p>
            <a:pPr lvl="0"/>
            <a:endParaRPr lang="zh-CN" altLang="en-US" sz="1800"/>
          </a:p>
          <a:p>
            <a:pPr lvl="0">
              <a:lnSpc>
                <a:spcPct val="150000"/>
              </a:lnSpc>
              <a:buNone/>
            </a:pPr>
            <a:endParaRPr lang="zh-CN" altLang="en-US" b="1" u="sng"/>
          </a:p>
        </p:txBody>
      </p:sp>
      <p:pic>
        <p:nvPicPr>
          <p:cNvPr id="2097173" name="Picture 2097172"/>
          <p:cNvPicPr>
            <a:picLocks/>
          </p:cNvPicPr>
          <p:nvPr/>
        </p:nvPicPr>
        <p:blipFill>
          <a:blip r:embed="rId2" cstate="print"/>
          <a:srcRect/>
          <a:stretch>
            <a:fillRect/>
          </a:stretch>
        </p:blipFill>
        <p:spPr>
          <a:xfrm>
            <a:off x="4991100" y="4468340"/>
            <a:ext cx="2878141" cy="1966229"/>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Title 1048670"/>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72" name="Content Placeholder 1048671"/>
          <p:cNvSpPr>
            <a:spLocks noGrp="1"/>
          </p:cNvSpPr>
          <p:nvPr>
            <p:ph sz="half" idx="1"/>
          </p:nvPr>
        </p:nvSpPr>
        <p:spPr>
          <a:xfrm>
            <a:off x="1828800" y="1447800"/>
            <a:ext cx="6629400" cy="51816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b="1" u="sng"/>
              <a:t>Rapping / shake Allowance:</a:t>
            </a:r>
          </a:p>
          <a:p>
            <a:pPr lvl="0"/>
            <a:r>
              <a:rPr lang="zh-CN" altLang="en-US" sz="1800"/>
              <a:t>Before the withdrawal from the sand mould, the pattern is rapped all around the vertical faces to enlarge the mould cavity slightly, which facilitate its removal.</a:t>
            </a:r>
          </a:p>
          <a:p>
            <a:pPr lvl="0"/>
            <a:r>
              <a:rPr lang="zh-CN" altLang="en-US" sz="1800"/>
              <a:t>When pattern is rapped, mould cavity is enlarged.</a:t>
            </a:r>
          </a:p>
          <a:p>
            <a:pPr lvl="0"/>
            <a:r>
              <a:rPr lang="zh-CN" altLang="en-US" sz="1800"/>
              <a:t>To account for this increase, pattern size is reduced.</a:t>
            </a:r>
          </a:p>
          <a:p>
            <a:pPr lvl="0"/>
            <a:r>
              <a:rPr lang="zh-CN" altLang="en-US" sz="1800"/>
              <a:t>This allowance is important in large-sized castings and precision castings.</a:t>
            </a:r>
          </a:p>
          <a:p>
            <a:pPr lvl="0"/>
            <a:r>
              <a:rPr lang="zh-CN" altLang="en-US" sz="1800"/>
              <a:t>Amount of rapping allowance depends upon:</a:t>
            </a:r>
          </a:p>
          <a:p>
            <a:pPr marL="800100" lvl="1" indent="-480060">
              <a:buFont typeface="Arial" charset="0"/>
              <a:buAutoNum type="arabicPeriod"/>
            </a:pPr>
            <a:r>
              <a:rPr lang="zh-CN" altLang="en-US" sz="1600"/>
              <a:t>Extent of rapping</a:t>
            </a:r>
          </a:p>
          <a:p>
            <a:pPr marL="800100" lvl="1" indent="-480060">
              <a:buFont typeface="Arial" charset="0"/>
              <a:buAutoNum type="arabicPeriod"/>
            </a:pPr>
            <a:r>
              <a:rPr lang="zh-CN" altLang="en-US" sz="1600"/>
              <a:t>Degree of compaction of sand</a:t>
            </a:r>
          </a:p>
          <a:p>
            <a:pPr marL="800100" lvl="1" indent="-480060">
              <a:buFont typeface="Arial" charset="0"/>
              <a:buAutoNum type="arabicPeriod"/>
            </a:pPr>
            <a:r>
              <a:rPr lang="zh-CN" altLang="en-US" sz="1600"/>
              <a:t>Size of mould</a:t>
            </a:r>
          </a:p>
          <a:p>
            <a:pPr marL="800100" lvl="1" indent="-480060">
              <a:buFont typeface="Arial" charset="0"/>
              <a:buAutoNum type="arabicPeriod"/>
            </a:pPr>
            <a:r>
              <a:rPr lang="zh-CN" altLang="en-US" sz="1600"/>
              <a:t>Sand type</a:t>
            </a:r>
          </a:p>
          <a:p>
            <a:pPr lvl="0">
              <a:buNone/>
            </a:pPr>
            <a:endParaRPr lang="zh-CN" altLang="en-US" sz="1800"/>
          </a:p>
          <a:p>
            <a:pPr lvl="0"/>
            <a:endParaRPr lang="zh-CN" altLang="en-US" sz="1800"/>
          </a:p>
          <a:p>
            <a:pPr lvl="0">
              <a:lnSpc>
                <a:spcPct val="150000"/>
              </a:lnSpc>
              <a:buNone/>
            </a:pPr>
            <a:endParaRPr lang="zh-CN" altLang="en-US" b="1" u="sng"/>
          </a:p>
        </p:txBody>
      </p:sp>
    </p:spTree>
  </p:cSld>
  <p:clrMapOvr>
    <a:masterClrMapping/>
  </p:clrMapOvr>
  <p:transition advClick="0">
    <p:cu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Content Placeholder 1048673"/>
          <p:cNvSpPr>
            <a:spLocks noGrp="1"/>
          </p:cNvSpPr>
          <p:nvPr>
            <p:ph idx="1"/>
          </p:nvPr>
        </p:nvSpPr>
        <p:spPr>
          <a:xfrm>
            <a:off x="1308178" y="1201016"/>
            <a:ext cx="7834090" cy="5677936"/>
          </a:xfrm>
        </p:spPr>
        <p:txBody>
          <a:bodyPr/>
          <a:lstStyle/>
          <a:p>
            <a:pPr lvl="0">
              <a:buFont typeface="Wingdings" charset="2"/>
              <a:buChar char="n"/>
            </a:pPr>
            <a:r>
              <a:rPr lang="en-US"/>
              <a:t>It include carpenter tools and some special tool</a:t>
            </a:r>
          </a:p>
          <a:p>
            <a:pPr marL="457200" lvl="0" indent="-457200">
              <a:buFont typeface="+mj-lt"/>
              <a:buAutoNum type="arabicPeriod"/>
            </a:pPr>
            <a:r>
              <a:rPr lang="en-US" sz="2000" b="1"/>
              <a:t>Contraction scale</a:t>
            </a:r>
            <a:r>
              <a:rPr lang="en-US" altLang="en-US" sz="2000" b="1"/>
              <a:t>- </a:t>
            </a:r>
            <a:r>
              <a:rPr lang="en-US" altLang="en-US" sz="2000" b="0"/>
              <a:t>It is used to measure pattern dimensions include various allowances.It is metallic scale of 300 or 500 mm length</a:t>
            </a:r>
            <a:endParaRPr lang="en-US"/>
          </a:p>
          <a:p>
            <a:pPr marL="457200" lvl="0" indent="-457200">
              <a:buFont typeface="+mj-lt"/>
              <a:buAutoNum type="arabicPeriod"/>
            </a:pPr>
            <a:r>
              <a:rPr lang="en-US" altLang="en-US" sz="2000" b="1"/>
              <a:t>Combination set- </a:t>
            </a:r>
            <a:r>
              <a:rPr lang="en-US" altLang="en-US" sz="2000" b="0"/>
              <a:t>It generally used for pattern making.It is used to measure angles,pependicularity,locate centre on cylindrical job.</a:t>
            </a:r>
            <a:endParaRPr lang="en-US"/>
          </a:p>
          <a:p>
            <a:pPr marL="457200" lvl="0" indent="-457200">
              <a:buFont typeface="+mj-lt"/>
              <a:buAutoNum type="arabicPeriod"/>
            </a:pPr>
            <a:r>
              <a:rPr lang="en-US" altLang="en-US" sz="2100" b="1"/>
              <a:t>Callipers-</a:t>
            </a:r>
            <a:r>
              <a:rPr lang="en-US" altLang="en-US" sz="2100" b="0"/>
              <a:t> They are of internal or external type.Generally used to measure internal or external diameters of patterns.</a:t>
            </a:r>
            <a:endParaRPr lang="en-US"/>
          </a:p>
        </p:txBody>
      </p:sp>
      <p:sp>
        <p:nvSpPr>
          <p:cNvPr id="1048675" name="Title 1048674"/>
          <p:cNvSpPr>
            <a:spLocks noGrp="1"/>
          </p:cNvSpPr>
          <p:nvPr>
            <p:ph type="title"/>
          </p:nvPr>
        </p:nvSpPr>
        <p:spPr/>
        <p:txBody>
          <a:bodyPr/>
          <a:lstStyle/>
          <a:p>
            <a:r>
              <a:rPr lang="en-US"/>
              <a:t>Tools </a:t>
            </a:r>
          </a:p>
        </p:txBody>
      </p:sp>
      <p:pic>
        <p:nvPicPr>
          <p:cNvPr id="2097174" name="Picture 2097173"/>
          <p:cNvPicPr>
            <a:picLocks/>
          </p:cNvPicPr>
          <p:nvPr/>
        </p:nvPicPr>
        <p:blipFill>
          <a:blip r:embed="rId2"/>
          <a:stretch>
            <a:fillRect/>
          </a:stretch>
        </p:blipFill>
        <p:spPr>
          <a:xfrm flipV="1">
            <a:off x="512248" y="4358824"/>
            <a:ext cx="3344263" cy="1061099"/>
          </a:xfrm>
          <a:prstGeom prst="rect">
            <a:avLst/>
          </a:prstGeom>
        </p:spPr>
      </p:pic>
      <p:pic>
        <p:nvPicPr>
          <p:cNvPr id="2097175" name="Picture 2097174"/>
          <p:cNvPicPr>
            <a:picLocks/>
          </p:cNvPicPr>
          <p:nvPr/>
        </p:nvPicPr>
        <p:blipFill>
          <a:blip r:embed="rId3"/>
          <a:stretch>
            <a:fillRect/>
          </a:stretch>
        </p:blipFill>
        <p:spPr>
          <a:xfrm>
            <a:off x="5225222" y="4358824"/>
            <a:ext cx="3708921" cy="2364402"/>
          </a:xfrm>
          <a:prstGeom prst="rect">
            <a:avLst/>
          </a:prstGeom>
        </p:spPr>
      </p:pic>
      <p:pic>
        <p:nvPicPr>
          <p:cNvPr id="2097176" name="Picture 2097175"/>
          <p:cNvPicPr>
            <a:picLocks/>
          </p:cNvPicPr>
          <p:nvPr/>
        </p:nvPicPr>
        <p:blipFill>
          <a:blip r:embed="rId4"/>
          <a:stretch>
            <a:fillRect/>
          </a:stretch>
        </p:blipFill>
        <p:spPr>
          <a:xfrm>
            <a:off x="2721924" y="5101083"/>
            <a:ext cx="2269175" cy="2164773"/>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Content Placeholder 1048675"/>
          <p:cNvSpPr>
            <a:spLocks noGrp="1"/>
          </p:cNvSpPr>
          <p:nvPr>
            <p:ph idx="1"/>
          </p:nvPr>
        </p:nvSpPr>
        <p:spPr/>
        <p:txBody>
          <a:bodyPr/>
          <a:lstStyle/>
          <a:p>
            <a:pPr marL="457200" lvl="0" indent="-457200">
              <a:buFont typeface="+mj-lt"/>
              <a:buAutoNum type="arabicPeriod"/>
            </a:pPr>
            <a:r>
              <a:rPr lang="en-US" altLang="en-US" sz="2100" b="1"/>
              <a:t>Ratchet brace- </a:t>
            </a:r>
            <a:r>
              <a:rPr lang="en-US" altLang="en-US" sz="2100" b="0"/>
              <a:t>This is used to drill holes in horizontal and  vertical plane.</a:t>
            </a:r>
            <a:endParaRPr lang="en-US" sz="2100"/>
          </a:p>
          <a:p>
            <a:pPr marL="457200" lvl="0" indent="-457200">
              <a:buFont typeface="+mj-lt"/>
              <a:buAutoNum type="arabicPeriod"/>
            </a:pPr>
            <a:r>
              <a:rPr lang="en-US" altLang="en-US" sz="2100" b="1"/>
              <a:t>Wheel brace- </a:t>
            </a:r>
            <a:r>
              <a:rPr lang="en-US" altLang="en-US" sz="2100" b="0"/>
              <a:t>It produce only small holes. It can drill small holes accurately nd quickly.</a:t>
            </a:r>
            <a:endParaRPr lang="en-US" sz="2100"/>
          </a:p>
          <a:p>
            <a:pPr marL="457200" lvl="0" indent="-457200">
              <a:buFont typeface="+mj-lt"/>
              <a:buAutoNum type="arabicPeriod"/>
            </a:pPr>
            <a:r>
              <a:rPr lang="en-US" altLang="en-US" sz="2100" b="1"/>
              <a:t>Back saw and plane- </a:t>
            </a:r>
            <a:r>
              <a:rPr lang="en-US" altLang="en-US" sz="2100" b="0"/>
              <a:t>They are used for Curtin and parting operations. </a:t>
            </a:r>
            <a:r>
              <a:rPr lang="en-US" altLang="en-US" sz="2100" b="1"/>
              <a:t> </a:t>
            </a:r>
            <a:endParaRPr lang="en-US" sz="2100"/>
          </a:p>
        </p:txBody>
      </p:sp>
      <p:sp>
        <p:nvSpPr>
          <p:cNvPr id="1048677" name="Title 1048676"/>
          <p:cNvSpPr>
            <a:spLocks noGrp="1"/>
          </p:cNvSpPr>
          <p:nvPr>
            <p:ph type="title"/>
          </p:nvPr>
        </p:nvSpPr>
        <p:spPr/>
        <p:txBody>
          <a:bodyPr/>
          <a:lstStyle/>
          <a:p>
            <a:r>
              <a:rPr lang="en-US"/>
              <a:t>Tools</a:t>
            </a:r>
          </a:p>
        </p:txBody>
      </p:sp>
      <p:pic>
        <p:nvPicPr>
          <p:cNvPr id="2097177" name="Picture 2097176"/>
          <p:cNvPicPr>
            <a:picLocks/>
          </p:cNvPicPr>
          <p:nvPr/>
        </p:nvPicPr>
        <p:blipFill>
          <a:blip r:embed="rId2"/>
          <a:stretch>
            <a:fillRect/>
          </a:stretch>
        </p:blipFill>
        <p:spPr>
          <a:xfrm>
            <a:off x="656722" y="3698758"/>
            <a:ext cx="2496555" cy="2244842"/>
          </a:xfrm>
          <a:prstGeom prst="rect">
            <a:avLst/>
          </a:prstGeom>
        </p:spPr>
      </p:pic>
      <p:pic>
        <p:nvPicPr>
          <p:cNvPr id="2097178" name="Picture 2097177"/>
          <p:cNvPicPr>
            <a:picLocks/>
          </p:cNvPicPr>
          <p:nvPr/>
        </p:nvPicPr>
        <p:blipFill>
          <a:blip r:embed="rId3"/>
          <a:stretch>
            <a:fillRect/>
          </a:stretch>
        </p:blipFill>
        <p:spPr>
          <a:xfrm>
            <a:off x="3345569" y="3678722"/>
            <a:ext cx="2636429" cy="2162190"/>
          </a:xfrm>
          <a:prstGeom prst="rect">
            <a:avLst/>
          </a:prstGeom>
        </p:spPr>
      </p:pic>
      <p:pic>
        <p:nvPicPr>
          <p:cNvPr id="2097179" name="Picture 2097178"/>
          <p:cNvPicPr>
            <a:picLocks/>
          </p:cNvPicPr>
          <p:nvPr/>
        </p:nvPicPr>
        <p:blipFill>
          <a:blip r:embed="rId4"/>
          <a:stretch>
            <a:fillRect/>
          </a:stretch>
        </p:blipFill>
        <p:spPr>
          <a:xfrm>
            <a:off x="6144286" y="3718549"/>
            <a:ext cx="2532624" cy="222505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Content Placeholder 1048677"/>
          <p:cNvSpPr>
            <a:spLocks noGrp="1"/>
          </p:cNvSpPr>
          <p:nvPr>
            <p:ph idx="1"/>
          </p:nvPr>
        </p:nvSpPr>
        <p:spPr/>
        <p:txBody>
          <a:bodyPr/>
          <a:lstStyle/>
          <a:p>
            <a:r>
              <a:rPr lang="en-US"/>
              <a:t>Pattern are coloured by using shellac paints.</a:t>
            </a:r>
          </a:p>
          <a:p>
            <a:r>
              <a:rPr lang="en-US"/>
              <a:t>Colours gives protection and identifies the features of patterns.</a:t>
            </a:r>
          </a:p>
          <a:p>
            <a:r>
              <a:rPr lang="en-US"/>
              <a:t>colour scheme is given as bellow</a:t>
            </a:r>
          </a:p>
        </p:txBody>
      </p:sp>
      <p:sp>
        <p:nvSpPr>
          <p:cNvPr id="1048679" name="Title 1048678"/>
          <p:cNvSpPr>
            <a:spLocks noGrp="1"/>
          </p:cNvSpPr>
          <p:nvPr>
            <p:ph type="title"/>
          </p:nvPr>
        </p:nvSpPr>
        <p:spPr/>
        <p:txBody>
          <a:bodyPr/>
          <a:lstStyle/>
          <a:p>
            <a:r>
              <a:rPr lang="en-US" b="1"/>
              <a:t>COLOUR CODING FOR PATTERN</a:t>
            </a:r>
            <a:endParaRPr lang="en-US"/>
          </a:p>
        </p:txBody>
      </p:sp>
      <p:graphicFrame>
        <p:nvGraphicFramePr>
          <p:cNvPr id="4194304" name="Table 4194303"/>
          <p:cNvGraphicFramePr>
            <a:graphicFrameLocks/>
          </p:cNvGraphicFramePr>
          <p:nvPr/>
        </p:nvGraphicFramePr>
        <p:xfrm>
          <a:off x="1353695" y="3157067"/>
          <a:ext cx="7790304" cy="3632199"/>
        </p:xfrm>
        <a:graphic>
          <a:graphicData uri="http://schemas.openxmlformats.org/drawingml/2006/table">
            <a:tbl>
              <a:tblPr firstRow="1">
                <a:tableStyleId>{5C22544A-7EE6-4342-B048-85BDC9FD1C3B}</a:tableStyleId>
              </a:tblPr>
              <a:tblGrid>
                <a:gridCol w="3895152"/>
                <a:gridCol w="3895152"/>
              </a:tblGrid>
              <a:tr h="510540">
                <a:tc>
                  <a:txBody>
                    <a:bodyPr/>
                    <a:lstStyle/>
                    <a:p>
                      <a:r>
                        <a:rPr lang="en-US" altLang="en-US" sz="2800"/>
                        <a:t>Colour</a:t>
                      </a:r>
                      <a:endParaRPr lang="en-US" altLang="en-US"/>
                    </a:p>
                  </a:txBody>
                  <a:tcPr/>
                </a:tc>
                <a:tc>
                  <a:txBody>
                    <a:bodyPr/>
                    <a:lstStyle/>
                    <a:p>
                      <a:r>
                        <a:rPr lang="en-US" altLang="en-US" sz="2800"/>
                        <a:t>Indication</a:t>
                      </a:r>
                      <a:endParaRPr lang="en-US" altLang="en-US"/>
                    </a:p>
                  </a:txBody>
                  <a:tcPr/>
                </a:tc>
              </a:tr>
              <a:tr h="828039">
                <a:tc>
                  <a:txBody>
                    <a:bodyPr/>
                    <a:lstStyle/>
                    <a:p>
                      <a:r>
                        <a:rPr lang="en-US" altLang="en-US" sz="2500"/>
                        <a:t>Black</a:t>
                      </a:r>
                      <a:endParaRPr lang="en-US" altLang="en-US"/>
                    </a:p>
                  </a:txBody>
                  <a:tcPr/>
                </a:tc>
                <a:tc>
                  <a:txBody>
                    <a:bodyPr/>
                    <a:lstStyle/>
                    <a:p>
                      <a:r>
                        <a:rPr lang="en-US" altLang="en-US" sz="2500"/>
                        <a:t>Unfinished surface on casting</a:t>
                      </a:r>
                      <a:endParaRPr lang="en-US" altLang="en-US"/>
                    </a:p>
                  </a:txBody>
                  <a:tcPr/>
                </a:tc>
              </a:tr>
              <a:tr h="828039">
                <a:tc>
                  <a:txBody>
                    <a:bodyPr/>
                    <a:lstStyle/>
                    <a:p>
                      <a:r>
                        <a:rPr lang="en-US" altLang="en-US" sz="2600"/>
                        <a:t>Red</a:t>
                      </a:r>
                      <a:endParaRPr lang="en-US" altLang="en-US"/>
                    </a:p>
                  </a:txBody>
                  <a:tcPr/>
                </a:tc>
                <a:tc>
                  <a:txBody>
                    <a:bodyPr/>
                    <a:lstStyle/>
                    <a:p>
                      <a:r>
                        <a:rPr lang="en-US" altLang="en-US" sz="2500"/>
                        <a:t>Finished surface on casting</a:t>
                      </a:r>
                      <a:endParaRPr lang="en-US" altLang="en-US"/>
                    </a:p>
                  </a:txBody>
                  <a:tcPr/>
                </a:tc>
              </a:tr>
              <a:tr h="472439">
                <a:tc>
                  <a:txBody>
                    <a:bodyPr/>
                    <a:lstStyle/>
                    <a:p>
                      <a:r>
                        <a:rPr lang="en-US" altLang="en-US" sz="2600"/>
                        <a:t>Yellow</a:t>
                      </a:r>
                      <a:endParaRPr lang="en-US" altLang="en-US"/>
                    </a:p>
                  </a:txBody>
                  <a:tcPr/>
                </a:tc>
                <a:tc>
                  <a:txBody>
                    <a:bodyPr/>
                    <a:lstStyle/>
                    <a:p>
                      <a:r>
                        <a:rPr lang="en-US" altLang="en-US" sz="2500"/>
                        <a:t>Core prints</a:t>
                      </a:r>
                    </a:p>
                  </a:txBody>
                  <a:tcPr/>
                </a:tc>
              </a:tr>
              <a:tr h="459739">
                <a:tc>
                  <a:txBody>
                    <a:bodyPr/>
                    <a:lstStyle/>
                    <a:p>
                      <a:r>
                        <a:rPr lang="en-US" altLang="en-US" sz="2500"/>
                        <a:t>Black</a:t>
                      </a:r>
                      <a:endParaRPr lang="en-US" altLang="en-US"/>
                    </a:p>
                  </a:txBody>
                  <a:tcPr/>
                </a:tc>
                <a:tc>
                  <a:txBody>
                    <a:bodyPr/>
                    <a:lstStyle/>
                    <a:p>
                      <a:r>
                        <a:rPr lang="en-US" altLang="en-US" sz="2500"/>
                        <a:t>Parting surface</a:t>
                      </a:r>
                      <a:endParaRPr lang="en-US" altLang="en-US"/>
                    </a:p>
                  </a:txBody>
                  <a:tcPr/>
                </a:tc>
              </a:tr>
              <a:tr h="459739">
                <a:tc>
                  <a:txBody>
                    <a:bodyPr/>
                    <a:lstStyle/>
                    <a:p>
                      <a:r>
                        <a:rPr lang="en-US" altLang="en-US" sz="2500"/>
                        <a:t>Red/yellow strips</a:t>
                      </a:r>
                      <a:endParaRPr lang="en-US" altLang="en-US"/>
                    </a:p>
                  </a:txBody>
                  <a:tcPr/>
                </a:tc>
                <a:tc>
                  <a:txBody>
                    <a:bodyPr/>
                    <a:lstStyle/>
                    <a:p>
                      <a:r>
                        <a:rPr lang="en-US" altLang="en-US" sz="2500"/>
                        <a:t>Seats for loose piece</a:t>
                      </a:r>
                      <a:endParaRPr lang="en-US" altLang="en-US"/>
                    </a:p>
                  </a:txBody>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0" name="Title 1048679"/>
          <p:cNvSpPr>
            <a:spLocks noGrp="1"/>
          </p:cNvSpPr>
          <p:nvPr>
            <p:ph type="title"/>
          </p:nvPr>
        </p:nvSpPr>
        <p:spPr>
          <a:prstGeom prst="rect">
            <a:avLst/>
          </a:prstGeom>
        </p:spPr>
        <p:txBody>
          <a:bodyPr/>
          <a:lstStyle/>
          <a:p>
            <a:r>
              <a:rPr lang="en-US" b="1"/>
              <a:t>COLOUR CODING FOR PATTERN</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Title 1048672"/>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Moulding</a:t>
            </a:r>
          </a:p>
        </p:txBody>
      </p:sp>
      <p:sp>
        <p:nvSpPr>
          <p:cNvPr id="1048682" name="Content Placeholder 1048673"/>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2000"/>
              <a:t>The term moulding process refers to the method of making the mould and the materials used.</a:t>
            </a:r>
          </a:p>
          <a:p>
            <a:pPr lvl="0"/>
            <a:r>
              <a:rPr lang="zh-CN" altLang="en-US" sz="2000"/>
              <a:t>Moulding processes have certain features in common-</a:t>
            </a:r>
          </a:p>
          <a:p>
            <a:pPr lvl="0" algn="just">
              <a:buFont typeface="Arial" charset="0"/>
              <a:buAutoNum type="arabicPeriod"/>
            </a:pPr>
            <a:r>
              <a:rPr lang="zh-CN" altLang="en-US" sz="1800"/>
              <a:t>The use of pattern.</a:t>
            </a:r>
          </a:p>
          <a:p>
            <a:pPr lvl="0" algn="just">
              <a:buFont typeface="Arial" charset="0"/>
              <a:buAutoNum type="arabicPeriod"/>
            </a:pPr>
            <a:r>
              <a:rPr lang="zh-CN" altLang="en-US" sz="1800"/>
              <a:t>Some type of aggregate mixture comprising a refractory and binders.</a:t>
            </a:r>
          </a:p>
          <a:p>
            <a:pPr lvl="0" algn="just">
              <a:buFont typeface="Arial" charset="0"/>
              <a:buAutoNum type="arabicPeriod"/>
            </a:pPr>
            <a:r>
              <a:rPr lang="zh-CN" altLang="en-US" sz="1800"/>
              <a:t> A means of forming the aggregate mixture around the pattern.</a:t>
            </a:r>
          </a:p>
          <a:p>
            <a:pPr lvl="0" algn="just">
              <a:buFont typeface="Arial" charset="0"/>
              <a:buAutoNum type="arabicPeriod"/>
            </a:pPr>
            <a:r>
              <a:rPr lang="zh-CN" altLang="en-US" sz="1800"/>
              <a:t> Hardening of aggregate or developing its bond while in contact with the pattern.</a:t>
            </a:r>
          </a:p>
          <a:p>
            <a:pPr lvl="0" algn="just">
              <a:buFont typeface="Arial" charset="0"/>
              <a:buAutoNum type="arabicPeriod"/>
            </a:pPr>
            <a:r>
              <a:rPr lang="zh-CN" altLang="en-US" sz="1800"/>
              <a:t> Withdrawal of the pattern from the mould.</a:t>
            </a:r>
          </a:p>
          <a:p>
            <a:pPr lvl="0" algn="just">
              <a:buFont typeface="Arial" charset="0"/>
              <a:buAutoNum type="arabicPeriod"/>
            </a:pPr>
            <a:r>
              <a:rPr lang="zh-CN" altLang="en-US" sz="1800"/>
              <a:t> Assembly of the mould and core pieces to make a complete mould, metal then being poured into the mould.</a:t>
            </a:r>
          </a:p>
          <a:p>
            <a:pPr lvl="0">
              <a:buNone/>
            </a:pPr>
            <a:endParaRPr lang="zh-CN" altLang="en-US" sz="2000"/>
          </a:p>
        </p:txBody>
      </p:sp>
    </p:spTree>
  </p:cSld>
  <p:clrMapOvr>
    <a:masterClrMapping/>
  </p:clrMapOvr>
  <p:transition advClick="0">
    <p:cu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3" name="Title 104867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Moulding</a:t>
            </a:r>
          </a:p>
        </p:txBody>
      </p:sp>
      <p:sp>
        <p:nvSpPr>
          <p:cNvPr id="1048684" name="Content Placeholder 1048675"/>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2000"/>
              <a:t>Classification of Moulding Processes:</a:t>
            </a:r>
          </a:p>
          <a:p>
            <a:pPr lvl="0">
              <a:buNone/>
            </a:pPr>
            <a:endParaRPr lang="zh-CN" altLang="en-US" sz="2000"/>
          </a:p>
        </p:txBody>
      </p:sp>
      <p:pic>
        <p:nvPicPr>
          <p:cNvPr id="2097180" name="Picture 2097173"/>
          <p:cNvPicPr>
            <a:picLocks/>
          </p:cNvPicPr>
          <p:nvPr/>
        </p:nvPicPr>
        <p:blipFill>
          <a:blip r:embed="rId2" cstate="print"/>
          <a:srcRect/>
          <a:stretch>
            <a:fillRect/>
          </a:stretch>
        </p:blipFill>
        <p:spPr>
          <a:xfrm>
            <a:off x="1474787" y="1597025"/>
            <a:ext cx="7377112" cy="4657725"/>
          </a:xfrm>
          <a:prstGeom prst="rect">
            <a:avLst/>
          </a:prstGeom>
          <a:noFill/>
          <a:ln>
            <a:noFill/>
          </a:ln>
        </p:spPr>
      </p:pic>
    </p:spTree>
  </p:cSld>
  <p:clrMapOvr>
    <a:masterClrMapping/>
  </p:clrMapOvr>
  <p:transition advClick="0">
    <p:cu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Title 1048676"/>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Types of Moulding Sands</a:t>
            </a:r>
          </a:p>
        </p:txBody>
      </p:sp>
      <p:sp>
        <p:nvSpPr>
          <p:cNvPr id="1048686" name="Content Placeholder 1048677"/>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1800" b="1" u="sng"/>
              <a:t>Green Sand:</a:t>
            </a:r>
          </a:p>
          <a:p>
            <a:pPr lvl="0">
              <a:lnSpc>
                <a:spcPct val="150000"/>
              </a:lnSpc>
              <a:buFont typeface="Wingdings" pitchFamily="2" charset="2"/>
              <a:buChar char="Ø"/>
            </a:pPr>
            <a:r>
              <a:rPr lang="zh-CN" altLang="en-US" sz="1800"/>
              <a:t>Natural sand prepared as a mixture of silica sand with 18-30 % clay and 6-8 % moisture.</a:t>
            </a:r>
          </a:p>
          <a:p>
            <a:pPr lvl="0">
              <a:lnSpc>
                <a:spcPct val="150000"/>
              </a:lnSpc>
              <a:buFont typeface="Wingdings" pitchFamily="2" charset="2"/>
              <a:buChar char="Ø"/>
            </a:pPr>
            <a:r>
              <a:rPr lang="zh-CN" altLang="en-US" sz="1800"/>
              <a:t>Fine, soft, light and porous.</a:t>
            </a:r>
          </a:p>
          <a:p>
            <a:pPr lvl="0">
              <a:lnSpc>
                <a:spcPct val="150000"/>
              </a:lnSpc>
              <a:buFont typeface="Wingdings" pitchFamily="2" charset="2"/>
              <a:buChar char="Ø"/>
            </a:pPr>
            <a:r>
              <a:rPr lang="zh-CN" altLang="en-US" sz="1800"/>
              <a:t>The name ‘Green sand’ employs for damped i.e. it contains moisture and the mould made of this sand is used immediately to pour the molten metal.</a:t>
            </a:r>
          </a:p>
          <a:p>
            <a:pPr lvl="0">
              <a:lnSpc>
                <a:spcPct val="150000"/>
              </a:lnSpc>
              <a:buFont typeface="Wingdings" pitchFamily="2" charset="2"/>
              <a:buChar char="Ø"/>
            </a:pPr>
            <a:r>
              <a:rPr lang="zh-CN" altLang="en-US" sz="1800"/>
              <a:t>Easily available and has low cost.</a:t>
            </a:r>
          </a:p>
          <a:p>
            <a:pPr lvl="0">
              <a:buNone/>
            </a:pPr>
            <a:endParaRPr lang="zh-CN" altLang="en-US" sz="1800"/>
          </a:p>
          <a:p>
            <a:pPr lvl="0">
              <a:buFont typeface="Wingdings" pitchFamily="2" charset="2"/>
              <a:buChar char="Ø"/>
            </a:pPr>
            <a:endParaRPr lang="zh-CN" altLang="en-US" sz="1800"/>
          </a:p>
        </p:txBody>
      </p:sp>
    </p:spTree>
  </p:cSld>
  <p:clrMapOvr>
    <a:masterClrMapping/>
  </p:clrMapOvr>
  <p:transition advClick="0">
    <p:cu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Title 104867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Types of Moulding Sands</a:t>
            </a:r>
          </a:p>
        </p:txBody>
      </p:sp>
      <p:sp>
        <p:nvSpPr>
          <p:cNvPr id="1048688" name="Content Placeholder 1048679"/>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1800" b="1" u="sng"/>
              <a:t>Dry Sand:</a:t>
            </a:r>
          </a:p>
          <a:p>
            <a:pPr lvl="0">
              <a:lnSpc>
                <a:spcPct val="150000"/>
              </a:lnSpc>
              <a:buFont typeface="Wingdings" pitchFamily="2" charset="2"/>
              <a:buChar char="Ø"/>
            </a:pPr>
            <a:r>
              <a:rPr lang="zh-CN" altLang="en-US" sz="1800"/>
              <a:t>Green sand that has been dried or baked </a:t>
            </a:r>
            <a:r>
              <a:rPr lang="en-US" altLang="zh-CN" sz="1800"/>
              <a:t>in between 250</a:t>
            </a:r>
            <a:r>
              <a:rPr lang="zh-CN" altLang="en-US" sz="1800"/>
              <a:t>°</a:t>
            </a:r>
            <a:r>
              <a:rPr lang="en-US" altLang="zh-CN" sz="1800"/>
              <a:t> to 550</a:t>
            </a:r>
            <a:r>
              <a:rPr lang="zh-CN" altLang="en-US" sz="1800"/>
              <a:t>°</a:t>
            </a:r>
            <a:r>
              <a:rPr lang="en-US" altLang="zh-CN" sz="1800"/>
              <a:t> </a:t>
            </a:r>
            <a:r>
              <a:rPr lang="zh-CN" altLang="en-US" sz="1800"/>
              <a:t>in suitable oven after the making mould and cores, is called dry sand.</a:t>
            </a:r>
            <a:endParaRPr lang="zh-CN" altLang="en-US"/>
          </a:p>
          <a:p>
            <a:pPr lvl="0">
              <a:lnSpc>
                <a:spcPct val="150000"/>
              </a:lnSpc>
              <a:buFont typeface="Wingdings" pitchFamily="2" charset="2"/>
              <a:buChar char="Ø"/>
            </a:pPr>
            <a:r>
              <a:rPr lang="zh-CN" altLang="en-US" sz="1800"/>
              <a:t>More strength, rigidity and thermal stability.</a:t>
            </a:r>
          </a:p>
          <a:p>
            <a:pPr lvl="0">
              <a:lnSpc>
                <a:spcPct val="150000"/>
              </a:lnSpc>
              <a:buFont typeface="Wingdings" pitchFamily="2" charset="2"/>
              <a:buChar char="Ø"/>
            </a:pPr>
            <a:r>
              <a:rPr lang="zh-CN" altLang="en-US" sz="1800"/>
              <a:t>Suitable for larger castings.</a:t>
            </a:r>
          </a:p>
          <a:p>
            <a:pPr lvl="0">
              <a:buNone/>
            </a:pPr>
            <a:endParaRPr lang="zh-CN" altLang="en-US" sz="1800"/>
          </a:p>
          <a:p>
            <a:pPr lvl="0"/>
            <a:endParaRPr lang="zh-CN" altLang="en-US" sz="1800"/>
          </a:p>
          <a:p>
            <a:pPr lvl="0">
              <a:buFont typeface="Wingdings" pitchFamily="2" charset="2"/>
              <a:buChar char="Ø"/>
            </a:pPr>
            <a:endParaRPr lang="zh-CN" altLang="en-US" sz="1800"/>
          </a:p>
        </p:txBody>
      </p:sp>
    </p:spTree>
  </p:cSld>
  <p:clrMapOvr>
    <a:masterClrMapping/>
  </p:clrMapOvr>
  <p:transition advClick="0">
    <p:cu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Title 1048680"/>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Types of Moulding Sands</a:t>
            </a:r>
          </a:p>
        </p:txBody>
      </p:sp>
      <p:sp>
        <p:nvSpPr>
          <p:cNvPr id="1048690" name="Content Placeholder 1048681"/>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1800" b="1" u="sng"/>
              <a:t>Parting Sand:</a:t>
            </a:r>
          </a:p>
          <a:p>
            <a:pPr lvl="0">
              <a:lnSpc>
                <a:spcPct val="150000"/>
              </a:lnSpc>
              <a:buFont typeface="Wingdings" pitchFamily="2" charset="2"/>
              <a:buChar char="Ø"/>
            </a:pPr>
            <a:r>
              <a:rPr lang="zh-CN" altLang="en-US" sz="1800"/>
              <a:t>It is used to keep away the green sand from sticking to the pattern and to allow the sand on the parting surface of the flasks to separate without clinging.</a:t>
            </a:r>
          </a:p>
          <a:p>
            <a:pPr lvl="0">
              <a:lnSpc>
                <a:spcPct val="150000"/>
              </a:lnSpc>
              <a:buFont typeface="Wingdings" pitchFamily="2" charset="2"/>
              <a:buChar char="Ø"/>
            </a:pPr>
            <a:r>
              <a:rPr lang="zh-CN" altLang="en-US" sz="1800"/>
              <a:t>It is free from clay and is dry.</a:t>
            </a:r>
          </a:p>
          <a:p>
            <a:pPr lvl="0">
              <a:lnSpc>
                <a:spcPct val="150000"/>
              </a:lnSpc>
              <a:buFont typeface="Wingdings" pitchFamily="2" charset="2"/>
              <a:buChar char="Ø"/>
            </a:pPr>
            <a:r>
              <a:rPr lang="en-US" altLang="zh-CN" sz="1800"/>
              <a:t>It is washed  and non sticky sand</a:t>
            </a:r>
            <a:endParaRPr lang="zh-CN" altLang="en-US"/>
          </a:p>
          <a:p>
            <a:pPr lvl="0">
              <a:buFont typeface="Wingdings" pitchFamily="2" charset="2"/>
              <a:buChar char="Ø"/>
            </a:pPr>
            <a:endParaRPr lang="zh-CN" altLang="en-US" sz="1800"/>
          </a:p>
          <a:p>
            <a:pPr lvl="0">
              <a:buFont typeface="Wingdings" pitchFamily="2" charset="2"/>
              <a:buChar char="Ø"/>
            </a:pPr>
            <a:endParaRPr lang="zh-CN" altLang="en-US" sz="1800"/>
          </a:p>
          <a:p>
            <a:pPr lvl="0">
              <a:buNone/>
            </a:pPr>
            <a:endParaRPr lang="zh-CN" altLang="en-US" sz="1800"/>
          </a:p>
          <a:p>
            <a:pPr lvl="0"/>
            <a:endParaRPr lang="zh-CN" altLang="en-US" sz="1800"/>
          </a:p>
          <a:p>
            <a:pPr lvl="0">
              <a:buFont typeface="Wingdings" pitchFamily="2" charset="2"/>
              <a:buChar char="Ø"/>
            </a:pPr>
            <a:endParaRPr lang="zh-CN" altLang="en-US" sz="1800"/>
          </a:p>
        </p:txBody>
      </p:sp>
    </p:spTree>
  </p:cSld>
  <p:clrMapOvr>
    <a:masterClrMapping/>
  </p:clrMapOvr>
  <p:transition advClick="0">
    <p:cut/>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1" name="Title 1048682"/>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Types of Moulding Sands</a:t>
            </a:r>
          </a:p>
        </p:txBody>
      </p:sp>
      <p:sp>
        <p:nvSpPr>
          <p:cNvPr id="1048692" name="Content Placeholder 1048683"/>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1800" b="1" u="sng"/>
              <a:t>Core Sand:</a:t>
            </a:r>
          </a:p>
          <a:p>
            <a:pPr lvl="0">
              <a:buFont typeface="Wingdings" pitchFamily="2" charset="2"/>
              <a:buChar char="Ø"/>
            </a:pPr>
            <a:r>
              <a:rPr lang="zh-CN" altLang="en-US" sz="1800"/>
              <a:t>Used to make core.</a:t>
            </a:r>
          </a:p>
          <a:p>
            <a:pPr lvl="0">
              <a:buFont typeface="Wingdings" pitchFamily="2" charset="2"/>
              <a:buChar char="Ø"/>
            </a:pPr>
            <a:r>
              <a:rPr lang="zh-CN" altLang="en-US" sz="1800"/>
              <a:t>Should be stronger than the moulding sand.</a:t>
            </a:r>
          </a:p>
          <a:p>
            <a:pPr lvl="0">
              <a:buFont typeface="Wingdings" pitchFamily="2" charset="2"/>
              <a:buChar char="Ø"/>
            </a:pPr>
            <a:r>
              <a:rPr lang="zh-CN" altLang="en-US" sz="1800"/>
              <a:t>It is made by mixing core </a:t>
            </a:r>
            <a:r>
              <a:rPr lang="en-US" altLang="zh-CN" sz="1800"/>
              <a:t>linseed </a:t>
            </a:r>
            <a:r>
              <a:rPr lang="zh-CN" altLang="en-US" sz="1800"/>
              <a:t>oil with silica sand,</a:t>
            </a:r>
            <a:endParaRPr lang="zh-CN" altLang="en-US"/>
          </a:p>
          <a:p>
            <a:pPr lvl="0">
              <a:buFont typeface="Wingdings" pitchFamily="2" charset="2"/>
              <a:buChar char="Ø"/>
            </a:pPr>
            <a:r>
              <a:rPr lang="en-US" altLang="zh-CN" sz="1800"/>
              <a:t>It is also called as soil sand</a:t>
            </a:r>
            <a:endParaRPr lang="zh-CN" altLang="en-US"/>
          </a:p>
          <a:p>
            <a:pPr lvl="0">
              <a:buFont typeface="Wingdings" pitchFamily="2" charset="2"/>
              <a:buChar char="Ø"/>
            </a:pPr>
            <a:endParaRPr lang="zh-CN" altLang="en-US" sz="1800"/>
          </a:p>
          <a:p>
            <a:pPr lvl="0">
              <a:buNone/>
            </a:pPr>
            <a:endParaRPr lang="zh-CN" altLang="en-US" sz="1800"/>
          </a:p>
          <a:p>
            <a:pPr lvl="0"/>
            <a:endParaRPr lang="zh-CN" altLang="en-US" sz="1800"/>
          </a:p>
          <a:p>
            <a:pPr lvl="0">
              <a:buFont typeface="Wingdings" pitchFamily="2" charset="2"/>
              <a:buChar char="Ø"/>
            </a:pPr>
            <a:endParaRPr lang="zh-CN" altLang="en-US" sz="1800"/>
          </a:p>
        </p:txBody>
      </p:sp>
    </p:spTree>
  </p:cSld>
  <p:clrMapOvr>
    <a:masterClrMapping/>
  </p:clrMapOvr>
  <p:transition advClick="0">
    <p:cu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Content Placeholder 1048692"/>
          <p:cNvSpPr>
            <a:spLocks noGrp="1"/>
          </p:cNvSpPr>
          <p:nvPr>
            <p:ph idx="1"/>
          </p:nvPr>
        </p:nvSpPr>
        <p:spPr/>
        <p:txBody>
          <a:bodyPr/>
          <a:lstStyle/>
          <a:p>
            <a:r>
              <a:rPr lang="en-US"/>
              <a:t>It usually contains burnt  facing sand, moulding sand and clay.</a:t>
            </a:r>
          </a:p>
          <a:p>
            <a:r>
              <a:rPr lang="en-US"/>
              <a:t>It is old and repeatedly used sand and used  for baking facing sand</a:t>
            </a:r>
          </a:p>
          <a:p>
            <a:r>
              <a:rPr lang="en-US"/>
              <a:t>It is filled behind the facing sand in the mould box or flask.</a:t>
            </a:r>
          </a:p>
        </p:txBody>
      </p:sp>
      <p:sp>
        <p:nvSpPr>
          <p:cNvPr id="1048694" name="Title 1048693"/>
          <p:cNvSpPr>
            <a:spLocks noGrp="1"/>
          </p:cNvSpPr>
          <p:nvPr>
            <p:ph type="title"/>
          </p:nvPr>
        </p:nvSpPr>
        <p:spPr/>
        <p:txBody>
          <a:bodyPr/>
          <a:lstStyle/>
          <a:p>
            <a:r>
              <a:rPr lang="en-US"/>
              <a:t>Backing sand</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5" name="Content Placeholder 1048694"/>
          <p:cNvSpPr>
            <a:spLocks noGrp="1"/>
          </p:cNvSpPr>
          <p:nvPr>
            <p:ph idx="1"/>
          </p:nvPr>
        </p:nvSpPr>
        <p:spPr/>
        <p:txBody>
          <a:bodyPr/>
          <a:lstStyle/>
          <a:p>
            <a:r>
              <a:rPr lang="en-US"/>
              <a:t>It is mixture of floor sand and new moulding sand with suitable binder and moisture.</a:t>
            </a:r>
          </a:p>
          <a:p>
            <a:r>
              <a:rPr lang="en-US"/>
              <a:t>It is used next to the parting surface and comes in contact with molten metal when poured into the mould </a:t>
            </a:r>
          </a:p>
          <a:p>
            <a:r>
              <a:rPr lang="en-US"/>
              <a:t>It is used around a pattern to cover it upto 2.5 to 5cm</a:t>
            </a:r>
          </a:p>
        </p:txBody>
      </p:sp>
      <p:sp>
        <p:nvSpPr>
          <p:cNvPr id="1048696" name="Title 1048695"/>
          <p:cNvSpPr>
            <a:spLocks noGrp="1"/>
          </p:cNvSpPr>
          <p:nvPr>
            <p:ph type="title"/>
          </p:nvPr>
        </p:nvSpPr>
        <p:spPr/>
        <p:txBody>
          <a:bodyPr/>
          <a:lstStyle/>
          <a:p>
            <a:r>
              <a:rPr lang="en-US"/>
              <a:t>Facing sand</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7" name="Title 104868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698" name="Content Placeholder 1048685"/>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a:buFont typeface="Wingdings" pitchFamily="2" charset="2"/>
              <a:buAutoNum type="arabicPeriod"/>
            </a:pPr>
            <a:r>
              <a:rPr lang="zh-CN" altLang="en-US"/>
              <a:t>Refractoriness:</a:t>
            </a:r>
          </a:p>
          <a:p>
            <a:pPr marL="457200" lvl="0" indent="-457200">
              <a:lnSpc>
                <a:spcPct val="150000"/>
              </a:lnSpc>
            </a:pPr>
            <a:r>
              <a:rPr lang="zh-CN" altLang="en-US" sz="1800"/>
              <a:t>The ability of moulding sand to withstand high temperatures without breaking down or fusing.</a:t>
            </a:r>
          </a:p>
          <a:p>
            <a:pPr marL="457200" lvl="0" indent="-457200">
              <a:lnSpc>
                <a:spcPct val="150000"/>
              </a:lnSpc>
            </a:pPr>
            <a:r>
              <a:rPr lang="zh-CN" altLang="en-US" sz="1800"/>
              <a:t>The degree of refractoriness depends on SiO2 content and shape &amp; grain size of the particle</a:t>
            </a:r>
            <a:r>
              <a:rPr lang="en-US" altLang="zh-CN" sz="1800"/>
              <a:t>.</a:t>
            </a:r>
            <a:endParaRPr lang="zh-CN" altLang="en-US"/>
          </a:p>
          <a:p>
            <a:pPr marL="457200" lvl="0" indent="-457200">
              <a:lnSpc>
                <a:spcPct val="150000"/>
              </a:lnSpc>
            </a:pPr>
            <a:r>
              <a:rPr lang="en-US" altLang="zh-CN" sz="1800"/>
              <a:t>To enhance the proporty, sand should have lower  percentage of lime, magnesia, alkali, oxides of metals.</a:t>
            </a:r>
            <a:endParaRPr lang="zh-CN" altLang="en-US"/>
          </a:p>
          <a:p>
            <a:pPr marL="457200" lvl="0" indent="-457200">
              <a:lnSpc>
                <a:spcPct val="150000"/>
              </a:lnSpc>
            </a:pPr>
            <a:r>
              <a:rPr lang="zh-CN" altLang="en-US" sz="1800"/>
              <a:t>Refractoriness is measured by Sinter point rather than its melting point. ( At sintering temperature, the moulding sand adheres to the casting)</a:t>
            </a:r>
          </a:p>
        </p:txBody>
      </p:sp>
    </p:spTree>
  </p:cSld>
  <p:clrMapOvr>
    <a:masterClrMapping/>
  </p:clrMapOvr>
  <p:transition advClick="0">
    <p:cut/>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Title 1048686"/>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700" name="Content Placeholder 1048687"/>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a:buNone/>
            </a:pPr>
            <a:r>
              <a:rPr lang="zh-CN" altLang="en-US"/>
              <a:t>2. Permeability:</a:t>
            </a:r>
          </a:p>
          <a:p>
            <a:pPr marL="0" lvl="0" indent="0">
              <a:lnSpc>
                <a:spcPct val="150000"/>
              </a:lnSpc>
            </a:pPr>
            <a:r>
              <a:rPr lang="zh-CN" altLang="en-US" sz="1800"/>
              <a:t>Also referred as porosity, is the property of sand allow the escape of any air, gases or moisture present or generated in the mould when the molten metal is poured into it.</a:t>
            </a:r>
          </a:p>
          <a:p>
            <a:pPr marL="0" lvl="0" indent="0">
              <a:lnSpc>
                <a:spcPct val="150000"/>
              </a:lnSpc>
            </a:pPr>
            <a:r>
              <a:rPr lang="zh-CN" altLang="en-US" sz="1800"/>
              <a:t>Liquid metals cause evolution of gases due to their reaction with moulding sand ingredients.</a:t>
            </a:r>
          </a:p>
          <a:p>
            <a:pPr marL="0" lvl="0" indent="0">
              <a:lnSpc>
                <a:spcPct val="150000"/>
              </a:lnSpc>
            </a:pPr>
            <a:r>
              <a:rPr lang="zh-CN" altLang="en-US" sz="1800"/>
              <a:t>Permeability is a function of: </a:t>
            </a:r>
          </a:p>
          <a:p>
            <a:pPr marL="800100" lvl="1" indent="-480060">
              <a:lnSpc>
                <a:spcPct val="150000"/>
              </a:lnSpc>
              <a:buFont typeface="Arial" charset="0"/>
              <a:buAutoNum type="arabicPeriod"/>
            </a:pPr>
            <a:r>
              <a:rPr lang="zh-CN" altLang="en-US" sz="1600"/>
              <a:t>Grain size</a:t>
            </a:r>
          </a:p>
          <a:p>
            <a:pPr marL="800100" lvl="1" indent="-480060">
              <a:lnSpc>
                <a:spcPct val="150000"/>
              </a:lnSpc>
              <a:buFont typeface="Arial" charset="0"/>
              <a:buAutoNum type="arabicPeriod"/>
            </a:pPr>
            <a:r>
              <a:rPr lang="zh-CN" altLang="en-US" sz="1600"/>
              <a:t>Grain shape</a:t>
            </a:r>
          </a:p>
          <a:p>
            <a:pPr marL="800100" lvl="1" indent="-480060">
              <a:lnSpc>
                <a:spcPct val="150000"/>
              </a:lnSpc>
              <a:buFont typeface="Arial" charset="0"/>
              <a:buAutoNum type="arabicPeriod"/>
            </a:pPr>
            <a:r>
              <a:rPr lang="zh-CN" altLang="en-US" sz="1600"/>
              <a:t>Moisture and clay contents in the moulding sand.</a:t>
            </a:r>
          </a:p>
          <a:p>
            <a:pPr marL="800100" lvl="1" indent="-480060">
              <a:buNone/>
            </a:pPr>
            <a:endParaRPr lang="zh-CN" altLang="en-US" sz="1800"/>
          </a:p>
        </p:txBody>
      </p:sp>
    </p:spTree>
  </p:cSld>
  <p:clrMapOvr>
    <a:masterClrMapping/>
  </p:clrMapOvr>
  <p:transition advClick="0">
    <p:cu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1" name="Title 104868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702" name="Content Placeholder 1048689"/>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a:buNone/>
            </a:pPr>
            <a:r>
              <a:rPr lang="zh-CN" altLang="en-US"/>
              <a:t>3. Cohesiveness:</a:t>
            </a:r>
          </a:p>
          <a:p>
            <a:pPr marL="0" lvl="0" indent="0"/>
            <a:r>
              <a:rPr lang="zh-CN" altLang="en-US" sz="1800"/>
              <a:t>Also referred to as the strength of sand.</a:t>
            </a:r>
          </a:p>
          <a:p>
            <a:pPr marL="0" lvl="0" indent="0"/>
            <a:r>
              <a:rPr lang="zh-CN" altLang="en-US" sz="1800"/>
              <a:t>It is property of moulding sand by virtue which the sand grain particles interact and attract each other within the moulding sand.</a:t>
            </a:r>
          </a:p>
          <a:p>
            <a:pPr marL="0" lvl="0" indent="0"/>
            <a:r>
              <a:rPr lang="zh-CN" altLang="en-US" sz="1800"/>
              <a:t>Moulding sand should be capable of withstanding the compressive and erosive force exerted by liquid metal while filling the cavity.</a:t>
            </a:r>
          </a:p>
          <a:p>
            <a:pPr marL="0" lvl="0" indent="0"/>
            <a:r>
              <a:rPr lang="zh-CN" altLang="en-US" sz="1800"/>
              <a:t>Low strength mouldings result in defective castings.</a:t>
            </a:r>
          </a:p>
          <a:p>
            <a:pPr marL="0" lvl="0" indent="0"/>
            <a:r>
              <a:rPr lang="en-US" altLang="zh-CN" sz="1800"/>
              <a:t>It depends upon the grain size, sand particle shape and size, moisture content and density, </a:t>
            </a:r>
            <a:endParaRPr lang="zh-CN" altLang="en-US" sz="1800"/>
          </a:p>
          <a:p>
            <a:pPr marL="0" lvl="0" indent="0"/>
            <a:r>
              <a:rPr lang="en-US" altLang="zh-CN" sz="1800"/>
              <a:t>strength inversely affect the porosity</a:t>
            </a:r>
            <a:endParaRPr lang="zh-CN" altLang="en-US" sz="1800"/>
          </a:p>
        </p:txBody>
      </p:sp>
    </p:spTree>
  </p:cSld>
  <p:clrMapOvr>
    <a:masterClrMapping/>
  </p:clrMapOvr>
  <p:transition advClick="0">
    <p:cut/>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3" name="Title 1048690"/>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704" name="Content Placeholder 1048691"/>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a:buNone/>
            </a:pPr>
            <a:r>
              <a:rPr lang="zh-CN" altLang="en-US"/>
              <a:t>4. Flowability:</a:t>
            </a:r>
          </a:p>
          <a:p>
            <a:pPr marL="0" lvl="0" indent="0"/>
            <a:r>
              <a:rPr lang="zh-CN" altLang="en-US" sz="1800"/>
              <a:t>It is the ability of the sand to get compacted and behave like a fluid.</a:t>
            </a:r>
          </a:p>
          <a:p>
            <a:pPr marL="0" lvl="0" indent="0"/>
            <a:r>
              <a:rPr lang="zh-CN" altLang="en-US" sz="1800"/>
              <a:t>It will flow uniformly to all portions of pattern when rammed and distribute the ramming pressure evenly all around in all directions.</a:t>
            </a:r>
          </a:p>
          <a:p>
            <a:pPr marL="0" lvl="0" indent="0"/>
            <a:r>
              <a:rPr lang="zh-CN" altLang="en-US" sz="1800"/>
              <a:t>In general, flow ability increases with decrease in green strength, an, decrease in grain size.</a:t>
            </a:r>
          </a:p>
          <a:p>
            <a:pPr marL="0" lvl="0" indent="0"/>
            <a:r>
              <a:rPr lang="zh-CN" altLang="en-US" sz="1800"/>
              <a:t>flow ability also varies with moisture and clay content.</a:t>
            </a:r>
          </a:p>
          <a:p>
            <a:pPr marL="0" lvl="0" indent="0"/>
            <a:r>
              <a:rPr lang="en-US" altLang="zh-CN" sz="1800"/>
              <a:t>It is also called as plasticity fluidity.</a:t>
            </a:r>
            <a:endParaRPr lang="zh-CN" altLang="en-US" sz="1800"/>
          </a:p>
          <a:p>
            <a:pPr marL="0" lvl="0" indent="0"/>
            <a:endParaRPr lang="zh-CN" altLang="en-US" sz="1800"/>
          </a:p>
          <a:p>
            <a:pPr marL="0" lvl="0" indent="0"/>
            <a:endParaRPr lang="zh-CN" altLang="en-US" sz="1800"/>
          </a:p>
        </p:txBody>
      </p:sp>
    </p:spTree>
  </p:cSld>
  <p:clrMapOvr>
    <a:masterClrMapping/>
  </p:clrMapOvr>
  <p:transition advClick="0">
    <p:cu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Title 1048692"/>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706" name="Content Placeholder 1048693"/>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a:buNone/>
            </a:pPr>
            <a:r>
              <a:rPr lang="zh-CN" altLang="en-US"/>
              <a:t>5. Adhesiveness:</a:t>
            </a:r>
          </a:p>
          <a:p>
            <a:pPr marL="0" lvl="0" indent="0"/>
            <a:r>
              <a:rPr lang="zh-CN" altLang="en-US" sz="1800"/>
              <a:t>It is property of moulding sand to get stick or adhere with foreign material such sticking of moulding sand with inner wall of  moulding box.</a:t>
            </a:r>
          </a:p>
          <a:p>
            <a:pPr marL="0" lvl="0" indent="0"/>
            <a:r>
              <a:rPr lang="zh-CN" altLang="en-US" sz="1800"/>
              <a:t>It helps the sand to retain the mould cavity and stay in the box.</a:t>
            </a:r>
          </a:p>
          <a:p>
            <a:pPr marL="0" lvl="0" indent="0">
              <a:buNone/>
            </a:pPr>
            <a:endParaRPr lang="zh-CN" altLang="en-US" sz="1800"/>
          </a:p>
          <a:p>
            <a:pPr marL="0" lvl="0" indent="0"/>
            <a:endParaRPr lang="zh-CN" altLang="en-US" sz="1800"/>
          </a:p>
          <a:p>
            <a:pPr marL="0" lvl="0" indent="0"/>
            <a:endParaRPr lang="zh-CN" altLang="en-US" sz="1800"/>
          </a:p>
        </p:txBody>
      </p:sp>
    </p:spTree>
  </p:cSld>
  <p:clrMapOvr>
    <a:masterClrMapping/>
  </p:clrMapOvr>
  <p:transition advClick="0">
    <p:cut/>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7" name="Title 104869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708" name="Content Placeholder 1048695"/>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a:buNone/>
            </a:pPr>
            <a:r>
              <a:rPr lang="zh-CN" altLang="en-US"/>
              <a:t>6. Collapsibility:</a:t>
            </a:r>
          </a:p>
          <a:p>
            <a:pPr marL="0" lvl="0" indent="0"/>
            <a:r>
              <a:rPr lang="zh-CN" altLang="en-US" sz="1800"/>
              <a:t>After solidification of the molten metal, the casting is required to be removed from the mould. </a:t>
            </a:r>
          </a:p>
          <a:p>
            <a:pPr marL="0" lvl="0" indent="0"/>
            <a:r>
              <a:rPr lang="zh-CN" altLang="en-US" sz="1800"/>
              <a:t>If the moulding sand is easily collapsible, free contraction of the metal as well as easy removal of the casting is possible.</a:t>
            </a:r>
          </a:p>
          <a:p>
            <a:pPr marL="0" lvl="0" indent="0"/>
            <a:r>
              <a:rPr lang="zh-CN" altLang="en-US" sz="1800"/>
              <a:t>If the sand is not collapsible, it will strongly adhere to the casting, becoming very hard to separate after metal solidification.</a:t>
            </a:r>
          </a:p>
          <a:p>
            <a:pPr marL="0" lvl="0" indent="0"/>
            <a:endParaRPr lang="zh-CN" altLang="en-US" sz="1800"/>
          </a:p>
        </p:txBody>
      </p:sp>
    </p:spTree>
  </p:cSld>
  <p:clrMapOvr>
    <a:masterClrMapping/>
  </p:clrMapOvr>
  <p:transition advClick="0">
    <p:cut/>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9" name="Content Placeholder 1048708"/>
          <p:cNvSpPr>
            <a:spLocks noGrp="1"/>
          </p:cNvSpPr>
          <p:nvPr>
            <p:ph idx="1"/>
          </p:nvPr>
        </p:nvSpPr>
        <p:spPr/>
        <p:txBody>
          <a:bodyPr/>
          <a:lstStyle/>
          <a:p>
            <a:r>
              <a:rPr lang="en-US"/>
              <a:t>Core is metal or sand body, which is set into the prepared mould before closing or pouring it .</a:t>
            </a:r>
          </a:p>
          <a:p>
            <a:r>
              <a:rPr lang="en-US"/>
              <a:t>These are used to produce holes, projections, cavities in casting.</a:t>
            </a:r>
          </a:p>
          <a:p>
            <a:r>
              <a:rPr lang="en-US"/>
              <a:t>core is kept on seat in the mould box prepared by pattern.</a:t>
            </a:r>
          </a:p>
          <a:p>
            <a:r>
              <a:rPr lang="en-US"/>
              <a:t>Projection is made in mould box during moulding process.</a:t>
            </a:r>
          </a:p>
          <a:p>
            <a:r>
              <a:rPr lang="en-US"/>
              <a:t>these projections made on mould box are known as core print.</a:t>
            </a:r>
          </a:p>
          <a:p>
            <a:endParaRPr lang="en-US"/>
          </a:p>
        </p:txBody>
      </p:sp>
      <p:sp>
        <p:nvSpPr>
          <p:cNvPr id="1048710" name="Title 1048709"/>
          <p:cNvSpPr>
            <a:spLocks noGrp="1"/>
          </p:cNvSpPr>
          <p:nvPr>
            <p:ph type="title"/>
          </p:nvPr>
        </p:nvSpPr>
        <p:spPr/>
        <p:txBody>
          <a:bodyPr/>
          <a:lstStyle/>
          <a:p>
            <a:r>
              <a:rPr lang="en-US"/>
              <a:t>Core and core print</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Content Placeholder 1048710"/>
          <p:cNvSpPr>
            <a:spLocks noGrp="1"/>
          </p:cNvSpPr>
          <p:nvPr>
            <p:ph idx="1"/>
          </p:nvPr>
        </p:nvSpPr>
        <p:spPr>
          <a:noFill/>
          <a:ln>
            <a:noFill/>
            <a:prstDash val="solid"/>
          </a:ln>
        </p:spPr>
        <p:txBody>
          <a:bodyPr/>
          <a:lstStyle/>
          <a:p>
            <a:pPr marL="457200" indent="-457200">
              <a:buFont typeface="+mj-lt"/>
              <a:buAutoNum type="arabicPeriod"/>
            </a:pPr>
            <a:r>
              <a:rPr lang="en-US">
                <a:solidFill>
                  <a:srgbClr val="36363D"/>
                </a:solidFill>
              </a:rPr>
              <a:t>Horizontal core.</a:t>
            </a:r>
            <a:endParaRPr lang="en-US"/>
          </a:p>
          <a:p>
            <a:pPr marL="457200" indent="-457200">
              <a:buFont typeface="+mj-lt"/>
              <a:buAutoNum type="arabicPeriod"/>
            </a:pPr>
            <a:r>
              <a:rPr lang="en-US">
                <a:solidFill>
                  <a:srgbClr val="36363D"/>
                </a:solidFill>
              </a:rPr>
              <a:t>vertical core.</a:t>
            </a:r>
            <a:endParaRPr lang="en-US"/>
          </a:p>
          <a:p>
            <a:pPr marL="457200" indent="-457200">
              <a:buFont typeface="+mj-lt"/>
              <a:buAutoNum type="arabicPeriod"/>
            </a:pPr>
            <a:r>
              <a:rPr lang="en-US">
                <a:solidFill>
                  <a:srgbClr val="36363D"/>
                </a:solidFill>
              </a:rPr>
              <a:t>Balanced core.</a:t>
            </a:r>
            <a:endParaRPr lang="en-US"/>
          </a:p>
          <a:p>
            <a:pPr marL="457200" indent="-457200">
              <a:buFont typeface="+mj-lt"/>
              <a:buAutoNum type="arabicPeriod"/>
            </a:pPr>
            <a:r>
              <a:rPr lang="en-US">
                <a:solidFill>
                  <a:srgbClr val="36363D"/>
                </a:solidFill>
              </a:rPr>
              <a:t>Cover core.</a:t>
            </a:r>
            <a:endParaRPr lang="en-US"/>
          </a:p>
          <a:p>
            <a:pPr marL="457200" indent="-457200">
              <a:buFont typeface="+mj-lt"/>
              <a:buAutoNum type="arabicPeriod"/>
            </a:pPr>
            <a:r>
              <a:rPr lang="en-US">
                <a:solidFill>
                  <a:srgbClr val="36363D"/>
                </a:solidFill>
              </a:rPr>
              <a:t>Drop core.</a:t>
            </a:r>
            <a:endParaRPr lang="en-US"/>
          </a:p>
        </p:txBody>
      </p:sp>
      <p:sp>
        <p:nvSpPr>
          <p:cNvPr id="1048712" name="Title 1048711"/>
          <p:cNvSpPr>
            <a:spLocks noGrp="1"/>
          </p:cNvSpPr>
          <p:nvPr>
            <p:ph type="title"/>
          </p:nvPr>
        </p:nvSpPr>
        <p:spPr/>
        <p:txBody>
          <a:bodyPr/>
          <a:lstStyle/>
          <a:p>
            <a:r>
              <a:rPr lang="en-US"/>
              <a:t>Types of cores </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Content Placeholder 1048712"/>
          <p:cNvSpPr>
            <a:spLocks noGrp="1"/>
          </p:cNvSpPr>
          <p:nvPr>
            <p:ph idx="1"/>
          </p:nvPr>
        </p:nvSpPr>
        <p:spPr/>
        <p:txBody>
          <a:bodyPr/>
          <a:lstStyle/>
          <a:p>
            <a:pPr marL="0" indent="0">
              <a:buNone/>
            </a:pPr>
            <a:r>
              <a:rPr lang="en-US" dirty="0"/>
              <a:t>1. Horizontal core.</a:t>
            </a:r>
          </a:p>
          <a:p>
            <a:pPr>
              <a:buFont typeface="Arial"/>
              <a:buChar char="•"/>
            </a:pPr>
            <a:r>
              <a:rPr lang="en-US" dirty="0"/>
              <a:t>As par the name it kept horizontally in the mould box.</a:t>
            </a:r>
          </a:p>
          <a:p>
            <a:pPr>
              <a:buFont typeface="Arial"/>
              <a:buChar char="•"/>
            </a:pPr>
            <a:r>
              <a:rPr lang="en-US" dirty="0"/>
              <a:t>Its position is along parting line.</a:t>
            </a:r>
          </a:p>
          <a:p>
            <a:pPr>
              <a:buFont typeface="Arial"/>
              <a:buChar char="•"/>
            </a:pPr>
            <a:r>
              <a:rPr lang="en-US" dirty="0"/>
              <a:t>It is commonly used in </a:t>
            </a:r>
            <a:r>
              <a:rPr lang="en-US" dirty="0" err="1"/>
              <a:t>foundary</a:t>
            </a:r>
            <a:r>
              <a:rPr lang="en-US" dirty="0"/>
              <a:t>.</a:t>
            </a:r>
          </a:p>
        </p:txBody>
      </p:sp>
      <p:sp>
        <p:nvSpPr>
          <p:cNvPr id="1048714" name="Title 1048713"/>
          <p:cNvSpPr>
            <a:spLocks noGrp="1"/>
          </p:cNvSpPr>
          <p:nvPr>
            <p:ph type="title"/>
          </p:nvPr>
        </p:nvSpPr>
        <p:spPr/>
        <p:txBody>
          <a:bodyPr/>
          <a:lstStyle/>
          <a:p>
            <a:r>
              <a:rPr lang="en-US"/>
              <a:t>Types of cores</a:t>
            </a:r>
          </a:p>
        </p:txBody>
      </p:sp>
      <p:pic>
        <p:nvPicPr>
          <p:cNvPr id="2097181" name="Picture 2097180"/>
          <p:cNvPicPr>
            <a:picLocks/>
          </p:cNvPicPr>
          <p:nvPr/>
        </p:nvPicPr>
        <p:blipFill>
          <a:blip r:embed="rId2"/>
          <a:stretch>
            <a:fillRect/>
          </a:stretch>
        </p:blipFill>
        <p:spPr>
          <a:xfrm>
            <a:off x="237028" y="3805450"/>
            <a:ext cx="8830772" cy="305255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Content Placeholder 1048714"/>
          <p:cNvSpPr>
            <a:spLocks noGrp="1"/>
          </p:cNvSpPr>
          <p:nvPr>
            <p:ph idx="1"/>
          </p:nvPr>
        </p:nvSpPr>
        <p:spPr/>
        <p:txBody>
          <a:bodyPr/>
          <a:lstStyle/>
          <a:p>
            <a:pPr marL="0" indent="0">
              <a:buNone/>
            </a:pPr>
            <a:r>
              <a:rPr lang="en-US"/>
              <a:t>2.Vertical core.</a:t>
            </a:r>
          </a:p>
          <a:p>
            <a:pPr>
              <a:buFont typeface="Arial"/>
              <a:buChar char="•"/>
            </a:pPr>
            <a:r>
              <a:rPr lang="en-US"/>
              <a:t>Its is placed vertical in mould box.</a:t>
            </a:r>
          </a:p>
          <a:p>
            <a:pPr>
              <a:buFont typeface="Arial"/>
              <a:buChar char="•"/>
            </a:pPr>
            <a:r>
              <a:rPr lang="en-US"/>
              <a:t>It occupies cope and drag.</a:t>
            </a:r>
          </a:p>
          <a:p>
            <a:pPr>
              <a:buFont typeface="Arial"/>
              <a:buChar char="•"/>
            </a:pPr>
            <a:r>
              <a:rPr lang="en-US"/>
              <a:t>both the ends are rest in the core seat provided in the cope and drag.</a:t>
            </a:r>
          </a:p>
          <a:p>
            <a:pPr>
              <a:buFont typeface="Arial"/>
              <a:buChar char="•"/>
            </a:pPr>
            <a:r>
              <a:rPr lang="en-US"/>
              <a:t>both the ends are tapered and maximum portion is located in drag.</a:t>
            </a:r>
          </a:p>
          <a:p>
            <a:pPr>
              <a:buFont typeface="Arial"/>
              <a:buChar char="•"/>
            </a:pPr>
            <a:endParaRPr lang="en-US"/>
          </a:p>
        </p:txBody>
      </p:sp>
      <p:sp>
        <p:nvSpPr>
          <p:cNvPr id="1048716" name="Title 1048715"/>
          <p:cNvSpPr>
            <a:spLocks noGrp="1"/>
          </p:cNvSpPr>
          <p:nvPr>
            <p:ph type="title"/>
          </p:nvPr>
        </p:nvSpPr>
        <p:spPr/>
        <p:txBody>
          <a:bodyPr/>
          <a:lstStyle/>
          <a:p>
            <a:r>
              <a:rPr lang="en-US"/>
              <a:t>Types of cores </a:t>
            </a:r>
          </a:p>
        </p:txBody>
      </p:sp>
      <p:pic>
        <p:nvPicPr>
          <p:cNvPr id="2097182" name="Picture 2097181"/>
          <p:cNvPicPr>
            <a:picLocks/>
          </p:cNvPicPr>
          <p:nvPr/>
        </p:nvPicPr>
        <p:blipFill>
          <a:blip r:embed="rId2"/>
          <a:stretch>
            <a:fillRect/>
          </a:stretch>
        </p:blipFill>
        <p:spPr>
          <a:xfrm>
            <a:off x="1677391" y="4473988"/>
            <a:ext cx="5553033" cy="219817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7" name="Content Placeholder 1048716"/>
          <p:cNvSpPr>
            <a:spLocks noGrp="1"/>
          </p:cNvSpPr>
          <p:nvPr>
            <p:ph idx="1"/>
          </p:nvPr>
        </p:nvSpPr>
        <p:spPr/>
        <p:txBody>
          <a:bodyPr/>
          <a:lstStyle/>
          <a:p>
            <a:pPr marL="0" indent="0">
              <a:buNone/>
            </a:pPr>
            <a:r>
              <a:rPr lang="en-US"/>
              <a:t>3.Balanced core.</a:t>
            </a:r>
          </a:p>
          <a:p>
            <a:pPr>
              <a:buFont typeface="Arial"/>
              <a:buChar char="•"/>
            </a:pPr>
            <a:r>
              <a:rPr lang="en-US"/>
              <a:t>only blind holes or holes which are open at one side are produced by balanced casting.</a:t>
            </a:r>
          </a:p>
          <a:p>
            <a:pPr>
              <a:buFont typeface="Arial"/>
              <a:buChar char="•"/>
            </a:pPr>
            <a:r>
              <a:rPr lang="en-US"/>
              <a:t>Balanced core has only one core print to maintain alignment of core</a:t>
            </a:r>
          </a:p>
          <a:p>
            <a:pPr>
              <a:buFont typeface="Arial"/>
              <a:buChar char="•"/>
            </a:pPr>
            <a:r>
              <a:rPr lang="en-US"/>
              <a:t>core print and portion of core outside the mould cavity is kept slightly larger and heavier</a:t>
            </a:r>
          </a:p>
        </p:txBody>
      </p:sp>
      <p:sp>
        <p:nvSpPr>
          <p:cNvPr id="1048718" name="Title 1048717"/>
          <p:cNvSpPr>
            <a:spLocks noGrp="1"/>
          </p:cNvSpPr>
          <p:nvPr>
            <p:ph type="title"/>
          </p:nvPr>
        </p:nvSpPr>
        <p:spPr/>
        <p:txBody>
          <a:bodyPr/>
          <a:lstStyle/>
          <a:p>
            <a:r>
              <a:rPr lang="en-US"/>
              <a:t>Types of cores</a:t>
            </a:r>
          </a:p>
        </p:txBody>
      </p:sp>
      <p:pic>
        <p:nvPicPr>
          <p:cNvPr id="2097183" name="Picture 2097182"/>
          <p:cNvPicPr>
            <a:picLocks/>
          </p:cNvPicPr>
          <p:nvPr/>
        </p:nvPicPr>
        <p:blipFill>
          <a:blip r:embed="rId2"/>
          <a:stretch>
            <a:fillRect/>
          </a:stretch>
        </p:blipFill>
        <p:spPr>
          <a:xfrm>
            <a:off x="2785425" y="4615297"/>
            <a:ext cx="3846803" cy="1541318"/>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Content Placeholder 1048718"/>
          <p:cNvSpPr>
            <a:spLocks noGrp="1"/>
          </p:cNvSpPr>
          <p:nvPr>
            <p:ph idx="1"/>
          </p:nvPr>
        </p:nvSpPr>
        <p:spPr/>
        <p:txBody>
          <a:bodyPr/>
          <a:lstStyle/>
          <a:p>
            <a:r>
              <a:rPr lang="en-US"/>
              <a:t>It is supported on drag and completely moulded in drag</a:t>
            </a:r>
          </a:p>
          <a:p>
            <a:r>
              <a:rPr lang="en-US"/>
              <a:t>Core serve as cover for the mould</a:t>
            </a:r>
          </a:p>
        </p:txBody>
      </p:sp>
      <p:sp>
        <p:nvSpPr>
          <p:cNvPr id="1048720" name="Title 1048719"/>
          <p:cNvSpPr>
            <a:spLocks noGrp="1"/>
          </p:cNvSpPr>
          <p:nvPr>
            <p:ph type="title"/>
          </p:nvPr>
        </p:nvSpPr>
        <p:spPr/>
        <p:txBody>
          <a:bodyPr/>
          <a:lstStyle/>
          <a:p>
            <a:r>
              <a:rPr lang="en-US"/>
              <a:t>Cover core</a:t>
            </a:r>
          </a:p>
        </p:txBody>
      </p:sp>
      <p:pic>
        <p:nvPicPr>
          <p:cNvPr id="2097184" name="Picture 2097183"/>
          <p:cNvPicPr>
            <a:picLocks/>
          </p:cNvPicPr>
          <p:nvPr/>
        </p:nvPicPr>
        <p:blipFill>
          <a:blip r:embed="rId2"/>
          <a:stretch>
            <a:fillRect/>
          </a:stretch>
        </p:blipFill>
        <p:spPr>
          <a:xfrm>
            <a:off x="2181140" y="3414562"/>
            <a:ext cx="4781720" cy="2529038"/>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1" name="Content Placeholder 1048720"/>
          <p:cNvSpPr>
            <a:spLocks noGrp="1"/>
          </p:cNvSpPr>
          <p:nvPr>
            <p:ph idx="1"/>
          </p:nvPr>
        </p:nvSpPr>
        <p:spPr/>
        <p:txBody>
          <a:bodyPr/>
          <a:lstStyle/>
          <a:p>
            <a:r>
              <a:rPr lang="en-US"/>
              <a:t>It is used to produce holes in casting above or bellow the parting line.</a:t>
            </a:r>
          </a:p>
          <a:p>
            <a:r>
              <a:rPr lang="en-US"/>
              <a:t>taper is provided to side of core for way placement</a:t>
            </a:r>
          </a:p>
        </p:txBody>
      </p:sp>
      <p:sp>
        <p:nvSpPr>
          <p:cNvPr id="1048722" name="Title 1048721"/>
          <p:cNvSpPr>
            <a:spLocks noGrp="1"/>
          </p:cNvSpPr>
          <p:nvPr>
            <p:ph type="title"/>
          </p:nvPr>
        </p:nvSpPr>
        <p:spPr/>
        <p:txBody>
          <a:bodyPr/>
          <a:lstStyle/>
          <a:p>
            <a:r>
              <a:rPr lang="en-US"/>
              <a:t>Drop core </a:t>
            </a:r>
          </a:p>
        </p:txBody>
      </p:sp>
      <p:pic>
        <p:nvPicPr>
          <p:cNvPr id="2097185" name="Picture 2097184"/>
          <p:cNvPicPr>
            <a:picLocks/>
          </p:cNvPicPr>
          <p:nvPr/>
        </p:nvPicPr>
        <p:blipFill>
          <a:blip r:embed="rId2"/>
          <a:stretch>
            <a:fillRect/>
          </a:stretch>
        </p:blipFill>
        <p:spPr>
          <a:xfrm>
            <a:off x="2538132" y="3925537"/>
            <a:ext cx="5240591" cy="2342054"/>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Content Placeholder 1048722"/>
          <p:cNvSpPr>
            <a:spLocks noGrp="1"/>
          </p:cNvSpPr>
          <p:nvPr>
            <p:ph idx="1"/>
          </p:nvPr>
        </p:nvSpPr>
        <p:spPr/>
        <p:txBody>
          <a:bodyPr/>
          <a:lstStyle/>
          <a:p>
            <a:endParaRPr lang="en-US"/>
          </a:p>
        </p:txBody>
      </p:sp>
      <p:sp>
        <p:nvSpPr>
          <p:cNvPr id="1048724" name="Title 1048723"/>
          <p:cNvSpPr>
            <a:spLocks noGrp="1"/>
          </p:cNvSpPr>
          <p:nvPr>
            <p:ph type="title"/>
          </p:nvPr>
        </p:nvSpPr>
        <p:spPr/>
        <p:txBody>
          <a:bodyPr/>
          <a:lstStyle/>
          <a:p>
            <a:r>
              <a:rPr lang="en-US"/>
              <a:t>Elements of gating system</a:t>
            </a:r>
          </a:p>
        </p:txBody>
      </p:sp>
      <p:pic>
        <p:nvPicPr>
          <p:cNvPr id="2097186" name="Picture 2097185"/>
          <p:cNvPicPr>
            <a:picLocks/>
          </p:cNvPicPr>
          <p:nvPr/>
        </p:nvPicPr>
        <p:blipFill>
          <a:blip r:embed="rId2"/>
          <a:stretch>
            <a:fillRect/>
          </a:stretch>
        </p:blipFill>
        <p:spPr>
          <a:xfrm>
            <a:off x="1905000" y="1447799"/>
            <a:ext cx="3629805" cy="2413799"/>
          </a:xfrm>
          <a:prstGeom prst="rect">
            <a:avLst/>
          </a:prstGeom>
        </p:spPr>
      </p:pic>
      <p:pic>
        <p:nvPicPr>
          <p:cNvPr id="2097187" name="Picture 2097186"/>
          <p:cNvPicPr>
            <a:picLocks/>
          </p:cNvPicPr>
          <p:nvPr/>
        </p:nvPicPr>
        <p:blipFill>
          <a:blip r:embed="rId3"/>
          <a:stretch>
            <a:fillRect/>
          </a:stretch>
        </p:blipFill>
        <p:spPr>
          <a:xfrm>
            <a:off x="5127084" y="3429000"/>
            <a:ext cx="3712116" cy="2537621"/>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5" name="Content Placeholder 1048724"/>
          <p:cNvSpPr>
            <a:spLocks noGrp="1"/>
          </p:cNvSpPr>
          <p:nvPr>
            <p:ph idx="1"/>
          </p:nvPr>
        </p:nvSpPr>
        <p:spPr/>
        <p:txBody>
          <a:bodyPr/>
          <a:lstStyle/>
          <a:p>
            <a:pPr marL="457200" indent="-457200">
              <a:buFont typeface="+mj-lt"/>
              <a:buAutoNum type="arabicPeriod"/>
            </a:pPr>
            <a:r>
              <a:rPr lang="en-US"/>
              <a:t>Bench moulding</a:t>
            </a:r>
          </a:p>
          <a:p>
            <a:pPr>
              <a:buFont typeface="Arial"/>
              <a:buChar char="•"/>
            </a:pPr>
            <a:r>
              <a:rPr lang="en-US"/>
              <a:t>In this method small mould are made upon bench</a:t>
            </a:r>
          </a:p>
          <a:p>
            <a:pPr>
              <a:buFont typeface="Arial"/>
              <a:buChar char="•"/>
            </a:pPr>
            <a:r>
              <a:rPr lang="en-US"/>
              <a:t>It is used to manufactured the green sand and dry sand mould.</a:t>
            </a:r>
          </a:p>
          <a:p>
            <a:pPr>
              <a:buFont typeface="Arial"/>
              <a:buChar char="•"/>
            </a:pPr>
            <a:r>
              <a:rPr lang="en-US"/>
              <a:t>loose piece patterns are used for moulding.</a:t>
            </a:r>
          </a:p>
          <a:p>
            <a:pPr>
              <a:buFont typeface="Arial"/>
              <a:buChar char="•"/>
            </a:pPr>
            <a:r>
              <a:rPr lang="en-US"/>
              <a:t>Ramming is done manually.</a:t>
            </a:r>
          </a:p>
          <a:p>
            <a:pPr>
              <a:buFont typeface="Arial"/>
              <a:buChar char="•"/>
            </a:pPr>
            <a:r>
              <a:rPr lang="en-US"/>
              <a:t>Slow process and requires  labours.</a:t>
            </a:r>
          </a:p>
          <a:p>
            <a:pPr>
              <a:buFont typeface="Arial"/>
              <a:buChar char="•"/>
            </a:pPr>
            <a:r>
              <a:rPr lang="en-US"/>
              <a:t>it is having types </a:t>
            </a:r>
          </a:p>
          <a:p>
            <a:pPr marL="457200" indent="-457200">
              <a:buFont typeface="+mj-lt"/>
              <a:buAutoNum type="arabicPeriod"/>
            </a:pPr>
            <a:r>
              <a:rPr lang="en-US"/>
              <a:t>Two box moulding. </a:t>
            </a:r>
          </a:p>
          <a:p>
            <a:pPr marL="457200" indent="-457200">
              <a:buFont typeface="+mj-lt"/>
              <a:buAutoNum type="arabicPeriod"/>
            </a:pPr>
            <a:r>
              <a:rPr lang="en-US"/>
              <a:t> Three box moulding.</a:t>
            </a:r>
          </a:p>
          <a:p>
            <a:pPr marL="457200" indent="-457200">
              <a:buFont typeface="+mj-lt"/>
              <a:buAutoNum type="arabicPeriod"/>
            </a:pPr>
            <a:r>
              <a:rPr lang="en-US"/>
              <a:t>stacked moulding.</a:t>
            </a:r>
          </a:p>
        </p:txBody>
      </p:sp>
      <p:sp>
        <p:nvSpPr>
          <p:cNvPr id="1048726" name="Title 1048725"/>
          <p:cNvSpPr>
            <a:spLocks noGrp="1"/>
          </p:cNvSpPr>
          <p:nvPr>
            <p:ph type="title"/>
          </p:nvPr>
        </p:nvSpPr>
        <p:spPr/>
        <p:txBody>
          <a:bodyPr/>
          <a:lstStyle/>
          <a:p>
            <a:r>
              <a:rPr lang="en-US"/>
              <a:t>Types of moulding</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7" name="Content Placeholder 1048726"/>
          <p:cNvSpPr>
            <a:spLocks noGrp="1"/>
          </p:cNvSpPr>
          <p:nvPr>
            <p:ph idx="1"/>
          </p:nvPr>
        </p:nvSpPr>
        <p:spPr/>
        <p:txBody>
          <a:bodyPr/>
          <a:lstStyle/>
          <a:p>
            <a:r>
              <a:rPr lang="en-US"/>
              <a:t>It is used for medium and part casting.</a:t>
            </a:r>
          </a:p>
          <a:p>
            <a:r>
              <a:rPr lang="en-US"/>
              <a:t>It is carried out on the floor.</a:t>
            </a:r>
          </a:p>
          <a:p>
            <a:r>
              <a:rPr lang="en-US"/>
              <a:t>In this moulding floor is act as drag and cope is rammed.</a:t>
            </a:r>
          </a:p>
          <a:p>
            <a:r>
              <a:rPr lang="en-US"/>
              <a:t>It is time consuming.</a:t>
            </a:r>
          </a:p>
          <a:p>
            <a:r>
              <a:rPr lang="en-US"/>
              <a:t>It requires labour.</a:t>
            </a:r>
          </a:p>
          <a:p>
            <a:r>
              <a:rPr lang="en-US"/>
              <a:t>green sand and dry sand mould  are made by this method </a:t>
            </a:r>
          </a:p>
          <a:p>
            <a:r>
              <a:rPr lang="en-US"/>
              <a:t>It is also called as bending.</a:t>
            </a:r>
          </a:p>
          <a:p>
            <a:r>
              <a:rPr lang="en-US"/>
              <a:t>Ex.wheels,pulleys,plates with ribs etc</a:t>
            </a:r>
          </a:p>
        </p:txBody>
      </p:sp>
      <p:sp>
        <p:nvSpPr>
          <p:cNvPr id="1048728" name="Title 1048727"/>
          <p:cNvSpPr>
            <a:spLocks noGrp="1"/>
          </p:cNvSpPr>
          <p:nvPr>
            <p:ph type="title"/>
          </p:nvPr>
        </p:nvSpPr>
        <p:spPr/>
        <p:txBody>
          <a:bodyPr/>
          <a:lstStyle/>
          <a:p>
            <a:r>
              <a:rPr lang="en-US"/>
              <a:t>Floor moulding </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Content Placeholder 1048728"/>
          <p:cNvSpPr>
            <a:spLocks noGrp="1"/>
          </p:cNvSpPr>
          <p:nvPr>
            <p:ph idx="1"/>
          </p:nvPr>
        </p:nvSpPr>
        <p:spPr>
          <a:xfrm>
            <a:off x="1524000" y="1324705"/>
            <a:ext cx="6934200" cy="4495800"/>
          </a:xfrm>
        </p:spPr>
        <p:txBody>
          <a:bodyPr/>
          <a:lstStyle/>
          <a:p>
            <a:r>
              <a:rPr lang="en-US"/>
              <a:t>It is used for large casting manufacturing.</a:t>
            </a:r>
          </a:p>
          <a:p>
            <a:r>
              <a:rPr lang="en-US"/>
              <a:t>Pit is dug in the floor of foundry with bed of charcoal placed at the bottom of pit to help the escape of gases.</a:t>
            </a:r>
          </a:p>
          <a:p>
            <a:r>
              <a:rPr lang="en-US"/>
              <a:t>cope is placed over the pit to complete the assembly.</a:t>
            </a:r>
          </a:p>
          <a:p>
            <a:r>
              <a:rPr lang="en-US"/>
              <a:t>Sand is rammed and wall of pit are bricklined and plastered with Liam sand.</a:t>
            </a:r>
          </a:p>
          <a:p>
            <a:r>
              <a:rPr lang="en-US"/>
              <a:t>Moulds are baked before pouring.</a:t>
            </a:r>
          </a:p>
          <a:p>
            <a:r>
              <a:rPr lang="en-US"/>
              <a:t>Gates , runner, riser, pouring basin are made in cope.</a:t>
            </a:r>
          </a:p>
          <a:p>
            <a:r>
              <a:rPr lang="en-US"/>
              <a:t>crane are used to lift the cope and position over drag.</a:t>
            </a:r>
          </a:p>
        </p:txBody>
      </p:sp>
      <p:sp>
        <p:nvSpPr>
          <p:cNvPr id="1048730" name="Title 1048729"/>
          <p:cNvSpPr>
            <a:spLocks noGrp="1"/>
          </p:cNvSpPr>
          <p:nvPr>
            <p:ph type="title"/>
          </p:nvPr>
        </p:nvSpPr>
        <p:spPr/>
        <p:txBody>
          <a:bodyPr/>
          <a:lstStyle/>
          <a:p>
            <a:r>
              <a:rPr lang="en-US"/>
              <a:t>Pit moulding</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1" name="Content Placeholder 1048730"/>
          <p:cNvSpPr>
            <a:spLocks noGrp="1"/>
          </p:cNvSpPr>
          <p:nvPr>
            <p:ph idx="1"/>
          </p:nvPr>
        </p:nvSpPr>
        <p:spPr/>
        <p:txBody>
          <a:bodyPr/>
          <a:lstStyle/>
          <a:p>
            <a:r>
              <a:rPr lang="en-US"/>
              <a:t>It is suitable for large production</a:t>
            </a:r>
          </a:p>
          <a:p>
            <a:pPr>
              <a:buFont typeface="Arial"/>
              <a:buChar char="•"/>
            </a:pPr>
            <a:r>
              <a:rPr lang="en-US"/>
              <a:t>It consist of following steps</a:t>
            </a:r>
          </a:p>
          <a:p>
            <a:pPr marL="457200" indent="-457200">
              <a:buFont typeface="+mj-lt"/>
              <a:buAutoNum type="arabicPeriod"/>
            </a:pPr>
            <a:r>
              <a:rPr lang="en-US"/>
              <a:t>Ramming of sand by jolting,squeezing in mould.</a:t>
            </a:r>
          </a:p>
          <a:p>
            <a:pPr marL="457200" indent="-457200">
              <a:buFont typeface="+mj-lt"/>
              <a:buAutoNum type="arabicPeriod"/>
            </a:pPr>
            <a:r>
              <a:rPr lang="en-US"/>
              <a:t>Rolling of mould through 180</a:t>
            </a:r>
            <a:r>
              <a:rPr lang="en-US" altLang="en-US"/>
              <a:t>°.</a:t>
            </a:r>
            <a:endParaRPr lang="en-US"/>
          </a:p>
          <a:p>
            <a:pPr marL="457200" indent="-457200">
              <a:buFont typeface="+mj-lt"/>
              <a:buAutoNum type="arabicPeriod"/>
            </a:pPr>
            <a:r>
              <a:rPr lang="en-US" altLang="en-US"/>
              <a:t>Drawing of pattern from the mould by raising or lowering mould halves.</a:t>
            </a:r>
            <a:endParaRPr lang="en-US"/>
          </a:p>
          <a:p>
            <a:pPr marL="457200" indent="-457200" algn="l">
              <a:buFont typeface="+mj-lt"/>
              <a:buAutoNum type="arabicPeriod"/>
            </a:pPr>
            <a:r>
              <a:rPr lang="en-US"/>
              <a:t>Types of machines used for making moulds are</a:t>
            </a:r>
          </a:p>
          <a:p>
            <a:pPr algn="l">
              <a:buFont typeface="Arial"/>
              <a:buChar char="•"/>
            </a:pPr>
            <a:r>
              <a:rPr lang="en-US"/>
              <a:t>Jolt moulding machine.</a:t>
            </a:r>
          </a:p>
          <a:p>
            <a:pPr algn="l">
              <a:buFont typeface="Arial"/>
              <a:buChar char="•"/>
            </a:pPr>
            <a:r>
              <a:rPr lang="en-US"/>
              <a:t>Jolt squeeze machine </a:t>
            </a:r>
          </a:p>
          <a:p>
            <a:pPr algn="l">
              <a:buFont typeface="Arial"/>
              <a:buChar char="•"/>
            </a:pPr>
            <a:r>
              <a:rPr lang="en-US"/>
              <a:t>sand slinger</a:t>
            </a:r>
          </a:p>
          <a:p>
            <a:pPr algn="l">
              <a:buFont typeface="Arial"/>
              <a:buChar char="•"/>
            </a:pPr>
            <a:endParaRPr lang="en-US"/>
          </a:p>
        </p:txBody>
      </p:sp>
      <p:sp>
        <p:nvSpPr>
          <p:cNvPr id="1048732" name="Title 1048731"/>
          <p:cNvSpPr>
            <a:spLocks noGrp="1"/>
          </p:cNvSpPr>
          <p:nvPr>
            <p:ph type="title"/>
          </p:nvPr>
        </p:nvSpPr>
        <p:spPr/>
        <p:txBody>
          <a:bodyPr/>
          <a:lstStyle/>
          <a:p>
            <a:r>
              <a:rPr lang="en-US"/>
              <a:t>Machine moulding</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3" name="Content Placeholder 1048732"/>
          <p:cNvSpPr>
            <a:spLocks noGrp="1"/>
          </p:cNvSpPr>
          <p:nvPr>
            <p:ph idx="1"/>
          </p:nvPr>
        </p:nvSpPr>
        <p:spPr/>
        <p:txBody>
          <a:bodyPr/>
          <a:lstStyle/>
          <a:p>
            <a:pPr marL="457200" indent="-457200">
              <a:buFont typeface="+mj-lt"/>
              <a:buAutoNum type="arabicPeriod"/>
            </a:pPr>
            <a:r>
              <a:rPr lang="en-US"/>
              <a:t>Centrifugal casting.</a:t>
            </a:r>
          </a:p>
          <a:p>
            <a:pPr>
              <a:buFont typeface="Arial"/>
              <a:buChar char="•"/>
            </a:pPr>
            <a:r>
              <a:rPr lang="en-US"/>
              <a:t>In this process mould is poured and allowed to solidify during revolving.</a:t>
            </a:r>
          </a:p>
          <a:p>
            <a:pPr>
              <a:buFont typeface="Arial"/>
              <a:buChar char="•"/>
            </a:pPr>
            <a:r>
              <a:rPr lang="en-US"/>
              <a:t>Due to rotation of mould  the poured metal is subjected to centrifugal force.</a:t>
            </a:r>
          </a:p>
          <a:p>
            <a:pPr>
              <a:buFont typeface="Arial"/>
              <a:buChar char="•"/>
            </a:pPr>
            <a:r>
              <a:rPr lang="en-US"/>
              <a:t>Centrifugal force is allowed molten metal to flow in the mould cavity.</a:t>
            </a:r>
          </a:p>
          <a:p>
            <a:pPr>
              <a:buFont typeface="Arial"/>
              <a:buChar char="•"/>
            </a:pPr>
            <a:r>
              <a:rPr lang="en-US"/>
              <a:t>Dence metal is deposited on periphery of mould and start sophistication.</a:t>
            </a:r>
          </a:p>
          <a:p>
            <a:pPr>
              <a:buFont typeface="Arial"/>
              <a:buChar char="•"/>
            </a:pPr>
            <a:r>
              <a:rPr lang="en-US"/>
              <a:t>Lighter slag, oxides, inclusions are get separated and moves towards centre.</a:t>
            </a:r>
          </a:p>
        </p:txBody>
      </p:sp>
      <p:sp>
        <p:nvSpPr>
          <p:cNvPr id="1048734" name="Title 1048733"/>
          <p:cNvSpPr>
            <a:spLocks noGrp="1"/>
          </p:cNvSpPr>
          <p:nvPr>
            <p:ph type="title"/>
          </p:nvPr>
        </p:nvSpPr>
        <p:spPr/>
        <p:txBody>
          <a:bodyPr/>
          <a:lstStyle/>
          <a:p>
            <a:pPr marL="4763" indent="0">
              <a:buNone/>
            </a:pPr>
            <a:r>
              <a:rPr lang="en-US"/>
              <a:t>Types of Casting Methods</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5" name="Content Placeholder 1048734"/>
          <p:cNvSpPr>
            <a:spLocks noGrp="1"/>
          </p:cNvSpPr>
          <p:nvPr>
            <p:ph idx="1"/>
          </p:nvPr>
        </p:nvSpPr>
        <p:spPr/>
        <p:txBody>
          <a:bodyPr/>
          <a:lstStyle/>
          <a:p>
            <a:pPr>
              <a:buFont typeface="Arial"/>
              <a:buChar char="•"/>
            </a:pPr>
            <a:r>
              <a:rPr lang="en-US"/>
              <a:t>There is no use of gates runner and riser.</a:t>
            </a:r>
          </a:p>
          <a:p>
            <a:pPr>
              <a:buFont typeface="Arial"/>
              <a:buChar char="•"/>
            </a:pPr>
            <a:r>
              <a:rPr lang="en-US"/>
              <a:t>The axis of rotation may be horizontal or vertical.</a:t>
            </a:r>
          </a:p>
          <a:p>
            <a:pPr>
              <a:buFont typeface="Arial"/>
              <a:buChar char="•"/>
            </a:pPr>
            <a:r>
              <a:rPr lang="en-US">
                <a:solidFill>
                  <a:srgbClr val="C00000"/>
                </a:solidFill>
              </a:rPr>
              <a:t>Applications</a:t>
            </a:r>
            <a:endParaRPr lang="en-US"/>
          </a:p>
          <a:p>
            <a:pPr>
              <a:buFont typeface="Arial"/>
              <a:buChar char="•"/>
            </a:pPr>
            <a:r>
              <a:rPr lang="en-US">
                <a:solidFill>
                  <a:srgbClr val="000000"/>
                </a:solidFill>
              </a:rPr>
              <a:t>Pipes , cylinder liners, bearings, bushes, gears fly wheels, gun barrels etc.</a:t>
            </a:r>
            <a:endParaRPr lang="en-US"/>
          </a:p>
        </p:txBody>
      </p:sp>
      <p:sp>
        <p:nvSpPr>
          <p:cNvPr id="1048736" name="Title 1048735"/>
          <p:cNvSpPr>
            <a:spLocks noGrp="1"/>
          </p:cNvSpPr>
          <p:nvPr>
            <p:ph type="title"/>
          </p:nvPr>
        </p:nvSpPr>
        <p:spPr/>
        <p:txBody>
          <a:bodyPr/>
          <a:lstStyle/>
          <a:p>
            <a:r>
              <a:rPr lang="en-US"/>
              <a:t>Centrifugal casting</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7" name="Content Placeholder 1048736"/>
          <p:cNvSpPr>
            <a:spLocks noGrp="1"/>
          </p:cNvSpPr>
          <p:nvPr>
            <p:ph idx="1"/>
          </p:nvPr>
        </p:nvSpPr>
        <p:spPr/>
        <p:txBody>
          <a:bodyPr/>
          <a:lstStyle/>
          <a:p>
            <a:pPr>
              <a:buFont typeface="Arial"/>
              <a:buChar char="•"/>
            </a:pPr>
            <a:r>
              <a:rPr lang="en-US"/>
              <a:t> This process is used for smooth surface finish </a:t>
            </a:r>
          </a:p>
          <a:p>
            <a:pPr>
              <a:buFont typeface="Arial"/>
              <a:buChar char="•"/>
            </a:pPr>
            <a:r>
              <a:rPr lang="en-US"/>
              <a:t>It consist of dump box which is partially filled with silica and thermoelectric resin.</a:t>
            </a:r>
          </a:p>
          <a:p>
            <a:pPr>
              <a:buFont typeface="Arial"/>
              <a:buChar char="•"/>
            </a:pPr>
            <a:r>
              <a:rPr lang="en-US"/>
              <a:t>Then dump box is sealed with metallic pattern which is preheated about 250</a:t>
            </a:r>
            <a:r>
              <a:rPr lang="en-US" altLang="en-US"/>
              <a:t>°c.</a:t>
            </a:r>
            <a:endParaRPr lang="en-US"/>
          </a:p>
          <a:p>
            <a:pPr>
              <a:buFont typeface="Arial"/>
              <a:buChar char="•"/>
            </a:pPr>
            <a:r>
              <a:rPr lang="en-US" altLang="en-US"/>
              <a:t>When dump box is inverted mixture is get melted and forms the shell on pattern plate.</a:t>
            </a:r>
            <a:endParaRPr lang="en-US"/>
          </a:p>
          <a:p>
            <a:pPr>
              <a:buFont typeface="Arial"/>
              <a:buChar char="•"/>
            </a:pPr>
            <a:r>
              <a:rPr lang="en-US" altLang="en-US"/>
              <a:t>Shell thickness varies from 5mm to 8mm.</a:t>
            </a:r>
            <a:endParaRPr lang="en-US"/>
          </a:p>
          <a:p>
            <a:pPr>
              <a:buFont typeface="Arial"/>
              <a:buChar char="•"/>
            </a:pPr>
            <a:r>
              <a:rPr lang="en-US" altLang="en-US"/>
              <a:t>These two shells joint togather to form complete mould.</a:t>
            </a:r>
            <a:endParaRPr lang="en-US"/>
          </a:p>
          <a:p>
            <a:pPr>
              <a:buFont typeface="Arial"/>
              <a:buChar char="•"/>
            </a:pPr>
            <a:r>
              <a:rPr lang="en-US" altLang="en-US"/>
              <a:t> </a:t>
            </a:r>
            <a:endParaRPr lang="en-US"/>
          </a:p>
        </p:txBody>
      </p:sp>
      <p:sp>
        <p:nvSpPr>
          <p:cNvPr id="1048738" name="Title 1048737"/>
          <p:cNvSpPr>
            <a:spLocks noGrp="1"/>
          </p:cNvSpPr>
          <p:nvPr>
            <p:ph type="title"/>
          </p:nvPr>
        </p:nvSpPr>
        <p:spPr/>
        <p:txBody>
          <a:bodyPr/>
          <a:lstStyle/>
          <a:p>
            <a:r>
              <a:rPr lang="en-US"/>
              <a:t>Shell moulding</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Content Placeholder 1048738"/>
          <p:cNvSpPr>
            <a:spLocks noGrp="1"/>
          </p:cNvSpPr>
          <p:nvPr>
            <p:ph idx="1"/>
          </p:nvPr>
        </p:nvSpPr>
        <p:spPr/>
        <p:txBody>
          <a:bodyPr/>
          <a:lstStyle/>
          <a:p>
            <a:r>
              <a:rPr lang="en-US"/>
              <a:t>Applications.</a:t>
            </a:r>
          </a:p>
          <a:p>
            <a:pPr>
              <a:buFont typeface="Arial"/>
              <a:buChar char="•"/>
            </a:pPr>
            <a:r>
              <a:rPr lang="en-US"/>
              <a:t>small pulleys ,motor housing, fan blades, cylinders, cylinder heads, break drums.</a:t>
            </a:r>
          </a:p>
        </p:txBody>
      </p:sp>
      <p:sp>
        <p:nvSpPr>
          <p:cNvPr id="1048740" name="Title 1048739"/>
          <p:cNvSpPr>
            <a:spLocks noGrp="1"/>
          </p:cNvSpPr>
          <p:nvPr>
            <p:ph type="title"/>
          </p:nvPr>
        </p:nvSpPr>
        <p:spPr/>
        <p:txBody>
          <a:bodyPr/>
          <a:lstStyle/>
          <a:p>
            <a:r>
              <a:rPr lang="en-US"/>
              <a:t>Shell moulding</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1" name="Content Placeholder 1048740"/>
          <p:cNvSpPr>
            <a:spLocks noGrp="1"/>
          </p:cNvSpPr>
          <p:nvPr>
            <p:ph idx="1"/>
          </p:nvPr>
        </p:nvSpPr>
        <p:spPr/>
        <p:txBody>
          <a:bodyPr/>
          <a:lstStyle/>
          <a:p>
            <a:pPr>
              <a:buFont typeface="Arial"/>
              <a:buChar char="•"/>
            </a:pPr>
            <a:r>
              <a:rPr lang="en-US" sz="2100"/>
              <a:t>It is also known as lost wax casting precision casting.</a:t>
            </a:r>
          </a:p>
          <a:p>
            <a:pPr>
              <a:buFont typeface="Arial"/>
              <a:buChar char="•"/>
            </a:pPr>
            <a:r>
              <a:rPr lang="en-US" sz="2100"/>
              <a:t>This method is used for manufacturing jewellry,dental goods.</a:t>
            </a:r>
          </a:p>
          <a:p>
            <a:pPr>
              <a:buFont typeface="Arial"/>
              <a:buChar char="•"/>
            </a:pPr>
            <a:r>
              <a:rPr lang="en-US" sz="2100"/>
              <a:t>It involves following steps.</a:t>
            </a:r>
          </a:p>
          <a:p>
            <a:pPr marL="457200" indent="-457200">
              <a:buFont typeface="+mj-lt"/>
              <a:buAutoNum type="arabicPeriod"/>
            </a:pPr>
            <a:r>
              <a:rPr lang="en-US" sz="2100"/>
              <a:t>Making of wax pattern sometimes mercury or plastic may be used.</a:t>
            </a:r>
          </a:p>
          <a:p>
            <a:pPr marL="457200" indent="-457200">
              <a:buFont typeface="+mj-lt"/>
              <a:buAutoNum type="arabicPeriod"/>
            </a:pPr>
            <a:r>
              <a:rPr lang="en-US" sz="2100"/>
              <a:t>provide wax made gates, runners, riser to the pattern.</a:t>
            </a:r>
          </a:p>
          <a:p>
            <a:pPr marL="457200" indent="-457200">
              <a:buFont typeface="+mj-lt"/>
              <a:buAutoNum type="arabicPeriod"/>
            </a:pPr>
            <a:r>
              <a:rPr lang="en-US" sz="2100"/>
              <a:t>Complete wax pattern put in box and filled with liquid mould material.</a:t>
            </a:r>
          </a:p>
          <a:p>
            <a:pPr marL="457200" indent="-457200">
              <a:buFont typeface="+mj-lt"/>
              <a:buAutoNum type="arabicPeriod"/>
            </a:pPr>
            <a:r>
              <a:rPr lang="en-US" sz="2100"/>
              <a:t>liquid around wax pattern solidifies and form mould</a:t>
            </a:r>
          </a:p>
          <a:p>
            <a:pPr marL="457200" indent="-457200">
              <a:buFont typeface="+mj-lt"/>
              <a:buAutoNum type="arabicPeriod"/>
            </a:pPr>
            <a:r>
              <a:rPr lang="en-US" sz="2100"/>
              <a:t>Then mould is heated to 150</a:t>
            </a:r>
            <a:r>
              <a:rPr lang="en-US" altLang="en-US" sz="2100"/>
              <a:t>°to 800°c to remove wax </a:t>
            </a:r>
            <a:endParaRPr lang="en-US" sz="2100"/>
          </a:p>
        </p:txBody>
      </p:sp>
      <p:sp>
        <p:nvSpPr>
          <p:cNvPr id="1048742" name="Title 1048741"/>
          <p:cNvSpPr>
            <a:spLocks noGrp="1"/>
          </p:cNvSpPr>
          <p:nvPr>
            <p:ph type="title"/>
          </p:nvPr>
        </p:nvSpPr>
        <p:spPr/>
        <p:txBody>
          <a:bodyPr/>
          <a:lstStyle/>
          <a:p>
            <a:r>
              <a:rPr lang="en-US"/>
              <a:t>Investment casting</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Content Placeholder 1048742"/>
          <p:cNvSpPr>
            <a:spLocks noGrp="1"/>
          </p:cNvSpPr>
          <p:nvPr>
            <p:ph idx="1"/>
          </p:nvPr>
        </p:nvSpPr>
        <p:spPr/>
        <p:txBody>
          <a:bodyPr/>
          <a:lstStyle/>
          <a:p>
            <a:r>
              <a:rPr lang="en-US"/>
              <a:t>Applications.</a:t>
            </a:r>
          </a:p>
          <a:p>
            <a:pPr>
              <a:buFont typeface="Arial"/>
              <a:buChar char="•"/>
            </a:pPr>
            <a:r>
              <a:rPr lang="en-US"/>
              <a:t>surgical instruments.</a:t>
            </a:r>
          </a:p>
          <a:p>
            <a:pPr>
              <a:buFont typeface="Arial"/>
              <a:buChar char="•"/>
            </a:pPr>
            <a:r>
              <a:rPr lang="en-US"/>
              <a:t>vanes and blades for gas turbine.</a:t>
            </a:r>
          </a:p>
          <a:p>
            <a:pPr>
              <a:buFont typeface="Arial"/>
              <a:buChar char="•"/>
            </a:pPr>
            <a:r>
              <a:rPr lang="en-US"/>
              <a:t>costume jewellery.</a:t>
            </a:r>
          </a:p>
          <a:p>
            <a:pPr>
              <a:buFont typeface="Arial"/>
              <a:buChar char="•"/>
            </a:pPr>
            <a:r>
              <a:rPr lang="en-US"/>
              <a:t>valve bodies.</a:t>
            </a:r>
          </a:p>
          <a:p>
            <a:pPr>
              <a:buFont typeface="Arial"/>
              <a:buChar char="•"/>
            </a:pPr>
            <a:r>
              <a:rPr lang="en-US"/>
              <a:t>Reciprocating slides for cloth cutting machine.</a:t>
            </a:r>
          </a:p>
          <a:p>
            <a:pPr>
              <a:buFont typeface="Arial"/>
              <a:buChar char="•"/>
            </a:pPr>
            <a:endParaRPr lang="en-US"/>
          </a:p>
        </p:txBody>
      </p:sp>
      <p:sp>
        <p:nvSpPr>
          <p:cNvPr id="1048744" name="Title 1048743"/>
          <p:cNvSpPr>
            <a:spLocks noGrp="1"/>
          </p:cNvSpPr>
          <p:nvPr>
            <p:ph type="title"/>
          </p:nvPr>
        </p:nvSpPr>
        <p:spPr/>
        <p:txBody>
          <a:bodyPr/>
          <a:lstStyle/>
          <a:p>
            <a:r>
              <a:rPr lang="en-US"/>
              <a:t>Investment casting</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Content Placeholder 1048744"/>
          <p:cNvSpPr>
            <a:spLocks noGrp="1"/>
          </p:cNvSpPr>
          <p:nvPr>
            <p:ph idx="1"/>
          </p:nvPr>
        </p:nvSpPr>
        <p:spPr/>
        <p:txBody>
          <a:bodyPr/>
          <a:lstStyle/>
          <a:p>
            <a:pPr marL="0" indent="0">
              <a:buNone/>
            </a:pPr>
            <a:r>
              <a:rPr lang="en-US"/>
              <a:t>Following are the casting defects arises during faulty processes in casting.</a:t>
            </a:r>
          </a:p>
          <a:p>
            <a:pPr marL="457200" indent="-457200">
              <a:buFont typeface="+mj-lt"/>
              <a:buAutoNum type="arabicPeriod"/>
            </a:pPr>
            <a:r>
              <a:rPr lang="en-US"/>
              <a:t>Blow holes.</a:t>
            </a:r>
          </a:p>
          <a:p>
            <a:pPr marL="457200" indent="-457200">
              <a:buFont typeface="+mj-lt"/>
              <a:buAutoNum type="arabicPeriod"/>
            </a:pPr>
            <a:r>
              <a:rPr lang="en-US"/>
              <a:t>Pin holes.</a:t>
            </a:r>
          </a:p>
          <a:p>
            <a:pPr marL="457200" indent="-457200">
              <a:buFont typeface="+mj-lt"/>
              <a:buAutoNum type="arabicPeriod"/>
            </a:pPr>
            <a:r>
              <a:rPr lang="en-US"/>
              <a:t>Shift.</a:t>
            </a:r>
          </a:p>
          <a:p>
            <a:pPr marL="457200" indent="-457200">
              <a:buFont typeface="+mj-lt"/>
              <a:buAutoNum type="arabicPeriod"/>
            </a:pPr>
            <a:r>
              <a:rPr lang="en-US"/>
              <a:t>Short runs.</a:t>
            </a:r>
          </a:p>
          <a:p>
            <a:pPr marL="457200" indent="-457200">
              <a:buFont typeface="+mj-lt"/>
              <a:buAutoNum type="arabicPeriod"/>
            </a:pPr>
            <a:r>
              <a:rPr lang="en-US"/>
              <a:t>Hot tears.</a:t>
            </a:r>
          </a:p>
          <a:p>
            <a:pPr marL="457200" indent="-457200">
              <a:buFont typeface="+mj-lt"/>
              <a:buAutoNum type="arabicPeriod"/>
            </a:pPr>
            <a:r>
              <a:rPr lang="en-US"/>
              <a:t>cold shuts.</a:t>
            </a:r>
          </a:p>
        </p:txBody>
      </p:sp>
      <p:sp>
        <p:nvSpPr>
          <p:cNvPr id="1048746" name="Title 1048745"/>
          <p:cNvSpPr>
            <a:spLocks noGrp="1"/>
          </p:cNvSpPr>
          <p:nvPr>
            <p:ph type="title"/>
          </p:nvPr>
        </p:nvSpPr>
        <p:spPr/>
        <p:txBody>
          <a:bodyPr/>
          <a:lstStyle/>
          <a:p>
            <a:r>
              <a:rPr lang="en-US"/>
              <a:t>Casting defects </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7" name="Content Placeholder 1048746"/>
          <p:cNvSpPr>
            <a:spLocks noGrp="1"/>
          </p:cNvSpPr>
          <p:nvPr>
            <p:ph idx="1"/>
          </p:nvPr>
        </p:nvSpPr>
        <p:spPr/>
        <p:txBody>
          <a:bodyPr/>
          <a:lstStyle/>
          <a:p>
            <a:pPr>
              <a:buFont typeface="Arial"/>
              <a:buChar char="•"/>
            </a:pPr>
            <a:r>
              <a:rPr lang="en-US" sz="1800"/>
              <a:t>Blow holes are spherical, flattened or elongated cavities present in the casting .They are formed due to following reasons.</a:t>
            </a:r>
            <a:endParaRPr lang="en-US"/>
          </a:p>
          <a:p>
            <a:pPr>
              <a:buFont typeface="Arial"/>
              <a:buChar char="•"/>
            </a:pPr>
            <a:r>
              <a:rPr lang="en-US"/>
              <a:t>Reasons.</a:t>
            </a:r>
          </a:p>
          <a:p>
            <a:pPr marL="457200" indent="-457200">
              <a:buFont typeface="+mj-lt"/>
              <a:buAutoNum type="arabicPeriod"/>
            </a:pPr>
            <a:r>
              <a:rPr lang="en-US" sz="1500"/>
              <a:t>Rapid evolution of gas from mould.</a:t>
            </a:r>
            <a:endParaRPr lang="en-US"/>
          </a:p>
          <a:p>
            <a:pPr marL="457200" indent="-457200">
              <a:buFont typeface="+mj-lt"/>
              <a:buAutoNum type="arabicPeriod"/>
            </a:pPr>
            <a:r>
              <a:rPr lang="en-US" sz="1500"/>
              <a:t>Lack of porosity in mould box.</a:t>
            </a:r>
            <a:endParaRPr lang="en-US"/>
          </a:p>
          <a:p>
            <a:pPr marL="457200" indent="-457200">
              <a:buFont typeface="+mj-lt"/>
              <a:buAutoNum type="arabicPeriod"/>
            </a:pPr>
            <a:r>
              <a:rPr lang="en-US" sz="1500"/>
              <a:t>Excess moisture in sand.</a:t>
            </a:r>
            <a:endParaRPr lang="en-US"/>
          </a:p>
          <a:p>
            <a:pPr marL="457200" indent="-457200">
              <a:buFont typeface="+mj-lt"/>
              <a:buAutoNum type="arabicPeriod"/>
            </a:pPr>
            <a:r>
              <a:rPr lang="en-US" sz="1500"/>
              <a:t>Hard ramming of sand.</a:t>
            </a:r>
            <a:endParaRPr lang="en-US"/>
          </a:p>
          <a:p>
            <a:pPr>
              <a:buFont typeface="Arial"/>
              <a:buChar char="•"/>
            </a:pPr>
            <a:r>
              <a:rPr lang="en-US"/>
              <a:t>Remedies</a:t>
            </a:r>
          </a:p>
          <a:p>
            <a:pPr>
              <a:buFont typeface="Arial"/>
              <a:buChar char="•"/>
            </a:pPr>
            <a:r>
              <a:rPr lang="en-US" sz="1600"/>
              <a:t>Moulds and cores are properly vanted.</a:t>
            </a:r>
            <a:endParaRPr lang="en-US"/>
          </a:p>
          <a:p>
            <a:pPr>
              <a:buFont typeface="Arial"/>
              <a:buChar char="•"/>
            </a:pPr>
            <a:r>
              <a:rPr lang="en-US" sz="1600"/>
              <a:t>Avoid hard ramming.</a:t>
            </a:r>
            <a:endParaRPr lang="en-US"/>
          </a:p>
          <a:p>
            <a:pPr>
              <a:buFont typeface="Arial"/>
              <a:buChar char="•"/>
            </a:pPr>
            <a:r>
              <a:rPr lang="en-US" sz="1600"/>
              <a:t>Proper amount of moisture in sand.</a:t>
            </a:r>
            <a:endParaRPr lang="en-US"/>
          </a:p>
          <a:p>
            <a:pPr>
              <a:buFont typeface="Arial"/>
              <a:buChar char="•"/>
            </a:pPr>
            <a:r>
              <a:rPr lang="en-US" sz="1600"/>
              <a:t>Proper grain size of sand.</a:t>
            </a:r>
            <a:endParaRPr lang="en-US"/>
          </a:p>
        </p:txBody>
      </p:sp>
      <p:sp>
        <p:nvSpPr>
          <p:cNvPr id="1048748" name="Title 1048747"/>
          <p:cNvSpPr>
            <a:spLocks noGrp="1"/>
          </p:cNvSpPr>
          <p:nvPr>
            <p:ph type="title"/>
          </p:nvPr>
        </p:nvSpPr>
        <p:spPr/>
        <p:txBody>
          <a:bodyPr/>
          <a:lstStyle/>
          <a:p>
            <a:r>
              <a:rPr lang="en-US"/>
              <a:t>Blow holes</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9" name="Content Placeholder 1048748"/>
          <p:cNvSpPr>
            <a:spLocks noGrp="1"/>
          </p:cNvSpPr>
          <p:nvPr>
            <p:ph idx="1"/>
          </p:nvPr>
        </p:nvSpPr>
        <p:spPr/>
        <p:txBody>
          <a:bodyPr/>
          <a:lstStyle/>
          <a:p>
            <a:pPr>
              <a:buFont typeface="Arial"/>
              <a:buChar char="•"/>
            </a:pPr>
            <a:r>
              <a:rPr lang="en-US" sz="1600"/>
              <a:t>Pin holes  are small holes of less than 2mm diameter which are on surface or bellow the surface of casting.</a:t>
            </a:r>
            <a:endParaRPr lang="en-US"/>
          </a:p>
          <a:p>
            <a:pPr>
              <a:buFont typeface="Arial"/>
              <a:buChar char="•"/>
            </a:pPr>
            <a:r>
              <a:rPr lang="en-US"/>
              <a:t>Causes.</a:t>
            </a:r>
          </a:p>
          <a:p>
            <a:pPr>
              <a:buFont typeface="Arial"/>
              <a:buChar char="•"/>
            </a:pPr>
            <a:r>
              <a:rPr lang="en-US" sz="1600"/>
              <a:t>High pouring temperature.</a:t>
            </a:r>
            <a:endParaRPr lang="en-US"/>
          </a:p>
          <a:p>
            <a:pPr>
              <a:buFont typeface="Arial"/>
              <a:buChar char="•"/>
            </a:pPr>
            <a:r>
              <a:rPr lang="en-US" sz="1600"/>
              <a:t>Gas dissolved in molted metal.</a:t>
            </a:r>
            <a:endParaRPr lang="en-US"/>
          </a:p>
          <a:p>
            <a:pPr>
              <a:buFont typeface="Arial"/>
              <a:buChar char="•"/>
            </a:pPr>
            <a:r>
              <a:rPr lang="en-US" sz="1600"/>
              <a:t>gases are not removed properly from molted metal.</a:t>
            </a:r>
            <a:endParaRPr lang="en-US"/>
          </a:p>
          <a:p>
            <a:pPr>
              <a:buFont typeface="Arial"/>
              <a:buChar char="•"/>
            </a:pPr>
            <a:r>
              <a:rPr lang="en-US" sz="1600"/>
              <a:t>Sand with higher moisture content.</a:t>
            </a:r>
            <a:endParaRPr lang="en-US"/>
          </a:p>
          <a:p>
            <a:pPr>
              <a:buFont typeface="Arial"/>
              <a:buChar char="•"/>
            </a:pPr>
            <a:r>
              <a:rPr lang="en-US" sz="2400"/>
              <a:t>Remedies.</a:t>
            </a:r>
            <a:endParaRPr lang="en-US"/>
          </a:p>
          <a:p>
            <a:pPr>
              <a:buFont typeface="Arial"/>
              <a:buChar char="•"/>
            </a:pPr>
            <a:r>
              <a:rPr lang="en-US" sz="1600"/>
              <a:t>Maintain pouring temperature.</a:t>
            </a:r>
            <a:endParaRPr lang="en-US"/>
          </a:p>
          <a:p>
            <a:pPr>
              <a:buFont typeface="Arial"/>
              <a:buChar char="•"/>
            </a:pPr>
            <a:r>
              <a:rPr lang="en-US" sz="1600"/>
              <a:t>increase flux proportion.</a:t>
            </a:r>
            <a:endParaRPr lang="en-US"/>
          </a:p>
          <a:p>
            <a:pPr>
              <a:buFont typeface="Arial"/>
              <a:buChar char="•"/>
            </a:pPr>
            <a:r>
              <a:rPr lang="en-US" sz="1600"/>
              <a:t>reducing moisture content in sand.</a:t>
            </a:r>
            <a:endParaRPr lang="en-US"/>
          </a:p>
          <a:p>
            <a:pPr>
              <a:buFont typeface="Arial"/>
              <a:buChar char="•"/>
            </a:pPr>
            <a:r>
              <a:rPr lang="en-US" sz="1600"/>
              <a:t>Effective regarding.</a:t>
            </a:r>
            <a:endParaRPr lang="en-US"/>
          </a:p>
        </p:txBody>
      </p:sp>
      <p:sp>
        <p:nvSpPr>
          <p:cNvPr id="1048750" name="Title 1048749"/>
          <p:cNvSpPr>
            <a:spLocks noGrp="1"/>
          </p:cNvSpPr>
          <p:nvPr>
            <p:ph type="title"/>
          </p:nvPr>
        </p:nvSpPr>
        <p:spPr/>
        <p:txBody>
          <a:bodyPr/>
          <a:lstStyle/>
          <a:p>
            <a:r>
              <a:rPr lang="en-US"/>
              <a:t>Pinholes</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1" name="Content Placeholder 1048750"/>
          <p:cNvSpPr>
            <a:spLocks noGrp="1"/>
          </p:cNvSpPr>
          <p:nvPr>
            <p:ph idx="1"/>
          </p:nvPr>
        </p:nvSpPr>
        <p:spPr/>
        <p:txBody>
          <a:bodyPr/>
          <a:lstStyle/>
          <a:p>
            <a:r>
              <a:rPr lang="en-US" sz="1600"/>
              <a:t>It is external defect arises due to mis allotment  parts of casting.</a:t>
            </a:r>
            <a:endParaRPr lang="en-US"/>
          </a:p>
          <a:p>
            <a:r>
              <a:rPr lang="en-US" sz="2400"/>
              <a:t>Causes.</a:t>
            </a:r>
            <a:endParaRPr lang="en-US"/>
          </a:p>
          <a:p>
            <a:pPr>
              <a:buFont typeface="Arial"/>
              <a:buChar char="•"/>
            </a:pPr>
            <a:r>
              <a:rPr lang="en-US" sz="1600"/>
              <a:t>Core displacement.</a:t>
            </a:r>
            <a:endParaRPr lang="en-US"/>
          </a:p>
          <a:p>
            <a:pPr>
              <a:buFont typeface="Arial"/>
              <a:buChar char="•"/>
            </a:pPr>
            <a:r>
              <a:rPr lang="en-US" sz="1600"/>
              <a:t> Misalignment of cope and drag.</a:t>
            </a:r>
            <a:endParaRPr lang="en-US"/>
          </a:p>
          <a:p>
            <a:pPr>
              <a:buFont typeface="Arial"/>
              <a:buChar char="•"/>
            </a:pPr>
            <a:r>
              <a:rPr lang="en-US" sz="1600"/>
              <a:t>warn out or burn out of clamping pins.</a:t>
            </a:r>
            <a:endParaRPr lang="en-US"/>
          </a:p>
          <a:p>
            <a:pPr>
              <a:buFont typeface="Arial"/>
              <a:buChar char="•"/>
            </a:pPr>
            <a:r>
              <a:rPr lang="en-US" sz="1600"/>
              <a:t>Misalignment of two halves of pattern.</a:t>
            </a:r>
            <a:endParaRPr lang="en-US"/>
          </a:p>
          <a:p>
            <a:pPr>
              <a:buFont typeface="Arial"/>
              <a:buChar char="•"/>
            </a:pPr>
            <a:r>
              <a:rPr lang="en-US" sz="2400"/>
              <a:t>Remedies.</a:t>
            </a:r>
            <a:endParaRPr lang="en-US"/>
          </a:p>
          <a:p>
            <a:pPr>
              <a:buFont typeface="Arial"/>
              <a:buChar char="•"/>
            </a:pPr>
            <a:r>
              <a:rPr lang="en-US" sz="1600"/>
              <a:t>Repair or replacement of dowel pins.</a:t>
            </a:r>
            <a:endParaRPr lang="en-US"/>
          </a:p>
          <a:p>
            <a:pPr>
              <a:buFont typeface="Arial"/>
              <a:buChar char="•"/>
            </a:pPr>
            <a:r>
              <a:rPr lang="en-US" sz="1600"/>
              <a:t>Proper alignment of pattern.</a:t>
            </a:r>
            <a:endParaRPr lang="en-US"/>
          </a:p>
          <a:p>
            <a:pPr>
              <a:buFont typeface="Arial"/>
              <a:buChar char="•"/>
            </a:pPr>
            <a:r>
              <a:rPr lang="en-US" sz="1600"/>
              <a:t>Proper alignment of cope and drag.</a:t>
            </a:r>
            <a:endParaRPr lang="en-US"/>
          </a:p>
          <a:p>
            <a:pPr>
              <a:buFont typeface="Arial"/>
              <a:buChar char="•"/>
            </a:pPr>
            <a:r>
              <a:rPr lang="en-US" sz="1600"/>
              <a:t>Repair clamping pins.</a:t>
            </a:r>
            <a:endParaRPr lang="en-US"/>
          </a:p>
        </p:txBody>
      </p:sp>
      <p:sp>
        <p:nvSpPr>
          <p:cNvPr id="1048752" name="Title 1048751"/>
          <p:cNvSpPr>
            <a:spLocks noGrp="1"/>
          </p:cNvSpPr>
          <p:nvPr>
            <p:ph type="title"/>
          </p:nvPr>
        </p:nvSpPr>
        <p:spPr/>
        <p:txBody>
          <a:bodyPr/>
          <a:lstStyle/>
          <a:p>
            <a:r>
              <a:rPr lang="en-US"/>
              <a:t>Shift</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3" name="Content Placeholder 1048752"/>
          <p:cNvSpPr>
            <a:spLocks noGrp="1"/>
          </p:cNvSpPr>
          <p:nvPr>
            <p:ph idx="1"/>
          </p:nvPr>
        </p:nvSpPr>
        <p:spPr/>
        <p:txBody>
          <a:bodyPr/>
          <a:lstStyle/>
          <a:p>
            <a:r>
              <a:rPr lang="en-US" sz="1600"/>
              <a:t>It is also called as Morin.</a:t>
            </a:r>
            <a:endParaRPr lang="en-US"/>
          </a:p>
          <a:p>
            <a:r>
              <a:rPr lang="en-US" sz="1600"/>
              <a:t>when cavity in mould is filled incompletely then short run introduces.</a:t>
            </a:r>
            <a:endParaRPr lang="en-US"/>
          </a:p>
          <a:p>
            <a:r>
              <a:rPr lang="en-US" sz="2400"/>
              <a:t>Causes</a:t>
            </a:r>
            <a:r>
              <a:rPr lang="en-US" sz="1600"/>
              <a:t>.</a:t>
            </a:r>
            <a:endParaRPr lang="en-US"/>
          </a:p>
          <a:p>
            <a:r>
              <a:rPr lang="en-US" sz="1600"/>
              <a:t>Insufficient metal supply.</a:t>
            </a:r>
            <a:endParaRPr lang="en-US"/>
          </a:p>
          <a:p>
            <a:r>
              <a:rPr lang="en-US" sz="1600"/>
              <a:t>lack of fluidity in molten Merkel.</a:t>
            </a:r>
            <a:endParaRPr lang="en-US"/>
          </a:p>
          <a:p>
            <a:r>
              <a:rPr lang="en-US" sz="1600"/>
              <a:t>Molten metal temp is low.</a:t>
            </a:r>
            <a:endParaRPr lang="en-US"/>
          </a:p>
          <a:p>
            <a:r>
              <a:rPr lang="en-US" sz="1600"/>
              <a:t>faulty gating system.</a:t>
            </a:r>
            <a:endParaRPr lang="en-US"/>
          </a:p>
          <a:p>
            <a:r>
              <a:rPr lang="en-US" sz="2400"/>
              <a:t>Remedies.</a:t>
            </a:r>
            <a:endParaRPr lang="en-US"/>
          </a:p>
          <a:p>
            <a:r>
              <a:rPr lang="en-US" sz="1600"/>
              <a:t>Adjust pouring temp.</a:t>
            </a:r>
            <a:endParaRPr lang="en-US"/>
          </a:p>
          <a:p>
            <a:r>
              <a:rPr lang="en-US" sz="1600"/>
              <a:t>Adjust rate of pouring.</a:t>
            </a:r>
            <a:endParaRPr lang="en-US"/>
          </a:p>
          <a:p>
            <a:r>
              <a:rPr lang="en-US" sz="1600"/>
              <a:t>Modifications in gating system.</a:t>
            </a:r>
            <a:endParaRPr lang="en-US"/>
          </a:p>
        </p:txBody>
      </p:sp>
      <p:sp>
        <p:nvSpPr>
          <p:cNvPr id="1048754" name="Title 1048753"/>
          <p:cNvSpPr>
            <a:spLocks noGrp="1"/>
          </p:cNvSpPr>
          <p:nvPr>
            <p:ph type="title"/>
          </p:nvPr>
        </p:nvSpPr>
        <p:spPr/>
        <p:txBody>
          <a:bodyPr/>
          <a:lstStyle/>
          <a:p>
            <a:r>
              <a:rPr lang="en-US"/>
              <a:t>Short run</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5" name="Content Placeholder 1048754"/>
          <p:cNvSpPr>
            <a:spLocks noGrp="1"/>
          </p:cNvSpPr>
          <p:nvPr>
            <p:ph idx="1"/>
          </p:nvPr>
        </p:nvSpPr>
        <p:spPr/>
        <p:txBody>
          <a:bodyPr/>
          <a:lstStyle/>
          <a:p>
            <a:r>
              <a:rPr lang="en-US" sz="1600"/>
              <a:t>It is also called as pulls or hot crack.</a:t>
            </a:r>
            <a:endParaRPr lang="en-US"/>
          </a:p>
          <a:p>
            <a:r>
              <a:rPr lang="en-US" sz="1600"/>
              <a:t>They may be internal or external.</a:t>
            </a:r>
            <a:endParaRPr lang="en-US"/>
          </a:p>
          <a:p>
            <a:r>
              <a:rPr lang="en-US" sz="1600"/>
              <a:t>They having dark blue in appearance on surface.</a:t>
            </a:r>
            <a:endParaRPr lang="en-US"/>
          </a:p>
          <a:p>
            <a:r>
              <a:rPr lang="en-US" sz="2400"/>
              <a:t>Causes.</a:t>
            </a:r>
            <a:endParaRPr lang="en-US"/>
          </a:p>
          <a:p>
            <a:r>
              <a:rPr lang="en-US" sz="1600"/>
              <a:t>Lack of compatibility of core.</a:t>
            </a:r>
            <a:endParaRPr lang="en-US"/>
          </a:p>
          <a:p>
            <a:r>
              <a:rPr lang="en-US" sz="1600"/>
              <a:t>high temp of casting metal.</a:t>
            </a:r>
            <a:endParaRPr lang="en-US"/>
          </a:p>
          <a:p>
            <a:r>
              <a:rPr lang="en-US" sz="1600"/>
              <a:t>incorrect design of batting system.</a:t>
            </a:r>
            <a:endParaRPr lang="en-US"/>
          </a:p>
          <a:p>
            <a:r>
              <a:rPr lang="en-US" sz="1600"/>
              <a:t>Lack of fillets and corner redii.</a:t>
            </a:r>
            <a:endParaRPr lang="en-US"/>
          </a:p>
          <a:p>
            <a:r>
              <a:rPr lang="en-US" sz="2400"/>
              <a:t>Remedies.</a:t>
            </a:r>
            <a:endParaRPr lang="en-US"/>
          </a:p>
          <a:p>
            <a:r>
              <a:rPr lang="en-US" sz="1600"/>
              <a:t>Improved design of casting.</a:t>
            </a:r>
            <a:endParaRPr lang="en-US"/>
          </a:p>
          <a:p>
            <a:r>
              <a:rPr lang="en-US" sz="1600"/>
              <a:t>Improved compatibility.</a:t>
            </a:r>
            <a:endParaRPr lang="en-US"/>
          </a:p>
          <a:p>
            <a:r>
              <a:rPr lang="en-US" sz="1600"/>
              <a:t>Proper solidification.</a:t>
            </a:r>
            <a:endParaRPr lang="en-US"/>
          </a:p>
          <a:p>
            <a:r>
              <a:rPr lang="en-US" sz="1600"/>
              <a:t>correct pouring temp.</a:t>
            </a:r>
            <a:endParaRPr lang="en-US"/>
          </a:p>
          <a:p>
            <a:endParaRPr lang="en-US"/>
          </a:p>
        </p:txBody>
      </p:sp>
      <p:sp>
        <p:nvSpPr>
          <p:cNvPr id="1048756" name="Title 1048755"/>
          <p:cNvSpPr>
            <a:spLocks noGrp="1"/>
          </p:cNvSpPr>
          <p:nvPr>
            <p:ph type="title"/>
          </p:nvPr>
        </p:nvSpPr>
        <p:spPr/>
        <p:txBody>
          <a:bodyPr/>
          <a:lstStyle/>
          <a:p>
            <a:r>
              <a:rPr lang="en-US"/>
              <a:t>Hot tears</a:t>
            </a:r>
          </a:p>
        </p:txBody>
      </p:sp>
      <p:sp>
        <p:nvSpPr>
          <p:cNvPr id="4" name="Rectangle 4">
            <a:hlinkClick r:id="rId2"/>
          </p:cNvPr>
          <p:cNvSpPr>
            <a:spLocks noChangeArrowheads="1"/>
          </p:cNvSpPr>
          <p:nvPr/>
        </p:nvSpPr>
        <p:spPr bwMode="auto">
          <a:xfrm>
            <a:off x="5410200" y="6400800"/>
            <a:ext cx="3581400" cy="304800"/>
          </a:xfrm>
          <a:prstGeom prst="rect">
            <a:avLst/>
          </a:prstGeom>
          <a:solidFill>
            <a:schemeClr val="bg1"/>
          </a:solidFill>
          <a:ln w="9525">
            <a:solidFill>
              <a:schemeClr val="bg1"/>
            </a:solidFill>
            <a:miter lim="800000"/>
            <a:headEnd/>
            <a:tailEnd/>
          </a:ln>
        </p:spPr>
        <p:txBody>
          <a:bodyPr wrap="none" anchor="ctr"/>
          <a:lstStyle/>
          <a:p>
            <a:pPr algn="ctr">
              <a:defRPr/>
            </a:pPr>
            <a:r>
              <a:rPr lang="en-IN" sz="2000" i="1" u="sng" dirty="0">
                <a:solidFill>
                  <a:schemeClr val="accent6">
                    <a:lumMod val="50000"/>
                  </a:schemeClr>
                </a:solidFill>
                <a:latin typeface="Arial" pitchFamily="34" charset="0"/>
                <a:cs typeface="Times New Roman" pitchFamily="18" charset="0"/>
              </a:rPr>
              <a:t>For more detail contact us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Default Color Scheme">
      <a:dk1>
        <a:srgbClr val="000000"/>
      </a:dk1>
      <a:lt1>
        <a:srgbClr val="FFFFFF"/>
      </a:lt1>
      <a:dk2>
        <a:srgbClr val="EAEAEA"/>
      </a:dk2>
      <a:lt2>
        <a:srgbClr val="000000"/>
      </a:lt2>
      <a:accent1>
        <a:srgbClr val="DDDDDD"/>
      </a:accent1>
      <a:accent2>
        <a:srgbClr val="B2B2B2"/>
      </a:accent2>
      <a:accent3>
        <a:srgbClr val="FFFFFF"/>
      </a:accent3>
      <a:accent4>
        <a:srgbClr val="000000"/>
      </a:accent4>
      <a:accent5>
        <a:srgbClr val="000000"/>
      </a:accent5>
      <a:accent6>
        <a:srgbClr val="000000"/>
      </a:accent6>
      <a:hlink>
        <a:srgbClr val="4D4D4D"/>
      </a:hlink>
      <a:folHlink>
        <a:srgbClr val="969696"/>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EAEAEA"/>
        </a:dk1>
        <a:lt1>
          <a:srgbClr val="00007A"/>
        </a:lt1>
        <a:dk2>
          <a:srgbClr val="000054"/>
        </a:dk2>
        <a:lt2>
          <a:srgbClr val="EBD189"/>
        </a:lt2>
        <a:accent1>
          <a:srgbClr val="FCAB40"/>
        </a:accent1>
        <a:accent2>
          <a:srgbClr val="555BAD"/>
        </a:accent2>
        <a:accent3>
          <a:srgbClr val="00007A"/>
        </a:accent3>
        <a:accent4>
          <a:srgbClr val="EAEAEA"/>
        </a:accent4>
        <a:accent5>
          <a:srgbClr val="000000"/>
        </a:accent5>
        <a:accent6>
          <a:srgbClr val="000000"/>
        </a:accent6>
        <a:hlink>
          <a:srgbClr val="B97C01"/>
        </a:hlink>
        <a:folHlink>
          <a:srgbClr val="CCFF33"/>
        </a:folHlink>
      </a:clrScheme>
    </a:extraClrScheme>
    <a:extraClrScheme>
      <a:clrScheme name="Default Color Scheme 2">
        <a:dk1>
          <a:srgbClr val="000000"/>
        </a:dk1>
        <a:lt1>
          <a:srgbClr val="FFFFCC"/>
        </a:lt1>
        <a:dk2>
          <a:srgbClr val="EDE1AF"/>
        </a:dk2>
        <a:lt2>
          <a:srgbClr val="993300"/>
        </a:lt2>
        <a:accent1>
          <a:srgbClr val="CAC0E2"/>
        </a:accent1>
        <a:accent2>
          <a:srgbClr val="DFC977"/>
        </a:accent2>
        <a:accent3>
          <a:srgbClr val="FFFFCC"/>
        </a:accent3>
        <a:accent4>
          <a:srgbClr val="000000"/>
        </a:accent4>
        <a:accent5>
          <a:srgbClr val="000000"/>
        </a:accent5>
        <a:accent6>
          <a:srgbClr val="000000"/>
        </a:accent6>
        <a:hlink>
          <a:srgbClr val="660033"/>
        </a:hlink>
        <a:folHlink>
          <a:srgbClr val="993366"/>
        </a:folHlink>
      </a:clrScheme>
    </a:extraClrScheme>
    <a:extraClrScheme>
      <a:clrScheme name="Default Color Scheme 3">
        <a:dk1>
          <a:srgbClr val="000000"/>
        </a:dk1>
        <a:lt1>
          <a:srgbClr val="FFFFFF"/>
        </a:lt1>
        <a:dk2>
          <a:srgbClr val="EAEAEA"/>
        </a:dk2>
        <a:lt2>
          <a:srgbClr val="000000"/>
        </a:lt2>
        <a:accent1>
          <a:srgbClr val="DDDDDD"/>
        </a:accent1>
        <a:accent2>
          <a:srgbClr val="B2B2B2"/>
        </a:accent2>
        <a:accent3>
          <a:srgbClr val="FFFFFF"/>
        </a:accent3>
        <a:accent4>
          <a:srgbClr val="000000"/>
        </a:accent4>
        <a:accent5>
          <a:srgbClr val="000000"/>
        </a:accent5>
        <a:accent6>
          <a:srgbClr val="000000"/>
        </a:accent6>
        <a:hlink>
          <a:srgbClr val="4D4D4D"/>
        </a:hlink>
        <a:folHlink>
          <a:srgbClr val="969696"/>
        </a:folHlink>
      </a:clrScheme>
    </a:extraClrScheme>
    <a:extraClrScheme>
      <a:clrScheme name="Default Color Scheme 4">
        <a:dk1>
          <a:srgbClr val="EAEAEA"/>
        </a:dk1>
        <a:lt1>
          <a:srgbClr val="762700"/>
        </a:lt1>
        <a:dk2>
          <a:srgbClr val="481800"/>
        </a:dk2>
        <a:lt2>
          <a:srgbClr val="EBD189"/>
        </a:lt2>
        <a:accent1>
          <a:srgbClr val="FCAB40"/>
        </a:accent1>
        <a:accent2>
          <a:srgbClr val="AD717F"/>
        </a:accent2>
        <a:accent3>
          <a:srgbClr val="762700"/>
        </a:accent3>
        <a:accent4>
          <a:srgbClr val="EAEAEA"/>
        </a:accent4>
        <a:accent5>
          <a:srgbClr val="000000"/>
        </a:accent5>
        <a:accent6>
          <a:srgbClr val="000000"/>
        </a:accent6>
        <a:hlink>
          <a:srgbClr val="FFFF99"/>
        </a:hlink>
        <a:folHlink>
          <a:srgbClr val="CC9900"/>
        </a:folHlink>
      </a:clrScheme>
    </a:extraClrScheme>
    <a:extraClrScheme>
      <a:clrScheme name="Default Color Scheme 5">
        <a:dk1>
          <a:srgbClr val="EAEAEA"/>
        </a:dk1>
        <a:lt1>
          <a:srgbClr val="4E009C"/>
        </a:lt1>
        <a:dk2>
          <a:srgbClr val="330066"/>
        </a:dk2>
        <a:lt2>
          <a:srgbClr val="EBD189"/>
        </a:lt2>
        <a:accent1>
          <a:srgbClr val="FCAB40"/>
        </a:accent1>
        <a:accent2>
          <a:srgbClr val="8871BB"/>
        </a:accent2>
        <a:accent3>
          <a:srgbClr val="4E009C"/>
        </a:accent3>
        <a:accent4>
          <a:srgbClr val="EAEAEA"/>
        </a:accent4>
        <a:accent5>
          <a:srgbClr val="000000"/>
        </a:accent5>
        <a:accent6>
          <a:srgbClr val="000000"/>
        </a:accent6>
        <a:hlink>
          <a:srgbClr val="99CC00"/>
        </a:hlink>
        <a:folHlink>
          <a:srgbClr val="808000"/>
        </a:folHlink>
      </a:clrScheme>
    </a:extraClrScheme>
    <a:extraClrScheme>
      <a:clrScheme name="Default Color Scheme 6">
        <a:dk1>
          <a:srgbClr val="EAEAEA"/>
        </a:dk1>
        <a:lt1>
          <a:srgbClr val="4D6A2A"/>
        </a:lt1>
        <a:dk2>
          <a:srgbClr val="454425"/>
        </a:dk2>
        <a:lt2>
          <a:srgbClr val="EBD189"/>
        </a:lt2>
        <a:accent1>
          <a:srgbClr val="FCAB40"/>
        </a:accent1>
        <a:accent2>
          <a:srgbClr val="A59E79"/>
        </a:accent2>
        <a:accent3>
          <a:srgbClr val="4D6A2A"/>
        </a:accent3>
        <a:accent4>
          <a:srgbClr val="EAEAEA"/>
        </a:accent4>
        <a:accent5>
          <a:srgbClr val="000000"/>
        </a:accent5>
        <a:accent6>
          <a:srgbClr val="000000"/>
        </a:accent6>
        <a:hlink>
          <a:srgbClr val="FFCC00"/>
        </a:hlink>
        <a:folHlink>
          <a:srgbClr val="CCCC00"/>
        </a:folHlink>
      </a:clrScheme>
    </a:extraClrScheme>
    <a:extraClrScheme>
      <a:clrScheme name="Default Color Scheme 7">
        <a:dk1>
          <a:srgbClr val="EAEAEA"/>
        </a:dk1>
        <a:lt1>
          <a:srgbClr val="0D0A46"/>
        </a:lt1>
        <a:dk2>
          <a:srgbClr val="3C2924"/>
        </a:dk2>
        <a:lt2>
          <a:srgbClr val="EBD189"/>
        </a:lt2>
        <a:accent1>
          <a:srgbClr val="FCAB40"/>
        </a:accent1>
        <a:accent2>
          <a:srgbClr val="633D4E"/>
        </a:accent2>
        <a:accent3>
          <a:srgbClr val="0D0A46"/>
        </a:accent3>
        <a:accent4>
          <a:srgbClr val="EAEAEA"/>
        </a:accent4>
        <a:accent5>
          <a:srgbClr val="000000"/>
        </a:accent5>
        <a:accent6>
          <a:srgbClr val="000000"/>
        </a:accent6>
        <a:hlink>
          <a:srgbClr val="FFCC66"/>
        </a:hlink>
        <a:folHlink>
          <a:srgbClr val="99CC00"/>
        </a:folHlink>
      </a:clrScheme>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3525</Words>
  <Application>Microsoft Office PowerPoint</Application>
  <PresentationFormat>On-screen Show (4:3)</PresentationFormat>
  <Paragraphs>509</Paragraphs>
  <Slides>77</Slides>
  <Notes>1</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77</vt:i4>
      </vt:variant>
    </vt:vector>
  </HeadingPairs>
  <TitlesOfParts>
    <vt:vector size="86" baseType="lpstr">
      <vt:lpstr>宋体</vt:lpstr>
      <vt:lpstr>Algerian</vt:lpstr>
      <vt:lpstr>Arial</vt:lpstr>
      <vt:lpstr>Arial Narrow</vt:lpstr>
      <vt:lpstr>Calibri</vt:lpstr>
      <vt:lpstr>Calibri Light</vt:lpstr>
      <vt:lpstr>Times New Roman</vt:lpstr>
      <vt:lpstr>Wingdings</vt:lpstr>
      <vt:lpstr>Office 主题</vt:lpstr>
      <vt:lpstr>Metal Casting</vt:lpstr>
      <vt:lpstr>CO</vt:lpstr>
      <vt:lpstr>METAL CASTING</vt:lpstr>
      <vt:lpstr>Introduction</vt:lpstr>
      <vt:lpstr>History of Casting</vt:lpstr>
      <vt:lpstr>Why Casting?</vt:lpstr>
      <vt:lpstr>Have you seen any similar process before?</vt:lpstr>
      <vt:lpstr>Requirement for Casting?</vt:lpstr>
      <vt:lpstr>Basic Casting Process</vt:lpstr>
      <vt:lpstr>Basic Casting Process</vt:lpstr>
      <vt:lpstr>Basic terms used in Casting</vt:lpstr>
      <vt:lpstr>Basic steps in Casting</vt:lpstr>
      <vt:lpstr>Pattern</vt:lpstr>
      <vt:lpstr>Pattern Materials</vt:lpstr>
      <vt:lpstr>Pattern Materials</vt:lpstr>
      <vt:lpstr>Pattern Materials</vt:lpstr>
      <vt:lpstr>Pattern Materials</vt:lpstr>
      <vt:lpstr>Pattern Materials</vt:lpstr>
      <vt:lpstr>Pattern Types</vt:lpstr>
      <vt:lpstr>Pattern Types</vt:lpstr>
      <vt:lpstr>Pattern Types</vt:lpstr>
      <vt:lpstr>Pattern Types</vt:lpstr>
      <vt:lpstr>Pattern Types</vt:lpstr>
      <vt:lpstr>Pattern Types</vt:lpstr>
      <vt:lpstr>Pattern Allowances</vt:lpstr>
      <vt:lpstr>Pattern Allowances</vt:lpstr>
      <vt:lpstr>Pattern Allowances</vt:lpstr>
      <vt:lpstr>Pattern Allowances</vt:lpstr>
      <vt:lpstr>Pattern Allowances</vt:lpstr>
      <vt:lpstr>Pattern Allowances</vt:lpstr>
      <vt:lpstr>Pattern Allowances</vt:lpstr>
      <vt:lpstr>Pattern Allowances</vt:lpstr>
      <vt:lpstr>Pattern Allowances</vt:lpstr>
      <vt:lpstr>Pattern Allowances</vt:lpstr>
      <vt:lpstr>Pattern Allowances</vt:lpstr>
      <vt:lpstr>Tools </vt:lpstr>
      <vt:lpstr>Tools</vt:lpstr>
      <vt:lpstr>COLOUR CODING FOR PATTERN</vt:lpstr>
      <vt:lpstr>COLOUR CODING FOR PATTERN</vt:lpstr>
      <vt:lpstr>Moulding</vt:lpstr>
      <vt:lpstr>Moulding</vt:lpstr>
      <vt:lpstr>Types of Moulding Sands</vt:lpstr>
      <vt:lpstr>Types of Moulding Sands</vt:lpstr>
      <vt:lpstr>Types of Moulding Sands</vt:lpstr>
      <vt:lpstr>Types of Moulding Sands</vt:lpstr>
      <vt:lpstr>Backing sand</vt:lpstr>
      <vt:lpstr>Facing sand</vt:lpstr>
      <vt:lpstr>Properties of Moulding Sand</vt:lpstr>
      <vt:lpstr>Properties of Moulding Sand</vt:lpstr>
      <vt:lpstr>Properties of Moulding Sand</vt:lpstr>
      <vt:lpstr>Properties of Moulding Sand</vt:lpstr>
      <vt:lpstr>Properties of Moulding Sand</vt:lpstr>
      <vt:lpstr>Properties of Moulding Sand</vt:lpstr>
      <vt:lpstr>Core and core print</vt:lpstr>
      <vt:lpstr>Types of cores </vt:lpstr>
      <vt:lpstr>Types of cores</vt:lpstr>
      <vt:lpstr>Types of cores </vt:lpstr>
      <vt:lpstr>Types of cores</vt:lpstr>
      <vt:lpstr>Cover core</vt:lpstr>
      <vt:lpstr>Drop core </vt:lpstr>
      <vt:lpstr>Elements of gating system</vt:lpstr>
      <vt:lpstr>Types of moulding</vt:lpstr>
      <vt:lpstr>Floor moulding </vt:lpstr>
      <vt:lpstr>Pit moulding</vt:lpstr>
      <vt:lpstr>Machine moulding</vt:lpstr>
      <vt:lpstr>Types of Casting Methods</vt:lpstr>
      <vt:lpstr>Centrifugal casting</vt:lpstr>
      <vt:lpstr>Shell moulding</vt:lpstr>
      <vt:lpstr>Shell moulding</vt:lpstr>
      <vt:lpstr>Investment casting</vt:lpstr>
      <vt:lpstr>Investment casting</vt:lpstr>
      <vt:lpstr>Casting defects </vt:lpstr>
      <vt:lpstr>Blow holes</vt:lpstr>
      <vt:lpstr>Pinholes</vt:lpstr>
      <vt:lpstr>Shift</vt:lpstr>
      <vt:lpstr>Short run</vt:lpstr>
      <vt:lpstr>Hot tears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METAL CASTING</dc:title>
  <dc:creator>Mikell P. Groover</dc:creator>
  <cp:lastModifiedBy>Nikita</cp:lastModifiedBy>
  <cp:revision>2</cp:revision>
  <dcterms:created xsi:type="dcterms:W3CDTF">2001-08-18T21:27:30Z</dcterms:created>
  <dcterms:modified xsi:type="dcterms:W3CDTF">2024-02-09T04:13:12Z</dcterms:modified>
</cp:coreProperties>
</file>