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p:cNvPr>
          <p:cNvPicPr>
            <a:picLocks noChangeAspect="1"/>
          </p:cNvPicPr>
          <p:nvPr/>
        </p:nvPicPr>
        <p:blipFill>
          <a:blip r:embed="rId1"/>
          <a:stretch>
            <a:fillRect/>
          </a:stretch>
        </p:blipFill>
        <p:spPr>
          <a:xfrm>
            <a:off x="9151620" y="0"/>
            <a:ext cx="5486400" cy="8229600"/>
          </a:xfrm>
          <a:prstGeom prst="rect">
            <a:avLst/>
          </a:prstGeom>
        </p:spPr>
      </p:pic>
      <p:sp>
        <p:nvSpPr>
          <p:cNvPr id="5" name="Text 2"/>
          <p:cNvSpPr/>
          <p:nvPr/>
        </p:nvSpPr>
        <p:spPr>
          <a:xfrm>
            <a:off x="833199" y="1480661"/>
            <a:ext cx="7477601" cy="2874645"/>
          </a:xfrm>
          <a:prstGeom prst="rect">
            <a:avLst/>
          </a:prstGeom>
          <a:noFill/>
          <a:ln/>
        </p:spPr>
        <p:txBody>
          <a:bodyPr wrap="square" rtlCol="0" anchor="t"/>
          <a:lstStyle/>
          <a:p>
            <a:pPr indent="0" marL="0">
              <a:lnSpc>
                <a:spcPts val="7545"/>
              </a:lnSpc>
              <a:buNone/>
            </a:pPr>
            <a:r>
              <a:rPr lang="en-US" sz="6036" b="1" dirty="0">
                <a:solidFill>
                  <a:srgbClr val="282824"/>
                </a:solidFill>
                <a:latin typeface="Lato" pitchFamily="34" charset="0"/>
                <a:ea typeface="Lato" pitchFamily="34" charset="-122"/>
                <a:cs typeface="Lato" pitchFamily="34" charset="-120"/>
              </a:rPr>
              <a:t>Introduction to Tariffs in Electrical Technology</a:t>
            </a:r>
            <a:endParaRPr lang="en-US" sz="6036" dirty="0"/>
          </a:p>
        </p:txBody>
      </p:sp>
      <p:sp>
        <p:nvSpPr>
          <p:cNvPr id="6" name="Text 3"/>
          <p:cNvSpPr/>
          <p:nvPr/>
        </p:nvSpPr>
        <p:spPr>
          <a:xfrm>
            <a:off x="833199" y="4688562"/>
            <a:ext cx="7477601" cy="1421606"/>
          </a:xfrm>
          <a:prstGeom prst="rect">
            <a:avLst/>
          </a:prstGeom>
          <a:noFill/>
          <a:ln/>
        </p:spPr>
        <p:txBody>
          <a:bodyPr wrap="square" rtlCol="0" anchor="t"/>
          <a:lstStyle/>
          <a:p>
            <a:pPr indent="0" marL="0">
              <a:lnSpc>
                <a:spcPts val="2799"/>
              </a:lnSpc>
              <a:buNone/>
            </a:pPr>
            <a:r>
              <a:rPr lang="en-US" sz="1750" dirty="0">
                <a:solidFill>
                  <a:srgbClr val="4A4A45"/>
                </a:solidFill>
                <a:latin typeface="Lato" pitchFamily="34" charset="0"/>
                <a:ea typeface="Lato" pitchFamily="34" charset="-122"/>
                <a:cs typeface="Lato" pitchFamily="34" charset="-120"/>
              </a:rPr>
              <a:t>Tariffs are the pricing structures used by electricity providers to determine the cost of power for their customers. Understanding the different types of tariffs is crucial for consumers, businesses, and policymakers in the electrical technology sector.</a:t>
            </a:r>
            <a:endParaRPr lang="en-US" sz="1750" dirty="0"/>
          </a:p>
        </p:txBody>
      </p:sp>
      <p:sp>
        <p:nvSpPr>
          <p:cNvPr id="7" name="Shape 4"/>
          <p:cNvSpPr/>
          <p:nvPr/>
        </p:nvSpPr>
        <p:spPr>
          <a:xfrm>
            <a:off x="833199" y="6376749"/>
            <a:ext cx="355402" cy="355402"/>
          </a:xfrm>
          <a:prstGeom prst="roundRect">
            <a:avLst>
              <a:gd name="adj" fmla="val 25726039"/>
            </a:avLst>
          </a:prstGeom>
          <a:noFill/>
          <a:ln w="7620">
            <a:solidFill>
              <a:srgbClr val="FFFFFF"/>
            </a:solidFill>
            <a:prstDash val="solid"/>
          </a:ln>
        </p:spPr>
      </p:sp>
      <p:pic>
        <p:nvPicPr>
          <p:cNvPr id="8" name="Image 1" descr="preencoded.png">    </p:cNvPr>
          <p:cNvPicPr>
            <a:picLocks noChangeAspect="1"/>
          </p:cNvPicPr>
          <p:nvPr/>
        </p:nvPicPr>
        <p:blipFill>
          <a:blip r:embed="rId2"/>
          <a:stretch>
            <a:fillRect/>
          </a:stretch>
        </p:blipFill>
        <p:spPr>
          <a:xfrm>
            <a:off x="840819" y="6384369"/>
            <a:ext cx="340162" cy="340162"/>
          </a:xfrm>
          <a:prstGeom prst="rect">
            <a:avLst/>
          </a:prstGeom>
        </p:spPr>
      </p:pic>
      <p:sp>
        <p:nvSpPr>
          <p:cNvPr id="9" name="Text 5"/>
          <p:cNvSpPr/>
          <p:nvPr/>
        </p:nvSpPr>
        <p:spPr>
          <a:xfrm>
            <a:off x="1299686" y="6360081"/>
            <a:ext cx="1125141" cy="388858"/>
          </a:xfrm>
          <a:prstGeom prst="rect">
            <a:avLst/>
          </a:prstGeom>
          <a:noFill/>
          <a:ln/>
        </p:spPr>
        <p:txBody>
          <a:bodyPr wrap="none" rtlCol="0" anchor="t"/>
          <a:lstStyle/>
          <a:p>
            <a:pPr algn="l" indent="0" marL="0">
              <a:lnSpc>
                <a:spcPts val="3062"/>
              </a:lnSpc>
              <a:buNone/>
            </a:pPr>
            <a:r>
              <a:rPr lang="en-US" sz="2187" b="1" dirty="0">
                <a:solidFill>
                  <a:srgbClr val="4A4A45"/>
                </a:solidFill>
                <a:latin typeface="Lato" pitchFamily="34" charset="0"/>
                <a:ea typeface="Lato" pitchFamily="34" charset="-122"/>
                <a:cs typeface="Lato" pitchFamily="34" charset="-120"/>
              </a:rPr>
              <a:t>by Ayush</a:t>
            </a:r>
            <a:endParaRPr lang="en-US" sz="2187" dirty="0"/>
          </a:p>
        </p:txBody>
      </p:sp>
      <p:pic>
        <p:nvPicPr>
          <p:cNvPr id="10"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p:cNvPr>
          <p:cNvPicPr>
            <a:picLocks noChangeAspect="1"/>
          </p:cNvPicPr>
          <p:nvPr/>
        </p:nvPicPr>
        <p:blipFill>
          <a:blip r:embed="rId1"/>
          <a:stretch>
            <a:fillRect/>
          </a:stretch>
        </p:blipFill>
        <p:spPr>
          <a:xfrm>
            <a:off x="0" y="0"/>
            <a:ext cx="14630400" cy="2777490"/>
          </a:xfrm>
          <a:prstGeom prst="rect">
            <a:avLst/>
          </a:prstGeom>
        </p:spPr>
      </p:pic>
      <p:sp>
        <p:nvSpPr>
          <p:cNvPr id="5" name="Text 2"/>
          <p:cNvSpPr/>
          <p:nvPr/>
        </p:nvSpPr>
        <p:spPr>
          <a:xfrm>
            <a:off x="2037993" y="4456628"/>
            <a:ext cx="5554980" cy="694373"/>
          </a:xfrm>
          <a:prstGeom prst="rect">
            <a:avLst/>
          </a:prstGeom>
          <a:noFill/>
          <a:ln/>
        </p:spPr>
        <p:txBody>
          <a:bodyPr wrap="none" rtlCol="0" anchor="t"/>
          <a:lstStyle/>
          <a:p>
            <a:pPr indent="0" marL="0">
              <a:lnSpc>
                <a:spcPts val="5468"/>
              </a:lnSpc>
              <a:buNone/>
            </a:pPr>
            <a:r>
              <a:rPr lang="en-US" sz="4374" b="1" dirty="0">
                <a:solidFill>
                  <a:srgbClr val="282824"/>
                </a:solidFill>
                <a:latin typeface="Lato" pitchFamily="34" charset="0"/>
                <a:ea typeface="Lato" pitchFamily="34" charset="-122"/>
                <a:cs typeface="Lato" pitchFamily="34" charset="-120"/>
              </a:rPr>
              <a:t>Flat Rate Tariff</a:t>
            </a:r>
            <a:endParaRPr lang="en-US" sz="4374" dirty="0"/>
          </a:p>
        </p:txBody>
      </p:sp>
      <p:sp>
        <p:nvSpPr>
          <p:cNvPr id="6" name="Text 3"/>
          <p:cNvSpPr/>
          <p:nvPr/>
        </p:nvSpPr>
        <p:spPr>
          <a:xfrm>
            <a:off x="2037993" y="5484257"/>
            <a:ext cx="10554414" cy="1066205"/>
          </a:xfrm>
          <a:prstGeom prst="rect">
            <a:avLst/>
          </a:prstGeom>
          <a:noFill/>
          <a:ln/>
        </p:spPr>
        <p:txBody>
          <a:bodyPr wrap="square" rtlCol="0" anchor="t"/>
          <a:lstStyle/>
          <a:p>
            <a:pPr indent="0" marL="0">
              <a:lnSpc>
                <a:spcPts val="2799"/>
              </a:lnSpc>
              <a:buNone/>
            </a:pPr>
            <a:r>
              <a:rPr lang="en-US" sz="1750" dirty="0">
                <a:solidFill>
                  <a:srgbClr val="4A4A45"/>
                </a:solidFill>
                <a:latin typeface="Lato" pitchFamily="34" charset="0"/>
                <a:ea typeface="Lato" pitchFamily="34" charset="-122"/>
                <a:cs typeface="Lato" pitchFamily="34" charset="-120"/>
              </a:rPr>
              <a:t>A flat rate tariff is a simple and straightforward electricity pricing structure. Customers are charged a fixed rate per unit of electricity consumed, regardless of the time of day or the total amount used. This approach provides predictable and consistent billing, making it easy for consumers to budget their energy costs.</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p:cNvPr>
          <p:cNvPicPr>
            <a:picLocks noChangeAspect="1"/>
          </p:cNvPicPr>
          <p:nvPr/>
        </p:nvPicPr>
        <p:blipFill>
          <a:blip r:embed="rId1"/>
          <a:stretch>
            <a:fillRect/>
          </a:stretch>
        </p:blipFill>
        <p:spPr>
          <a:xfrm>
            <a:off x="-7620" y="0"/>
            <a:ext cx="5486400" cy="8229600"/>
          </a:xfrm>
          <a:prstGeom prst="rect">
            <a:avLst/>
          </a:prstGeom>
        </p:spPr>
      </p:pic>
      <p:sp>
        <p:nvSpPr>
          <p:cNvPr id="5" name="Text 2"/>
          <p:cNvSpPr/>
          <p:nvPr/>
        </p:nvSpPr>
        <p:spPr>
          <a:xfrm>
            <a:off x="6319599" y="2712482"/>
            <a:ext cx="5554980" cy="694373"/>
          </a:xfrm>
          <a:prstGeom prst="rect">
            <a:avLst/>
          </a:prstGeom>
          <a:noFill/>
          <a:ln/>
        </p:spPr>
        <p:txBody>
          <a:bodyPr wrap="none" rtlCol="0" anchor="t"/>
          <a:lstStyle/>
          <a:p>
            <a:pPr indent="0" marL="0">
              <a:lnSpc>
                <a:spcPts val="5468"/>
              </a:lnSpc>
              <a:buNone/>
            </a:pPr>
            <a:r>
              <a:rPr lang="en-US" sz="4374" b="1" dirty="0">
                <a:solidFill>
                  <a:srgbClr val="282824"/>
                </a:solidFill>
                <a:latin typeface="Lato" pitchFamily="34" charset="0"/>
                <a:ea typeface="Lato" pitchFamily="34" charset="-122"/>
                <a:cs typeface="Lato" pitchFamily="34" charset="-120"/>
              </a:rPr>
              <a:t>Tiered Tariff</a:t>
            </a:r>
            <a:endParaRPr lang="en-US" sz="4374" dirty="0"/>
          </a:p>
        </p:txBody>
      </p:sp>
      <p:sp>
        <p:nvSpPr>
          <p:cNvPr id="6" name="Text 3"/>
          <p:cNvSpPr/>
          <p:nvPr/>
        </p:nvSpPr>
        <p:spPr>
          <a:xfrm>
            <a:off x="6319599" y="3740110"/>
            <a:ext cx="7477601" cy="1777008"/>
          </a:xfrm>
          <a:prstGeom prst="rect">
            <a:avLst/>
          </a:prstGeom>
          <a:noFill/>
          <a:ln/>
        </p:spPr>
        <p:txBody>
          <a:bodyPr wrap="square" rtlCol="0" anchor="t"/>
          <a:lstStyle/>
          <a:p>
            <a:pPr indent="0" marL="0">
              <a:lnSpc>
                <a:spcPts val="2799"/>
              </a:lnSpc>
              <a:buNone/>
            </a:pPr>
            <a:r>
              <a:rPr lang="en-US" sz="1750" dirty="0">
                <a:solidFill>
                  <a:srgbClr val="4A4A45"/>
                </a:solidFill>
                <a:latin typeface="Lato" pitchFamily="34" charset="0"/>
                <a:ea typeface="Lato" pitchFamily="34" charset="-122"/>
                <a:cs typeface="Lato" pitchFamily="34" charset="-120"/>
              </a:rPr>
              <a:t>A tiered tariff is a pricing structure where the cost per unit of electricity increases as the total consumption exceeds certain thresholds. This encourages energy conservation by making higher usage more expensive. Customers are typically charged a lower rate for initial blocks of usage, with rates rising for subsequent tiers.</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p:cNvPr>
          <p:cNvPicPr>
            <a:picLocks noChangeAspect="1"/>
          </p:cNvPicPr>
          <p:nvPr/>
        </p:nvPicPr>
        <p:blipFill>
          <a:blip r:embed="rId1"/>
          <a:stretch>
            <a:fillRect/>
          </a:stretch>
        </p:blipFill>
        <p:spPr>
          <a:xfrm>
            <a:off x="9151620" y="0"/>
            <a:ext cx="5486400" cy="8229600"/>
          </a:xfrm>
          <a:prstGeom prst="rect">
            <a:avLst/>
          </a:prstGeom>
        </p:spPr>
      </p:pic>
      <p:sp>
        <p:nvSpPr>
          <p:cNvPr id="5" name="Text 2"/>
          <p:cNvSpPr/>
          <p:nvPr/>
        </p:nvSpPr>
        <p:spPr>
          <a:xfrm>
            <a:off x="833199" y="2534722"/>
            <a:ext cx="5554980" cy="694373"/>
          </a:xfrm>
          <a:prstGeom prst="rect">
            <a:avLst/>
          </a:prstGeom>
          <a:noFill/>
          <a:ln/>
        </p:spPr>
        <p:txBody>
          <a:bodyPr wrap="none" rtlCol="0" anchor="t"/>
          <a:lstStyle/>
          <a:p>
            <a:pPr indent="0" marL="0">
              <a:lnSpc>
                <a:spcPts val="5468"/>
              </a:lnSpc>
              <a:buNone/>
            </a:pPr>
            <a:r>
              <a:rPr lang="en-US" sz="4374" b="1" dirty="0">
                <a:solidFill>
                  <a:srgbClr val="282824"/>
                </a:solidFill>
                <a:latin typeface="Lato" pitchFamily="34" charset="0"/>
                <a:ea typeface="Lato" pitchFamily="34" charset="-122"/>
                <a:cs typeface="Lato" pitchFamily="34" charset="-120"/>
              </a:rPr>
              <a:t>Time-of-Use Tariff</a:t>
            </a:r>
            <a:endParaRPr lang="en-US" sz="4374" dirty="0"/>
          </a:p>
        </p:txBody>
      </p:sp>
      <p:sp>
        <p:nvSpPr>
          <p:cNvPr id="6" name="Text 3"/>
          <p:cNvSpPr/>
          <p:nvPr/>
        </p:nvSpPr>
        <p:spPr>
          <a:xfrm>
            <a:off x="833199" y="3562350"/>
            <a:ext cx="7477601" cy="2132409"/>
          </a:xfrm>
          <a:prstGeom prst="rect">
            <a:avLst/>
          </a:prstGeom>
          <a:noFill/>
          <a:ln/>
        </p:spPr>
        <p:txBody>
          <a:bodyPr wrap="square" rtlCol="0" anchor="t"/>
          <a:lstStyle/>
          <a:p>
            <a:pPr indent="0" marL="0">
              <a:lnSpc>
                <a:spcPts val="2799"/>
              </a:lnSpc>
              <a:buNone/>
            </a:pPr>
            <a:r>
              <a:rPr lang="en-US" sz="1750" dirty="0">
                <a:solidFill>
                  <a:srgbClr val="4A4A45"/>
                </a:solidFill>
                <a:latin typeface="Lato" pitchFamily="34" charset="0"/>
                <a:ea typeface="Lato" pitchFamily="34" charset="-122"/>
                <a:cs typeface="Lato" pitchFamily="34" charset="-120"/>
              </a:rPr>
              <a:t>A time-of-use (TOU) tariff is an electricity pricing structure that varies the rate based on the time of day. Customers are charged higher rates during peak demand hours, such as evenings, and lower rates during off-peak hours, like nights and weekends. This approach incentivizes consumers to shift their energy usage to lower-cost periods, helping to balance the grid and reduce strain on the electrical system.</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p:cNvPr>
          <p:cNvPicPr>
            <a:picLocks noChangeAspect="1"/>
          </p:cNvPicPr>
          <p:nvPr/>
        </p:nvPicPr>
        <p:blipFill>
          <a:blip r:embed="rId1"/>
          <a:stretch>
            <a:fillRect/>
          </a:stretch>
        </p:blipFill>
        <p:spPr>
          <a:xfrm>
            <a:off x="0" y="0"/>
            <a:ext cx="14630400" cy="2777490"/>
          </a:xfrm>
          <a:prstGeom prst="rect">
            <a:avLst/>
          </a:prstGeom>
        </p:spPr>
      </p:pic>
      <p:sp>
        <p:nvSpPr>
          <p:cNvPr id="5" name="Text 2"/>
          <p:cNvSpPr/>
          <p:nvPr/>
        </p:nvSpPr>
        <p:spPr>
          <a:xfrm>
            <a:off x="2037993" y="4278868"/>
            <a:ext cx="5554980" cy="694373"/>
          </a:xfrm>
          <a:prstGeom prst="rect">
            <a:avLst/>
          </a:prstGeom>
          <a:noFill/>
          <a:ln/>
        </p:spPr>
        <p:txBody>
          <a:bodyPr wrap="none" rtlCol="0" anchor="t"/>
          <a:lstStyle/>
          <a:p>
            <a:pPr indent="0" marL="0">
              <a:lnSpc>
                <a:spcPts val="5468"/>
              </a:lnSpc>
              <a:buNone/>
            </a:pPr>
            <a:r>
              <a:rPr lang="en-US" sz="4374" b="1" dirty="0">
                <a:solidFill>
                  <a:srgbClr val="282824"/>
                </a:solidFill>
                <a:latin typeface="Lato" pitchFamily="34" charset="0"/>
                <a:ea typeface="Lato" pitchFamily="34" charset="-122"/>
                <a:cs typeface="Lato" pitchFamily="34" charset="-120"/>
              </a:rPr>
              <a:t>Demand-Based Tariff</a:t>
            </a:r>
            <a:endParaRPr lang="en-US" sz="4374" dirty="0"/>
          </a:p>
        </p:txBody>
      </p:sp>
      <p:sp>
        <p:nvSpPr>
          <p:cNvPr id="6" name="Text 3"/>
          <p:cNvSpPr/>
          <p:nvPr/>
        </p:nvSpPr>
        <p:spPr>
          <a:xfrm>
            <a:off x="2037993" y="5306497"/>
            <a:ext cx="10554414" cy="1421606"/>
          </a:xfrm>
          <a:prstGeom prst="rect">
            <a:avLst/>
          </a:prstGeom>
          <a:noFill/>
          <a:ln/>
        </p:spPr>
        <p:txBody>
          <a:bodyPr wrap="square" rtlCol="0" anchor="t"/>
          <a:lstStyle/>
          <a:p>
            <a:pPr indent="0" marL="0">
              <a:lnSpc>
                <a:spcPts val="2799"/>
              </a:lnSpc>
              <a:buNone/>
            </a:pPr>
            <a:r>
              <a:rPr lang="en-US" sz="1750" dirty="0">
                <a:solidFill>
                  <a:srgbClr val="4A4A45"/>
                </a:solidFill>
                <a:latin typeface="Lato" pitchFamily="34" charset="0"/>
                <a:ea typeface="Lato" pitchFamily="34" charset="-122"/>
                <a:cs typeface="Lato" pitchFamily="34" charset="-120"/>
              </a:rPr>
              <a:t>A demand-based tariff is an electricity pricing structure that charges customers based on their maximum power consumption, or "demand," rather than just their total energy usage. This incentivizes customers to reduce their peak power draw, which can help utilities better manage grid capacity and avoid costly infrastructure upgrades.</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p:cNvPr>
          <p:cNvPicPr>
            <a:picLocks noChangeAspect="1"/>
          </p:cNvPicPr>
          <p:nvPr/>
        </p:nvPicPr>
        <p:blipFill>
          <a:blip r:embed="rId1"/>
          <a:stretch>
            <a:fillRect/>
          </a:stretch>
        </p:blipFill>
        <p:spPr>
          <a:xfrm>
            <a:off x="9151620" y="0"/>
            <a:ext cx="5486400" cy="8229600"/>
          </a:xfrm>
          <a:prstGeom prst="rect">
            <a:avLst/>
          </a:prstGeom>
        </p:spPr>
      </p:pic>
      <p:sp>
        <p:nvSpPr>
          <p:cNvPr id="5" name="Text 2"/>
          <p:cNvSpPr/>
          <p:nvPr/>
        </p:nvSpPr>
        <p:spPr>
          <a:xfrm>
            <a:off x="833199" y="2890123"/>
            <a:ext cx="5554980" cy="694373"/>
          </a:xfrm>
          <a:prstGeom prst="rect">
            <a:avLst/>
          </a:prstGeom>
          <a:noFill/>
          <a:ln/>
        </p:spPr>
        <p:txBody>
          <a:bodyPr wrap="none" rtlCol="0" anchor="t"/>
          <a:lstStyle/>
          <a:p>
            <a:pPr indent="0" marL="0">
              <a:lnSpc>
                <a:spcPts val="5468"/>
              </a:lnSpc>
              <a:buNone/>
            </a:pPr>
            <a:r>
              <a:rPr lang="en-US" sz="4374" b="1" dirty="0">
                <a:solidFill>
                  <a:srgbClr val="282824"/>
                </a:solidFill>
                <a:latin typeface="Lato" pitchFamily="34" charset="0"/>
                <a:ea typeface="Lato" pitchFamily="34" charset="-122"/>
                <a:cs typeface="Lato" pitchFamily="34" charset="-120"/>
              </a:rPr>
              <a:t>Net Metering Tariff</a:t>
            </a:r>
            <a:endParaRPr lang="en-US" sz="4374" dirty="0"/>
          </a:p>
        </p:txBody>
      </p:sp>
      <p:sp>
        <p:nvSpPr>
          <p:cNvPr id="6" name="Text 3"/>
          <p:cNvSpPr/>
          <p:nvPr/>
        </p:nvSpPr>
        <p:spPr>
          <a:xfrm>
            <a:off x="833199" y="3917752"/>
            <a:ext cx="7477601" cy="1421606"/>
          </a:xfrm>
          <a:prstGeom prst="rect">
            <a:avLst/>
          </a:prstGeom>
          <a:noFill/>
          <a:ln/>
        </p:spPr>
        <p:txBody>
          <a:bodyPr wrap="square" rtlCol="0" anchor="t"/>
          <a:lstStyle/>
          <a:p>
            <a:pPr indent="0" marL="0">
              <a:lnSpc>
                <a:spcPts val="2799"/>
              </a:lnSpc>
              <a:buNone/>
            </a:pPr>
            <a:r>
              <a:rPr lang="en-US" sz="1750" dirty="0">
                <a:solidFill>
                  <a:srgbClr val="4A4A45"/>
                </a:solidFill>
                <a:latin typeface="Lato" pitchFamily="34" charset="0"/>
                <a:ea typeface="Lato" pitchFamily="34" charset="-122"/>
                <a:cs typeface="Lato" pitchFamily="34" charset="-120"/>
              </a:rPr>
              <a:t>A net metering tariff is a policy that allows customers with on-site renewable energy generation, such as solar panels, to feed excess electricity back into the grid and receive credit for it. This encourages the adoption of distributed renewable energy sources and helps customers offset their electricity bills.</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
        <p:nvSpPr>
          <p:cNvPr id="4" name="Text 2"/>
          <p:cNvSpPr/>
          <p:nvPr/>
        </p:nvSpPr>
        <p:spPr>
          <a:xfrm>
            <a:off x="2037993" y="2834640"/>
            <a:ext cx="5554980" cy="694373"/>
          </a:xfrm>
          <a:prstGeom prst="rect">
            <a:avLst/>
          </a:prstGeom>
          <a:noFill/>
          <a:ln/>
        </p:spPr>
        <p:txBody>
          <a:bodyPr wrap="none" rtlCol="0" anchor="t"/>
          <a:lstStyle/>
          <a:p>
            <a:pPr indent="0" marL="0">
              <a:lnSpc>
                <a:spcPts val="5468"/>
              </a:lnSpc>
              <a:buNone/>
            </a:pPr>
            <a:r>
              <a:rPr lang="en-US" sz="4374" b="1" dirty="0">
                <a:solidFill>
                  <a:srgbClr val="282824"/>
                </a:solidFill>
                <a:latin typeface="Lato" pitchFamily="34" charset="0"/>
                <a:ea typeface="Lato" pitchFamily="34" charset="-122"/>
                <a:cs typeface="Lato" pitchFamily="34" charset="-120"/>
              </a:rPr>
              <a:t>Feed-in Tariff</a:t>
            </a:r>
            <a:endParaRPr lang="en-US" sz="4374" dirty="0"/>
          </a:p>
        </p:txBody>
      </p:sp>
      <p:sp>
        <p:nvSpPr>
          <p:cNvPr id="5" name="Text 3"/>
          <p:cNvSpPr/>
          <p:nvPr/>
        </p:nvSpPr>
        <p:spPr>
          <a:xfrm>
            <a:off x="2037993" y="3973354"/>
            <a:ext cx="10554414" cy="1421606"/>
          </a:xfrm>
          <a:prstGeom prst="rect">
            <a:avLst/>
          </a:prstGeom>
          <a:noFill/>
          <a:ln/>
        </p:spPr>
        <p:txBody>
          <a:bodyPr wrap="square" rtlCol="0" anchor="t"/>
          <a:lstStyle/>
          <a:p>
            <a:pPr indent="0" marL="0">
              <a:lnSpc>
                <a:spcPts val="2799"/>
              </a:lnSpc>
              <a:buNone/>
            </a:pPr>
            <a:r>
              <a:rPr lang="en-US" sz="1750" dirty="0">
                <a:solidFill>
                  <a:srgbClr val="4A4A45"/>
                </a:solidFill>
                <a:latin typeface="Lato" pitchFamily="34" charset="0"/>
                <a:ea typeface="Lato" pitchFamily="34" charset="-122"/>
                <a:cs typeface="Lato" pitchFamily="34" charset="-120"/>
              </a:rPr>
              <a:t>A feed-in tariff is a policy mechanism that provides a guaranteed, above-market rate for electricity generated from renewable sources, such as solar or wind power. This incentivizes the adoption of renewable energy by allowing producers to be compensated for the electricity they feed into the grid. The higher rates help offset the initial investment costs and make renewable projects more financially viable.</a:t>
            </a:r>
            <a:endParaRPr lang="en-US" sz="1750" dirty="0"/>
          </a:p>
        </p:txBody>
      </p:sp>
      <p:pic>
        <p:nvPicPr>
          <p:cNvPr id="6"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p:cNvPr>
          <p:cNvPicPr>
            <a:picLocks noChangeAspect="1"/>
          </p:cNvPicPr>
          <p:nvPr/>
        </p:nvPicPr>
        <p:blipFill>
          <a:blip r:embed="rId1"/>
          <a:stretch>
            <a:fillRect/>
          </a:stretch>
        </p:blipFill>
        <p:spPr>
          <a:xfrm>
            <a:off x="9151620" y="0"/>
            <a:ext cx="5486400" cy="8229600"/>
          </a:xfrm>
          <a:prstGeom prst="rect">
            <a:avLst/>
          </a:prstGeom>
        </p:spPr>
      </p:pic>
      <p:sp>
        <p:nvSpPr>
          <p:cNvPr id="5" name="Text 2"/>
          <p:cNvSpPr/>
          <p:nvPr/>
        </p:nvSpPr>
        <p:spPr>
          <a:xfrm>
            <a:off x="833199" y="2534722"/>
            <a:ext cx="5554980" cy="694373"/>
          </a:xfrm>
          <a:prstGeom prst="rect">
            <a:avLst/>
          </a:prstGeom>
          <a:noFill/>
          <a:ln/>
        </p:spPr>
        <p:txBody>
          <a:bodyPr wrap="none" rtlCol="0" anchor="t"/>
          <a:lstStyle/>
          <a:p>
            <a:pPr indent="0" marL="0">
              <a:lnSpc>
                <a:spcPts val="5468"/>
              </a:lnSpc>
              <a:buNone/>
            </a:pPr>
            <a:r>
              <a:rPr lang="en-US" sz="4374" b="1" dirty="0">
                <a:solidFill>
                  <a:srgbClr val="282824"/>
                </a:solidFill>
                <a:latin typeface="Lato" pitchFamily="34" charset="0"/>
                <a:ea typeface="Lato" pitchFamily="34" charset="-122"/>
                <a:cs typeface="Lato" pitchFamily="34" charset="-120"/>
              </a:rPr>
              <a:t>Interruptible Tariff</a:t>
            </a:r>
            <a:endParaRPr lang="en-US" sz="4374" dirty="0"/>
          </a:p>
        </p:txBody>
      </p:sp>
      <p:sp>
        <p:nvSpPr>
          <p:cNvPr id="6" name="Text 3"/>
          <p:cNvSpPr/>
          <p:nvPr/>
        </p:nvSpPr>
        <p:spPr>
          <a:xfrm>
            <a:off x="833199" y="3562350"/>
            <a:ext cx="7477601" cy="2132409"/>
          </a:xfrm>
          <a:prstGeom prst="rect">
            <a:avLst/>
          </a:prstGeom>
          <a:noFill/>
          <a:ln/>
        </p:spPr>
        <p:txBody>
          <a:bodyPr wrap="square" rtlCol="0" anchor="t"/>
          <a:lstStyle/>
          <a:p>
            <a:pPr indent="0" marL="0">
              <a:lnSpc>
                <a:spcPts val="2799"/>
              </a:lnSpc>
              <a:buNone/>
            </a:pPr>
            <a:r>
              <a:rPr lang="en-US" sz="1750" dirty="0">
                <a:solidFill>
                  <a:srgbClr val="4A4A45"/>
                </a:solidFill>
                <a:latin typeface="Lato" pitchFamily="34" charset="0"/>
                <a:ea typeface="Lato" pitchFamily="34" charset="-122"/>
                <a:cs typeface="Lato" pitchFamily="34" charset="-120"/>
              </a:rPr>
              <a:t>An interruptible tariff is an electricity pricing structure where customers agree to have their power supply temporarily interrupted by the utility during periods of high demand or grid instability. In exchange, these customers receive discounted electricity rates. This approach helps utilities manage grid capacity and avoid costly blackouts, while providing financial incentives for customers to participate.</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
        <p:nvSpPr>
          <p:cNvPr id="4" name="Text 2"/>
          <p:cNvSpPr/>
          <p:nvPr/>
        </p:nvSpPr>
        <p:spPr>
          <a:xfrm>
            <a:off x="2037993" y="2834640"/>
            <a:ext cx="5554980" cy="694373"/>
          </a:xfrm>
          <a:prstGeom prst="rect">
            <a:avLst/>
          </a:prstGeom>
          <a:noFill/>
          <a:ln/>
        </p:spPr>
        <p:txBody>
          <a:bodyPr wrap="none" rtlCol="0" anchor="t"/>
          <a:lstStyle/>
          <a:p>
            <a:pPr indent="0" marL="0">
              <a:lnSpc>
                <a:spcPts val="5468"/>
              </a:lnSpc>
              <a:buNone/>
            </a:pPr>
            <a:r>
              <a:rPr lang="en-US" sz="4374" b="1" dirty="0">
                <a:solidFill>
                  <a:srgbClr val="282824"/>
                </a:solidFill>
                <a:latin typeface="Lato" pitchFamily="34" charset="0"/>
                <a:ea typeface="Lato" pitchFamily="34" charset="-122"/>
                <a:cs typeface="Lato" pitchFamily="34" charset="-120"/>
              </a:rPr>
              <a:t>Seasonal Tariff</a:t>
            </a:r>
            <a:endParaRPr lang="en-US" sz="4374" dirty="0"/>
          </a:p>
        </p:txBody>
      </p:sp>
      <p:sp>
        <p:nvSpPr>
          <p:cNvPr id="5" name="Text 3"/>
          <p:cNvSpPr/>
          <p:nvPr/>
        </p:nvSpPr>
        <p:spPr>
          <a:xfrm>
            <a:off x="2037993" y="3973354"/>
            <a:ext cx="10554414" cy="1421606"/>
          </a:xfrm>
          <a:prstGeom prst="rect">
            <a:avLst/>
          </a:prstGeom>
          <a:noFill/>
          <a:ln/>
        </p:spPr>
        <p:txBody>
          <a:bodyPr wrap="square" rtlCol="0" anchor="t"/>
          <a:lstStyle/>
          <a:p>
            <a:pPr indent="0" marL="0">
              <a:lnSpc>
                <a:spcPts val="2799"/>
              </a:lnSpc>
              <a:buNone/>
            </a:pPr>
            <a:r>
              <a:rPr lang="en-US" sz="1750" dirty="0">
                <a:solidFill>
                  <a:srgbClr val="4A4A45"/>
                </a:solidFill>
                <a:latin typeface="Lato" pitchFamily="34" charset="0"/>
                <a:ea typeface="Lato" pitchFamily="34" charset="-122"/>
                <a:cs typeface="Lato" pitchFamily="34" charset="-120"/>
              </a:rPr>
              <a:t>A seasonal tariff is an electricity pricing structure that varies rates based on the time of year. Customers are typically charged higher rates during peak demand seasons, such as summer months when air conditioning usage is high, and lower rates during off-peak seasons. This approach helps utilities manage the strain on the electrical grid and encourages energy conservation during high-usage periods.</a:t>
            </a:r>
            <a:endParaRPr lang="en-US" sz="1750" dirty="0"/>
          </a:p>
        </p:txBody>
      </p:sp>
      <p:pic>
        <p:nvPicPr>
          <p:cNvPr id="6"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
        <p:nvSpPr>
          <p:cNvPr id="4" name="Text 2"/>
          <p:cNvSpPr/>
          <p:nvPr/>
        </p:nvSpPr>
        <p:spPr>
          <a:xfrm>
            <a:off x="2037993" y="1288137"/>
            <a:ext cx="8596432" cy="694373"/>
          </a:xfrm>
          <a:prstGeom prst="rect">
            <a:avLst/>
          </a:prstGeom>
          <a:noFill/>
          <a:ln/>
        </p:spPr>
        <p:txBody>
          <a:bodyPr wrap="none" rtlCol="0" anchor="t"/>
          <a:lstStyle/>
          <a:p>
            <a:pPr indent="0" marL="0">
              <a:lnSpc>
                <a:spcPts val="5468"/>
              </a:lnSpc>
              <a:buNone/>
            </a:pPr>
            <a:r>
              <a:rPr lang="en-US" sz="4374" b="1" dirty="0">
                <a:solidFill>
                  <a:srgbClr val="282824"/>
                </a:solidFill>
                <a:latin typeface="Lato" pitchFamily="34" charset="0"/>
                <a:ea typeface="Lato" pitchFamily="34" charset="-122"/>
                <a:cs typeface="Lato" pitchFamily="34" charset="-120"/>
              </a:rPr>
              <a:t>Factors Influencing Tariff Selection</a:t>
            </a:r>
            <a:endParaRPr lang="en-US" sz="4374" dirty="0"/>
          </a:p>
        </p:txBody>
      </p:sp>
      <p:sp>
        <p:nvSpPr>
          <p:cNvPr id="5" name="Text 3"/>
          <p:cNvSpPr/>
          <p:nvPr/>
        </p:nvSpPr>
        <p:spPr>
          <a:xfrm>
            <a:off x="2037993" y="2426851"/>
            <a:ext cx="10554414" cy="355402"/>
          </a:xfrm>
          <a:prstGeom prst="rect">
            <a:avLst/>
          </a:prstGeom>
          <a:noFill/>
          <a:ln/>
        </p:spPr>
        <p:txBody>
          <a:bodyPr wrap="none" rtlCol="0" anchor="t"/>
          <a:lstStyle/>
          <a:p>
            <a:pPr indent="0" marL="0">
              <a:lnSpc>
                <a:spcPts val="2799"/>
              </a:lnSpc>
              <a:buNone/>
            </a:pPr>
            <a:r>
              <a:rPr lang="en-US" sz="1750" dirty="0">
                <a:solidFill>
                  <a:srgbClr val="4A4A45"/>
                </a:solidFill>
                <a:latin typeface="Lato" pitchFamily="34" charset="0"/>
                <a:ea typeface="Lato" pitchFamily="34" charset="-122"/>
                <a:cs typeface="Lato" pitchFamily="34" charset="-120"/>
              </a:rPr>
              <a:t>Several factors influence the choice of electricity tariff structure, including:</a:t>
            </a:r>
            <a:endParaRPr lang="en-US" sz="1750" dirty="0"/>
          </a:p>
        </p:txBody>
      </p:sp>
      <p:sp>
        <p:nvSpPr>
          <p:cNvPr id="6" name="Text 4"/>
          <p:cNvSpPr/>
          <p:nvPr/>
        </p:nvSpPr>
        <p:spPr>
          <a:xfrm>
            <a:off x="2393394" y="3032165"/>
            <a:ext cx="10199013" cy="710803"/>
          </a:xfrm>
          <a:prstGeom prst="rect">
            <a:avLst/>
          </a:prstGeom>
          <a:noFill/>
          <a:ln/>
        </p:spPr>
        <p:txBody>
          <a:bodyPr wrap="square" rtlCol="0" anchor="t"/>
          <a:lstStyle/>
          <a:p>
            <a:pPr algn="l" marL="342900" indent="-342900">
              <a:lnSpc>
                <a:spcPts val="2799"/>
              </a:lnSpc>
              <a:buSzPct val="100000"/>
              <a:buChar char="•"/>
            </a:pPr>
            <a:r>
              <a:rPr lang="en-US" sz="1750" b="1" dirty="0">
                <a:solidFill>
                  <a:srgbClr val="4A4A45"/>
                </a:solidFill>
                <a:latin typeface="Lato" pitchFamily="34" charset="0"/>
                <a:ea typeface="Lato" pitchFamily="34" charset="-122"/>
                <a:cs typeface="Lato" pitchFamily="34" charset="-120"/>
              </a:rPr>
              <a:t>Customer Energy Needs:</a:t>
            </a:r>
            <a:pPr algn="l" indent="0" marL="0">
              <a:lnSpc>
                <a:spcPts val="2799"/>
              </a:lnSpc>
              <a:buNone/>
            </a:pPr>
            <a:r>
              <a:rPr lang="en-US" sz="1750" dirty="0">
                <a:solidFill>
                  <a:srgbClr val="4A4A45"/>
                </a:solidFill>
                <a:latin typeface="Lato" pitchFamily="34" charset="0"/>
                <a:ea typeface="Lato" pitchFamily="34" charset="-122"/>
                <a:cs typeface="Lato" pitchFamily="34" charset="-120"/>
              </a:rPr>
              <a:t> Understanding the customer's typical usage patterns, such as peak demand and seasonal variations, helps select the most appropriate tariff.</a:t>
            </a:r>
            <a:endParaRPr lang="en-US" sz="1750" dirty="0"/>
          </a:p>
        </p:txBody>
      </p:sp>
      <p:sp>
        <p:nvSpPr>
          <p:cNvPr id="7" name="Text 5"/>
          <p:cNvSpPr/>
          <p:nvPr/>
        </p:nvSpPr>
        <p:spPr>
          <a:xfrm>
            <a:off x="2393394" y="3831788"/>
            <a:ext cx="10199013" cy="710803"/>
          </a:xfrm>
          <a:prstGeom prst="rect">
            <a:avLst/>
          </a:prstGeom>
          <a:noFill/>
          <a:ln/>
        </p:spPr>
        <p:txBody>
          <a:bodyPr wrap="square" rtlCol="0" anchor="t"/>
          <a:lstStyle/>
          <a:p>
            <a:pPr algn="l" marL="342900" indent="-342900">
              <a:lnSpc>
                <a:spcPts val="2799"/>
              </a:lnSpc>
              <a:buSzPct val="100000"/>
              <a:buChar char="•"/>
            </a:pPr>
            <a:r>
              <a:rPr lang="en-US" sz="1750" b="1" dirty="0">
                <a:solidFill>
                  <a:srgbClr val="4A4A45"/>
                </a:solidFill>
                <a:latin typeface="Lato" pitchFamily="34" charset="0"/>
                <a:ea typeface="Lato" pitchFamily="34" charset="-122"/>
                <a:cs typeface="Lato" pitchFamily="34" charset="-120"/>
              </a:rPr>
              <a:t>Utility Grid Management:</a:t>
            </a:r>
            <a:pPr algn="l" indent="0" marL="0">
              <a:lnSpc>
                <a:spcPts val="2799"/>
              </a:lnSpc>
              <a:buNone/>
            </a:pPr>
            <a:r>
              <a:rPr lang="en-US" sz="1750" dirty="0">
                <a:solidFill>
                  <a:srgbClr val="4A4A45"/>
                </a:solidFill>
                <a:latin typeface="Lato" pitchFamily="34" charset="0"/>
                <a:ea typeface="Lato" pitchFamily="34" charset="-122"/>
                <a:cs typeface="Lato" pitchFamily="34" charset="-120"/>
              </a:rPr>
              <a:t> Utilities may favor tariffs that incentivize load shifting or distributed generation to better manage grid capacity and stability.</a:t>
            </a:r>
            <a:endParaRPr lang="en-US" sz="1750" dirty="0"/>
          </a:p>
        </p:txBody>
      </p:sp>
      <p:sp>
        <p:nvSpPr>
          <p:cNvPr id="8" name="Text 6"/>
          <p:cNvSpPr/>
          <p:nvPr/>
        </p:nvSpPr>
        <p:spPr>
          <a:xfrm>
            <a:off x="2393394" y="4631412"/>
            <a:ext cx="10199013" cy="710803"/>
          </a:xfrm>
          <a:prstGeom prst="rect">
            <a:avLst/>
          </a:prstGeom>
          <a:noFill/>
          <a:ln/>
        </p:spPr>
        <p:txBody>
          <a:bodyPr wrap="square" rtlCol="0" anchor="t"/>
          <a:lstStyle/>
          <a:p>
            <a:pPr algn="l" marL="342900" indent="-342900">
              <a:lnSpc>
                <a:spcPts val="2799"/>
              </a:lnSpc>
              <a:buSzPct val="100000"/>
              <a:buChar char="•"/>
            </a:pPr>
            <a:r>
              <a:rPr lang="en-US" sz="1750" b="1" dirty="0">
                <a:solidFill>
                  <a:srgbClr val="4A4A45"/>
                </a:solidFill>
                <a:latin typeface="Lato" pitchFamily="34" charset="0"/>
                <a:ea typeface="Lato" pitchFamily="34" charset="-122"/>
                <a:cs typeface="Lato" pitchFamily="34" charset="-120"/>
              </a:rPr>
              <a:t>Policy and Regulatory Environment:</a:t>
            </a:r>
            <a:pPr algn="l" indent="0" marL="0">
              <a:lnSpc>
                <a:spcPts val="2799"/>
              </a:lnSpc>
              <a:buNone/>
            </a:pPr>
            <a:r>
              <a:rPr lang="en-US" sz="1750" dirty="0">
                <a:solidFill>
                  <a:srgbClr val="4A4A45"/>
                </a:solidFill>
                <a:latin typeface="Lato" pitchFamily="34" charset="0"/>
                <a:ea typeface="Lato" pitchFamily="34" charset="-122"/>
                <a:cs typeface="Lato" pitchFamily="34" charset="-120"/>
              </a:rPr>
              <a:t> Government policies and regulations can mandate or encourage certain tariff structures, such as feed-in tariffs for renewable energy.</a:t>
            </a:r>
            <a:endParaRPr lang="en-US" sz="1750" dirty="0"/>
          </a:p>
        </p:txBody>
      </p:sp>
      <p:sp>
        <p:nvSpPr>
          <p:cNvPr id="9" name="Text 7"/>
          <p:cNvSpPr/>
          <p:nvPr/>
        </p:nvSpPr>
        <p:spPr>
          <a:xfrm>
            <a:off x="2393394" y="5431036"/>
            <a:ext cx="10199013" cy="710803"/>
          </a:xfrm>
          <a:prstGeom prst="rect">
            <a:avLst/>
          </a:prstGeom>
          <a:noFill/>
          <a:ln/>
        </p:spPr>
        <p:txBody>
          <a:bodyPr wrap="square" rtlCol="0" anchor="t"/>
          <a:lstStyle/>
          <a:p>
            <a:pPr algn="l" marL="342900" indent="-342900">
              <a:lnSpc>
                <a:spcPts val="2799"/>
              </a:lnSpc>
              <a:buSzPct val="100000"/>
              <a:buChar char="•"/>
            </a:pPr>
            <a:r>
              <a:rPr lang="en-US" sz="1750" b="1" dirty="0">
                <a:solidFill>
                  <a:srgbClr val="4A4A45"/>
                </a:solidFill>
                <a:latin typeface="Lato" pitchFamily="34" charset="0"/>
                <a:ea typeface="Lato" pitchFamily="34" charset="-122"/>
                <a:cs typeface="Lato" pitchFamily="34" charset="-120"/>
              </a:rPr>
              <a:t>Environmental Impact:</a:t>
            </a:r>
            <a:pPr algn="l" indent="0" marL="0">
              <a:lnSpc>
                <a:spcPts val="2799"/>
              </a:lnSpc>
              <a:buNone/>
            </a:pPr>
            <a:r>
              <a:rPr lang="en-US" sz="1750" dirty="0">
                <a:solidFill>
                  <a:srgbClr val="4A4A45"/>
                </a:solidFill>
                <a:latin typeface="Lato" pitchFamily="34" charset="0"/>
                <a:ea typeface="Lato" pitchFamily="34" charset="-122"/>
                <a:cs typeface="Lato" pitchFamily="34" charset="-120"/>
              </a:rPr>
              <a:t> Tariffs that promote energy efficiency and the adoption of renewable sources can help reduce the overall environmental footprint.</a:t>
            </a:r>
            <a:endParaRPr lang="en-US" sz="1750" dirty="0"/>
          </a:p>
        </p:txBody>
      </p:sp>
      <p:sp>
        <p:nvSpPr>
          <p:cNvPr id="10" name="Text 8"/>
          <p:cNvSpPr/>
          <p:nvPr/>
        </p:nvSpPr>
        <p:spPr>
          <a:xfrm>
            <a:off x="2393394" y="6230660"/>
            <a:ext cx="10199013" cy="710803"/>
          </a:xfrm>
          <a:prstGeom prst="rect">
            <a:avLst/>
          </a:prstGeom>
          <a:noFill/>
          <a:ln/>
        </p:spPr>
        <p:txBody>
          <a:bodyPr wrap="square" rtlCol="0" anchor="t"/>
          <a:lstStyle/>
          <a:p>
            <a:pPr algn="l" marL="342900" indent="-342900">
              <a:lnSpc>
                <a:spcPts val="2799"/>
              </a:lnSpc>
              <a:buSzPct val="100000"/>
              <a:buChar char="•"/>
            </a:pPr>
            <a:r>
              <a:rPr lang="en-US" sz="1750" b="1" dirty="0">
                <a:solidFill>
                  <a:srgbClr val="4A4A45"/>
                </a:solidFill>
                <a:latin typeface="Lato" pitchFamily="34" charset="0"/>
                <a:ea typeface="Lato" pitchFamily="34" charset="-122"/>
                <a:cs typeface="Lato" pitchFamily="34" charset="-120"/>
              </a:rPr>
              <a:t>Economic Considerations:</a:t>
            </a:r>
            <a:pPr algn="l" indent="0" marL="0">
              <a:lnSpc>
                <a:spcPts val="2799"/>
              </a:lnSpc>
              <a:buNone/>
            </a:pPr>
            <a:r>
              <a:rPr lang="en-US" sz="1750" dirty="0">
                <a:solidFill>
                  <a:srgbClr val="4A4A45"/>
                </a:solidFill>
                <a:latin typeface="Lato" pitchFamily="34" charset="0"/>
                <a:ea typeface="Lato" pitchFamily="34" charset="-122"/>
                <a:cs typeface="Lato" pitchFamily="34" charset="-120"/>
              </a:rPr>
              <a:t> The tariff structure should balance the utility's revenue requirements with the affordability and fairness for customers.</a:t>
            </a:r>
            <a:endParaRPr lang="en-US" sz="1750" dirty="0"/>
          </a:p>
        </p:txBody>
      </p:sp>
      <p:pic>
        <p:nvPicPr>
          <p:cNvPr id="11"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2024-05-17T15:27:40Z</dcterms:created>
  <dcterms:modified xsi:type="dcterms:W3CDTF">2024-05-17T15:27:40Z</dcterms:modified>
</cp:coreProperties>
</file>